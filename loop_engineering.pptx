
<file path=[Content_Types].xml><?xml version="1.0" encoding="utf-8"?>
<Types xmlns="http://schemas.openxmlformats.org/package/2006/content-types">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88" d="100"/>
          <a:sy n="88" d="100"/>
        </p:scale>
        <p:origin x="466"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165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line, keep it short: 'AI coding has changed six times in fifteen years. Today we walk all six, and then I show you where it landed.'
Do NOT define loop engineering yet. The whole point is that they meet the problem first and the word second. Go straight to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for the next twenty minutes. Read the six names out loud, nothing more — do not explain them here, each one gets its own slide.
One promise to make now: 'at every step, ask yourself one thing — who is checking the work?' That question is the thread. Steps 1 to 4 the answer is always you. That is why they broke.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The editor predicts the next few characters from the line you are on. Genuinely useful, but it holds nothing — no memory, no intent, no understanding of the project.
Land the thread: who checks the work? You do, all of it. Keep this slide under a minute.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2021, GitHub Copilot. The first time the machine receives your INTENT — you describe it in a comment, it produces the code.
You still check everything, but checking is cheap because each suggestion is small enough to read in five seconds. Remember that — cheap review is what stops working later.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2022. Now it can reason and explain — a huge jump. But look at the picture: the AI is in a different window. It cannot see your files, cannot run your code, cannot see your error.
You are the wire between the two. Every fact it needs, you type in. Every answer it gives, you paste out. Say the phrase: 'you were the wire.' They remember 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2023 into 2024. The agent finally gets hands — it reads files, edits them, runs commands. One prompt, whole feature.
But notice the bottom box has not moved since step one. Review is still yours, and now it is 400 lines instead of 4. That is the crack this whole session is about. Next slide is where it breaks.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here — this is the pain slide, and everything after it is the fix.
Ask the room: 'who has waited ten minutes for an agent and got back something wrong?' Hands go up. Then walk the four failures. All four have the same root cause: nothing was checking the work while it happened.
End on the question at the bottom. That question is step five.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2025. The big idea, and it is simpler than it sounds: use two separate calls. One does the work. One grades it. They must be separate — an AI marking its own homework passes itself every time.
This is real progress: for the first time the answer to 'who checks the work' is not you.
But there is a gap. The grader says 'three things are wrong' — and then what? Somebody has to decide: fix it and try again, or stop. That decision is step six.</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six, and the name of the session. The move is small and it changes everything: take the list of things the grader marked as failed, and hand that list back to the worker as its next instruction. Then check again. Then again.
Say it plainly: the human is no longer in the middle of the lap. The human sets it up and reads the result.
And the honest footnote — this idea is not new. A 2022 Google paper called ReAct described exactly this: think, act, look at the result, think again. We just got models good enough to run 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definition, after they have felt the need for it. Three steps, and one of them surprises people.
DO — the AI produces something. CHECK — a second, separate call grades it against a list you wrote. DECIDE — and this is the surprise, DECIDE is not an AI. It is an if-statement. Plain code, written by you, that reads the grades and says continue or stop.
Then the rail at the bottom: the failures are not a report you read, they are the next round's instructions. That is the entire trick.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worked example so nothing stays abstract. Use my app, ResumeLoop — it tailors a resume to a job ad.
Walk the three rows slowly. Then the key line: the three failures become lap two's instructions. Nobody wrote a new prompt, nobody clicked anything — the loop turned a report into a to-do list.
Point at the ladder: 58, 74, 87. Same model, same API key, same starting resume. The only difference is that it went round three times. That is the number I want them to remember when they see the demo later.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stop rules, and you write all three yourself.
Good enough is obvious. Out of budget is the one students forget, and it is the one that costs real money — every lap is two API calls. Not improving is the subtle one: if lap four gained one point over lap three, lap five will not save you.
Read the black bar out loud. If they take one engineering rule home from this session, make it that one.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where the fear drops out of the room. Read it line by line, slowly, in plain words.
One AI call does the work. A second AI call grades it. An if-statement decides. The failed grades become the next lap's to-do. That is it.
Say the closing line and let it sit: it is not magic, it is a while loop with a language model inside it. Any of you can write this today.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while loop, grown up. Do not read every box — trace it with your finger, once, in about ninety seconds.
A mission comes in. Every lap starts at the safety limits — time and money checked BEFORE anything runs. The AI decides: do I need a tool, or am I done? Tools run; success goes into memory, a crash gets caught and handed back as just another observation. When it thinks it is finished, a separate critic reviews — fail goes back around with feedback, approved goes to a human for the final OK.
Point at the two rails on the left and right: both loop back to the safety limits. Nothing gets to skip the budget check. That is every production agent you will ever build.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turn of the whole session. Hold both panels up side by side.
The old job was doing. The new job is defining. And the four questions on the black side are hard questions — harder than writing the code was. A vague answer to 'what does good mean' gives you a loop that spins forever and bills you for it.
This is also the reassuring part for students worried about their careers: the judgment moved, it did not disappear.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named checks. Each one returns pass or fail plus the sentence it objected to. Notice none of them says 'make it better' — every one can be answered yes or no.
The line at the bottom is the whole lesson: the AI can only fix what you thought to check. If honesty is not on your list, nothing stops it from inventing a job you never had. Mine has an ALL TRUE check for exactly that reason.
EXERCISE, five minutes: everyone picks a task — a college essay, a bug report, an Instagram caption — and writes five checks that can each pass or fail. Take three out loud. Push back hard on any check that cannot fail.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failures I see in every first attempt, including my own.
One: the same call writes and grades. It always says the work is fine. The two calls must be separate.
Two: no maximum. Tell them the real number — every lap is two API calls, so a loop with no ceiling is a bill with no ceiling.
Three, and the most common: a check that cannot fail. 'Make it better' is not a check. 'Does every bullet contain a number' is a check. If you cannot imagine it returning false, delete it.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and it is the pay-off — do not rush it.
First run: set max laps to 1. One shot, no loop. Score comes back around 58. Show the failed checks and read one of them out.
Second run: max laps 5. Now narrate it live — 'that yellow one is the grader running', 'those three just went red, they are lap two's to-do list', 'watch them turn black'. Land on 87.
Then ask the room: what changed between the two runs? Wait. Nobody will say the model, because nothing about the model changed. The loop changed. That is the session in one sentence.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line, then stop talking.
Everyone in this room has spent two years learning to ask for better answers. The skill that matters now is the other one — describing what a good answer looks like, precisely enough that a machine can test it.
Homework: take one thing you do every week, write its five checks and its stop rule, and bring it next session.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a:effectLst/>
      </p:bgPr>
    </p:bg>
    <p:spTree>
      <p:nvGrpSpPr>
        <p:cNvPr id="1" name=""/>
        <p:cNvGrpSpPr/>
        <p:nvPr/>
      </p:nvGrpSpPr>
      <p:grpSpPr>
        <a:xfrm>
          <a:off x="0" y="0"/>
          <a:ext cx="0" cy="0"/>
          <a:chOff x="0" y="0"/>
          <a:chExt cx="0" cy="0"/>
        </a:xfrm>
      </p:grpSpPr>
      <p:sp>
        <p:nvSpPr>
          <p:cNvPr id="2" name="Text 0"/>
          <p:cNvSpPr/>
          <p:nvPr/>
        </p:nvSpPr>
        <p:spPr>
          <a:xfrm>
            <a:off x="11430000" y="182880"/>
            <a:ext cx="594360" cy="274320"/>
          </a:xfrm>
          <a:prstGeom prst="rect">
            <a:avLst/>
          </a:prstGeom>
          <a:noFill/>
          <a:ln/>
        </p:spPr>
        <p:txBody>
          <a:bodyPr wrap="square" lIns="0" tIns="0" rIns="0" bIns="0" rtlCol="0" anchor="ctr"/>
          <a:lstStyle/>
          <a:p>
            <a:pPr marL="0" indent="0" algn="r">
              <a:buNone/>
            </a:pPr>
            <a:r>
              <a:rPr lang="en-US" sz="1000" dirty="0">
                <a:solidFill>
                  <a:srgbClr val="F2EFE9"/>
                </a:solidFill>
                <a:latin typeface="Courier New" pitchFamily="34" charset="0"/>
                <a:ea typeface="Courier New" pitchFamily="34" charset="-122"/>
                <a:cs typeface="Courier New" pitchFamily="34" charset="-120"/>
              </a:rPr>
              <a:t>01</a:t>
            </a:r>
            <a:endParaRPr lang="en-US" sz="1000" dirty="0"/>
          </a:p>
        </p:txBody>
      </p:sp>
      <p:sp>
        <p:nvSpPr>
          <p:cNvPr id="3" name="Shape 1"/>
          <p:cNvSpPr/>
          <p:nvPr/>
        </p:nvSpPr>
        <p:spPr>
          <a:xfrm>
            <a:off x="9601200" y="-1554480"/>
            <a:ext cx="3657600" cy="3657600"/>
          </a:xfrm>
          <a:prstGeom prst="ellipse">
            <a:avLst/>
          </a:prstGeom>
          <a:solidFill>
            <a:srgbClr val="1B3FA0"/>
          </a:solidFill>
          <a:ln w="12700">
            <a:solidFill>
              <a:srgbClr val="1B3FA0"/>
            </a:solidFill>
            <a:prstDash val="solid"/>
          </a:ln>
        </p:spPr>
        <p:txBody>
          <a:bodyPr/>
          <a:lstStyle/>
          <a:p>
            <a:endParaRPr lang="en-US"/>
          </a:p>
        </p:txBody>
      </p:sp>
      <p:sp>
        <p:nvSpPr>
          <p:cNvPr id="4" name="Shape 2"/>
          <p:cNvSpPr/>
          <p:nvPr/>
        </p:nvSpPr>
        <p:spPr>
          <a:xfrm>
            <a:off x="10927080" y="1554480"/>
            <a:ext cx="2560320" cy="2560320"/>
          </a:xfrm>
          <a:prstGeom prst="ellipse">
            <a:avLst/>
          </a:prstGeom>
          <a:solidFill>
            <a:srgbClr val="F5C518"/>
          </a:solidFill>
          <a:ln w="12700">
            <a:solidFill>
              <a:srgbClr val="F5C518"/>
            </a:solidFill>
            <a:prstDash val="solid"/>
          </a:ln>
        </p:spPr>
        <p:txBody>
          <a:bodyPr/>
          <a:lstStyle/>
          <a:p>
            <a:endParaRPr lang="en-US"/>
          </a:p>
        </p:txBody>
      </p:sp>
      <p:sp>
        <p:nvSpPr>
          <p:cNvPr id="5" name="Shape 3"/>
          <p:cNvSpPr/>
          <p:nvPr/>
        </p:nvSpPr>
        <p:spPr>
          <a:xfrm>
            <a:off x="10607040" y="5440680"/>
            <a:ext cx="960120" cy="960120"/>
          </a:xfrm>
          <a:prstGeom prst="rect">
            <a:avLst/>
          </a:prstGeom>
          <a:solidFill>
            <a:srgbClr val="E1462C"/>
          </a:solidFill>
          <a:ln w="19050">
            <a:solidFill>
              <a:srgbClr val="111111"/>
            </a:solidFill>
            <a:prstDash val="solid"/>
          </a:ln>
        </p:spPr>
        <p:txBody>
          <a:bodyPr/>
          <a:lstStyle/>
          <a:p>
            <a:endParaRPr lang="en-US"/>
          </a:p>
        </p:txBody>
      </p:sp>
      <p:sp>
        <p:nvSpPr>
          <p:cNvPr id="6" name="Text 4"/>
          <p:cNvSpPr/>
          <p:nvPr/>
        </p:nvSpPr>
        <p:spPr>
          <a:xfrm>
            <a:off x="685800" y="1325880"/>
            <a:ext cx="10058400" cy="1463040"/>
          </a:xfrm>
          <a:prstGeom prst="rect">
            <a:avLst/>
          </a:prstGeom>
          <a:noFill/>
          <a:ln/>
        </p:spPr>
        <p:txBody>
          <a:bodyPr wrap="square" lIns="0" tIns="0" rIns="0" bIns="0" rtlCol="0" anchor="ctr"/>
          <a:lstStyle/>
          <a:p>
            <a:pPr marL="0" indent="0">
              <a:buNone/>
            </a:pPr>
            <a:r>
              <a:rPr lang="en-US" sz="10800" b="1" kern="0" spc="200" dirty="0">
                <a:solidFill>
                  <a:srgbClr val="F2EFE9"/>
                </a:solidFill>
                <a:latin typeface="Arial" pitchFamily="34" charset="0"/>
                <a:ea typeface="Arial" pitchFamily="34" charset="-122"/>
                <a:cs typeface="Arial" pitchFamily="34" charset="-120"/>
              </a:rPr>
              <a:t>LOOP</a:t>
            </a:r>
            <a:endParaRPr lang="en-US" sz="10800" dirty="0"/>
          </a:p>
        </p:txBody>
      </p:sp>
      <p:sp>
        <p:nvSpPr>
          <p:cNvPr id="7" name="Text 5"/>
          <p:cNvSpPr/>
          <p:nvPr/>
        </p:nvSpPr>
        <p:spPr>
          <a:xfrm>
            <a:off x="685800" y="2788920"/>
            <a:ext cx="10972800" cy="1463040"/>
          </a:xfrm>
          <a:prstGeom prst="rect">
            <a:avLst/>
          </a:prstGeom>
          <a:noFill/>
          <a:ln/>
        </p:spPr>
        <p:txBody>
          <a:bodyPr wrap="square" lIns="0" tIns="0" rIns="0" bIns="0" rtlCol="0" anchor="ctr"/>
          <a:lstStyle/>
          <a:p>
            <a:pPr marL="0" indent="0">
              <a:buNone/>
            </a:pPr>
            <a:r>
              <a:rPr lang="en-US" sz="10800" b="1" kern="0" spc="200" dirty="0">
                <a:solidFill>
                  <a:srgbClr val="F2EFE9"/>
                </a:solidFill>
                <a:latin typeface="Arial" pitchFamily="34" charset="0"/>
                <a:ea typeface="Arial" pitchFamily="34" charset="-122"/>
                <a:cs typeface="Arial" pitchFamily="34" charset="-120"/>
              </a:rPr>
              <a:t>ENGINEERING</a:t>
            </a:r>
            <a:endParaRPr lang="en-US" sz="10800" dirty="0"/>
          </a:p>
        </p:txBody>
      </p:sp>
      <p:sp>
        <p:nvSpPr>
          <p:cNvPr id="8" name="Text 6"/>
          <p:cNvSpPr/>
          <p:nvPr/>
        </p:nvSpPr>
        <p:spPr>
          <a:xfrm>
            <a:off x="731520" y="4983480"/>
            <a:ext cx="8229600" cy="457200"/>
          </a:xfrm>
          <a:prstGeom prst="rect">
            <a:avLst/>
          </a:prstGeom>
          <a:noFill/>
          <a:ln/>
        </p:spPr>
        <p:txBody>
          <a:bodyPr wrap="square" lIns="0" tIns="0" rIns="0" bIns="0" rtlCol="0" anchor="ctr"/>
          <a:lstStyle/>
          <a:p>
            <a:pPr marL="0" indent="0">
              <a:buNone/>
            </a:pPr>
            <a:r>
              <a:rPr lang="en-US" sz="2200" dirty="0">
                <a:solidFill>
                  <a:srgbClr val="F2EFE9"/>
                </a:solidFill>
                <a:latin typeface="Arial" pitchFamily="34" charset="0"/>
                <a:ea typeface="Arial" pitchFamily="34" charset="-122"/>
                <a:cs typeface="Arial" pitchFamily="34" charset="-120"/>
              </a:rPr>
              <a:t>How AI learned to check its own work</a:t>
            </a:r>
            <a:endParaRPr lang="en-US" sz="2200" dirty="0"/>
          </a:p>
        </p:txBody>
      </p:sp>
      <p:sp>
        <p:nvSpPr>
          <p:cNvPr id="9" name="Text 7"/>
          <p:cNvSpPr/>
          <p:nvPr/>
        </p:nvSpPr>
        <p:spPr>
          <a:xfrm>
            <a:off x="749808" y="5852160"/>
            <a:ext cx="6400800" cy="274320"/>
          </a:xfrm>
          <a:prstGeom prst="rect">
            <a:avLst/>
          </a:prstGeom>
          <a:noFill/>
          <a:ln/>
        </p:spPr>
        <p:txBody>
          <a:bodyPr wrap="square" lIns="0" tIns="0" rIns="0" bIns="0" rtlCol="0" anchor="ctr"/>
          <a:lstStyle/>
          <a:p>
            <a:pPr marL="0" indent="0" algn="l">
              <a:buNone/>
            </a:pPr>
            <a:r>
              <a:rPr lang="en-US" sz="1200" dirty="0">
                <a:solidFill>
                  <a:srgbClr val="F5C518"/>
                </a:solidFill>
                <a:latin typeface="Courier New" pitchFamily="34" charset="0"/>
                <a:ea typeface="Courier New" pitchFamily="34" charset="-122"/>
                <a:cs typeface="Courier New" pitchFamily="34" charset="-120"/>
              </a:rPr>
              <a:t>BROTECHCLUB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EFE9"/>
        </a:solidFill>
        <a:effectLst/>
      </p:bgPr>
    </p:bg>
    <p:spTree>
      <p:nvGrpSpPr>
        <p:cNvPr id="1" name=""/>
        <p:cNvGrpSpPr/>
        <p:nvPr/>
      </p:nvGrpSpPr>
      <p:grpSpPr>
        <a:xfrm>
          <a:off x="0" y="0"/>
          <a:ext cx="0" cy="0"/>
          <a:chOff x="0" y="0"/>
          <a:chExt cx="0" cy="0"/>
        </a:xfrm>
      </p:grpSpPr>
      <p:sp>
        <p:nvSpPr>
          <p:cNvPr id="2" name="Text 0"/>
          <p:cNvSpPr/>
          <p:nvPr/>
        </p:nvSpPr>
        <p:spPr>
          <a:xfrm>
            <a:off x="11430000" y="182880"/>
            <a:ext cx="594360" cy="274320"/>
          </a:xfrm>
          <a:prstGeom prst="rect">
            <a:avLst/>
          </a:prstGeom>
          <a:noFill/>
          <a:ln/>
        </p:spPr>
        <p:txBody>
          <a:bodyPr wrap="square" lIns="0" tIns="0" rIns="0" bIns="0" rtlCol="0" anchor="ctr"/>
          <a:lstStyle/>
          <a:p>
            <a:pPr marL="0" indent="0" algn="r">
              <a:buNone/>
            </a:pPr>
            <a:r>
              <a:rPr lang="en-US" sz="1000" dirty="0">
                <a:solidFill>
                  <a:srgbClr val="111111"/>
                </a:solidFill>
                <a:latin typeface="Courier New" pitchFamily="34" charset="0"/>
                <a:ea typeface="Courier New" pitchFamily="34" charset="-122"/>
                <a:cs typeface="Courier New" pitchFamily="34" charset="-120"/>
              </a:rPr>
              <a:t>02</a:t>
            </a:r>
            <a:endParaRPr lang="en-US" sz="1000" dirty="0"/>
          </a:p>
        </p:txBody>
      </p:sp>
      <p:sp>
        <p:nvSpPr>
          <p:cNvPr id="3" name="Text 1"/>
          <p:cNvSpPr/>
          <p:nvPr/>
        </p:nvSpPr>
        <p:spPr>
          <a:xfrm>
            <a:off x="548640" y="548640"/>
            <a:ext cx="10515600" cy="1051560"/>
          </a:xfrm>
          <a:prstGeom prst="rect">
            <a:avLst/>
          </a:prstGeom>
          <a:noFill/>
          <a:ln/>
        </p:spPr>
        <p:txBody>
          <a:bodyPr wrap="square" lIns="0" tIns="0" rIns="0" bIns="0" rtlCol="0" anchor="t"/>
          <a:lstStyle/>
          <a:p>
            <a:pPr marL="0" indent="0">
              <a:buNone/>
            </a:pPr>
            <a:r>
              <a:rPr lang="en-US" sz="4000" b="1" dirty="0">
                <a:solidFill>
                  <a:srgbClr val="111111"/>
                </a:solidFill>
                <a:latin typeface="Arial" pitchFamily="34" charset="0"/>
                <a:ea typeface="Arial" pitchFamily="34" charset="-122"/>
                <a:cs typeface="Arial" pitchFamily="34" charset="-120"/>
              </a:rPr>
              <a:t>SIX STEPS IN FIFTEEN YEARS</a:t>
            </a:r>
            <a:endParaRPr lang="en-US" sz="4000" dirty="0"/>
          </a:p>
        </p:txBody>
      </p:sp>
      <p:sp>
        <p:nvSpPr>
          <p:cNvPr id="4" name="Shape 2"/>
          <p:cNvSpPr/>
          <p:nvPr/>
        </p:nvSpPr>
        <p:spPr>
          <a:xfrm>
            <a:off x="566928" y="1783080"/>
            <a:ext cx="548640" cy="548640"/>
          </a:xfrm>
          <a:prstGeom prst="rect">
            <a:avLst/>
          </a:prstGeom>
          <a:solidFill>
            <a:srgbClr val="111111"/>
          </a:solidFill>
          <a:ln w="19050">
            <a:solidFill>
              <a:srgbClr val="111111"/>
            </a:solidFill>
            <a:prstDash val="solid"/>
          </a:ln>
        </p:spPr>
        <p:txBody>
          <a:bodyPr/>
          <a:lstStyle/>
          <a:p>
            <a:endParaRPr lang="en-US"/>
          </a:p>
        </p:txBody>
      </p:sp>
      <p:sp>
        <p:nvSpPr>
          <p:cNvPr id="5" name="Text 3"/>
          <p:cNvSpPr/>
          <p:nvPr/>
        </p:nvSpPr>
        <p:spPr>
          <a:xfrm>
            <a:off x="566928" y="1783080"/>
            <a:ext cx="548640" cy="548640"/>
          </a:xfrm>
          <a:prstGeom prst="rect">
            <a:avLst/>
          </a:prstGeom>
          <a:noFill/>
          <a:ln/>
        </p:spPr>
        <p:txBody>
          <a:bodyPr wrap="square" lIns="0" tIns="0" rIns="0" bIns="0" rtlCol="0" anchor="ctr"/>
          <a:lstStyle/>
          <a:p>
            <a:pPr marL="0" indent="0" algn="ctr">
              <a:buNone/>
            </a:pPr>
            <a:r>
              <a:rPr lang="en-US" sz="2200" b="1" dirty="0">
                <a:solidFill>
                  <a:srgbClr val="F2EFE9"/>
                </a:solidFill>
                <a:latin typeface="Arial" pitchFamily="34" charset="0"/>
                <a:ea typeface="Arial" pitchFamily="34" charset="-122"/>
                <a:cs typeface="Arial" pitchFamily="34" charset="-120"/>
              </a:rPr>
              <a:t>1</a:t>
            </a:r>
            <a:endParaRPr lang="en-US" sz="2200" dirty="0"/>
          </a:p>
        </p:txBody>
      </p:sp>
      <p:sp>
        <p:nvSpPr>
          <p:cNvPr id="6" name="Text 4"/>
          <p:cNvSpPr/>
          <p:nvPr/>
        </p:nvSpPr>
        <p:spPr>
          <a:xfrm>
            <a:off x="1371600" y="1755648"/>
            <a:ext cx="4206240" cy="365760"/>
          </a:xfrm>
          <a:prstGeom prst="rect">
            <a:avLst/>
          </a:prstGeom>
          <a:noFill/>
          <a:ln/>
        </p:spPr>
        <p:txBody>
          <a:bodyPr wrap="square" lIns="0" tIns="0" rIns="0" bIns="0" rtlCol="0" anchor="ctr"/>
          <a:lstStyle/>
          <a:p>
            <a:pPr marL="0" indent="0">
              <a:buNone/>
            </a:pPr>
            <a:r>
              <a:rPr lang="en-US" sz="2000" b="1" dirty="0">
                <a:solidFill>
                  <a:srgbClr val="111111"/>
                </a:solidFill>
                <a:latin typeface="Arial" pitchFamily="34" charset="0"/>
                <a:ea typeface="Arial" pitchFamily="34" charset="-122"/>
                <a:cs typeface="Arial" pitchFamily="34" charset="-120"/>
              </a:rPr>
              <a:t>AUTOCOMPLETE</a:t>
            </a:r>
            <a:endParaRPr lang="en-US" sz="2000" dirty="0"/>
          </a:p>
        </p:txBody>
      </p:sp>
      <p:sp>
        <p:nvSpPr>
          <p:cNvPr id="7" name="Text 5"/>
          <p:cNvSpPr/>
          <p:nvPr/>
        </p:nvSpPr>
        <p:spPr>
          <a:xfrm>
            <a:off x="5669280" y="1801368"/>
            <a:ext cx="6035040" cy="365760"/>
          </a:xfrm>
          <a:prstGeom prst="rect">
            <a:avLst/>
          </a:prstGeom>
          <a:noFill/>
          <a:ln/>
        </p:spPr>
        <p:txBody>
          <a:bodyPr wrap="square" lIns="0" tIns="0" rIns="0" bIns="0" rtlCol="0" anchor="ctr"/>
          <a:lstStyle/>
          <a:p>
            <a:pPr marL="0" indent="0">
              <a:buNone/>
            </a:pPr>
            <a:r>
              <a:rPr lang="en-US" sz="1800" dirty="0">
                <a:solidFill>
                  <a:srgbClr val="111111"/>
                </a:solidFill>
                <a:latin typeface="Arial" pitchFamily="34" charset="0"/>
                <a:ea typeface="Arial" pitchFamily="34" charset="-122"/>
                <a:cs typeface="Arial" pitchFamily="34" charset="-120"/>
              </a:rPr>
              <a:t>it finished the line you were typing</a:t>
            </a:r>
            <a:endParaRPr lang="en-US" sz="1800" dirty="0"/>
          </a:p>
        </p:txBody>
      </p:sp>
      <p:sp>
        <p:nvSpPr>
          <p:cNvPr id="8" name="Shape 6"/>
          <p:cNvSpPr/>
          <p:nvPr/>
        </p:nvSpPr>
        <p:spPr>
          <a:xfrm>
            <a:off x="566928" y="2542032"/>
            <a:ext cx="548640" cy="548640"/>
          </a:xfrm>
          <a:prstGeom prst="rect">
            <a:avLst/>
          </a:prstGeom>
          <a:solidFill>
            <a:srgbClr val="111111"/>
          </a:solidFill>
          <a:ln w="19050">
            <a:solidFill>
              <a:srgbClr val="111111"/>
            </a:solidFill>
            <a:prstDash val="solid"/>
          </a:ln>
        </p:spPr>
        <p:txBody>
          <a:bodyPr/>
          <a:lstStyle/>
          <a:p>
            <a:endParaRPr lang="en-US"/>
          </a:p>
        </p:txBody>
      </p:sp>
      <p:sp>
        <p:nvSpPr>
          <p:cNvPr id="9" name="Text 7"/>
          <p:cNvSpPr/>
          <p:nvPr/>
        </p:nvSpPr>
        <p:spPr>
          <a:xfrm>
            <a:off x="566928" y="2542032"/>
            <a:ext cx="548640" cy="548640"/>
          </a:xfrm>
          <a:prstGeom prst="rect">
            <a:avLst/>
          </a:prstGeom>
          <a:noFill/>
          <a:ln/>
        </p:spPr>
        <p:txBody>
          <a:bodyPr wrap="square" lIns="0" tIns="0" rIns="0" bIns="0" rtlCol="0" anchor="ctr"/>
          <a:lstStyle/>
          <a:p>
            <a:pPr marL="0" indent="0" algn="ctr">
              <a:buNone/>
            </a:pPr>
            <a:r>
              <a:rPr lang="en-US" sz="2200" b="1" dirty="0">
                <a:solidFill>
                  <a:srgbClr val="F2EFE9"/>
                </a:solidFill>
                <a:latin typeface="Arial" pitchFamily="34" charset="0"/>
                <a:ea typeface="Arial" pitchFamily="34" charset="-122"/>
                <a:cs typeface="Arial" pitchFamily="34" charset="-120"/>
              </a:rPr>
              <a:t>2</a:t>
            </a:r>
            <a:endParaRPr lang="en-US" sz="2200" dirty="0"/>
          </a:p>
        </p:txBody>
      </p:sp>
      <p:sp>
        <p:nvSpPr>
          <p:cNvPr id="10" name="Text 8"/>
          <p:cNvSpPr/>
          <p:nvPr/>
        </p:nvSpPr>
        <p:spPr>
          <a:xfrm>
            <a:off x="1371600" y="2514600"/>
            <a:ext cx="4206240" cy="365760"/>
          </a:xfrm>
          <a:prstGeom prst="rect">
            <a:avLst/>
          </a:prstGeom>
          <a:noFill/>
          <a:ln/>
        </p:spPr>
        <p:txBody>
          <a:bodyPr wrap="square" lIns="0" tIns="0" rIns="0" bIns="0" rtlCol="0" anchor="ctr"/>
          <a:lstStyle/>
          <a:p>
            <a:pPr marL="0" indent="0">
              <a:buNone/>
            </a:pPr>
            <a:r>
              <a:rPr lang="en-US" sz="2000" b="1" dirty="0">
                <a:solidFill>
                  <a:srgbClr val="111111"/>
                </a:solidFill>
                <a:latin typeface="Arial" pitchFamily="34" charset="0"/>
                <a:ea typeface="Arial" pitchFamily="34" charset="-122"/>
                <a:cs typeface="Arial" pitchFamily="34" charset="-120"/>
              </a:rPr>
              <a:t>COPILOT  ·  2021</a:t>
            </a:r>
            <a:endParaRPr lang="en-US" sz="2000" dirty="0"/>
          </a:p>
        </p:txBody>
      </p:sp>
      <p:sp>
        <p:nvSpPr>
          <p:cNvPr id="11" name="Text 9"/>
          <p:cNvSpPr/>
          <p:nvPr/>
        </p:nvSpPr>
        <p:spPr>
          <a:xfrm>
            <a:off x="5669280" y="2560320"/>
            <a:ext cx="6035040" cy="365760"/>
          </a:xfrm>
          <a:prstGeom prst="rect">
            <a:avLst/>
          </a:prstGeom>
          <a:noFill/>
          <a:ln/>
        </p:spPr>
        <p:txBody>
          <a:bodyPr wrap="square" lIns="0" tIns="0" rIns="0" bIns="0" rtlCol="0" anchor="ctr"/>
          <a:lstStyle/>
          <a:p>
            <a:pPr marL="0" indent="0">
              <a:buNone/>
            </a:pPr>
            <a:r>
              <a:rPr lang="en-US" sz="1800" dirty="0">
                <a:solidFill>
                  <a:srgbClr val="111111"/>
                </a:solidFill>
                <a:latin typeface="Arial" pitchFamily="34" charset="0"/>
                <a:ea typeface="Arial" pitchFamily="34" charset="-122"/>
                <a:cs typeface="Arial" pitchFamily="34" charset="-120"/>
              </a:rPr>
              <a:t>you wrote a comment, it wrote the code</a:t>
            </a:r>
            <a:endParaRPr lang="en-US" sz="1800" dirty="0"/>
          </a:p>
        </p:txBody>
      </p:sp>
      <p:sp>
        <p:nvSpPr>
          <p:cNvPr id="12" name="Shape 10"/>
          <p:cNvSpPr/>
          <p:nvPr/>
        </p:nvSpPr>
        <p:spPr>
          <a:xfrm>
            <a:off x="566928" y="3300984"/>
            <a:ext cx="548640" cy="548640"/>
          </a:xfrm>
          <a:prstGeom prst="rect">
            <a:avLst/>
          </a:prstGeom>
          <a:solidFill>
            <a:srgbClr val="111111"/>
          </a:solidFill>
          <a:ln w="19050">
            <a:solidFill>
              <a:srgbClr val="111111"/>
            </a:solidFill>
            <a:prstDash val="solid"/>
          </a:ln>
        </p:spPr>
        <p:txBody>
          <a:bodyPr/>
          <a:lstStyle/>
          <a:p>
            <a:endParaRPr lang="en-US"/>
          </a:p>
        </p:txBody>
      </p:sp>
      <p:sp>
        <p:nvSpPr>
          <p:cNvPr id="13" name="Text 11"/>
          <p:cNvSpPr/>
          <p:nvPr/>
        </p:nvSpPr>
        <p:spPr>
          <a:xfrm>
            <a:off x="566928" y="3300984"/>
            <a:ext cx="548640" cy="548640"/>
          </a:xfrm>
          <a:prstGeom prst="rect">
            <a:avLst/>
          </a:prstGeom>
          <a:noFill/>
          <a:ln/>
        </p:spPr>
        <p:txBody>
          <a:bodyPr wrap="square" lIns="0" tIns="0" rIns="0" bIns="0" rtlCol="0" anchor="ctr"/>
          <a:lstStyle/>
          <a:p>
            <a:pPr marL="0" indent="0" algn="ctr">
              <a:buNone/>
            </a:pPr>
            <a:r>
              <a:rPr lang="en-US" sz="2200" b="1" dirty="0">
                <a:solidFill>
                  <a:srgbClr val="F2EFE9"/>
                </a:solidFill>
                <a:latin typeface="Arial" pitchFamily="34" charset="0"/>
                <a:ea typeface="Arial" pitchFamily="34" charset="-122"/>
                <a:cs typeface="Arial" pitchFamily="34" charset="-120"/>
              </a:rPr>
              <a:t>3</a:t>
            </a:r>
            <a:endParaRPr lang="en-US" sz="2200" dirty="0"/>
          </a:p>
        </p:txBody>
      </p:sp>
      <p:sp>
        <p:nvSpPr>
          <p:cNvPr id="14" name="Text 12"/>
          <p:cNvSpPr/>
          <p:nvPr/>
        </p:nvSpPr>
        <p:spPr>
          <a:xfrm>
            <a:off x="1371600" y="3273552"/>
            <a:ext cx="4206240" cy="365760"/>
          </a:xfrm>
          <a:prstGeom prst="rect">
            <a:avLst/>
          </a:prstGeom>
          <a:noFill/>
          <a:ln/>
        </p:spPr>
        <p:txBody>
          <a:bodyPr wrap="square" lIns="0" tIns="0" rIns="0" bIns="0" rtlCol="0" anchor="ctr"/>
          <a:lstStyle/>
          <a:p>
            <a:pPr marL="0" indent="0">
              <a:buNone/>
            </a:pPr>
            <a:r>
              <a:rPr lang="en-US" sz="2000" b="1" dirty="0">
                <a:solidFill>
                  <a:srgbClr val="111111"/>
                </a:solidFill>
                <a:latin typeface="Arial" pitchFamily="34" charset="0"/>
                <a:ea typeface="Arial" pitchFamily="34" charset="-122"/>
                <a:cs typeface="Arial" pitchFamily="34" charset="-120"/>
              </a:rPr>
              <a:t>CHAT  ·  2022</a:t>
            </a:r>
            <a:endParaRPr lang="en-US" sz="2000" dirty="0"/>
          </a:p>
        </p:txBody>
      </p:sp>
      <p:sp>
        <p:nvSpPr>
          <p:cNvPr id="15" name="Text 13"/>
          <p:cNvSpPr/>
          <p:nvPr/>
        </p:nvSpPr>
        <p:spPr>
          <a:xfrm>
            <a:off x="5669280" y="3319272"/>
            <a:ext cx="6035040" cy="365760"/>
          </a:xfrm>
          <a:prstGeom prst="rect">
            <a:avLst/>
          </a:prstGeom>
          <a:noFill/>
          <a:ln/>
        </p:spPr>
        <p:txBody>
          <a:bodyPr wrap="square" lIns="0" tIns="0" rIns="0" bIns="0" rtlCol="0" anchor="ctr"/>
          <a:lstStyle/>
          <a:p>
            <a:pPr marL="0" indent="0">
              <a:buNone/>
            </a:pPr>
            <a:r>
              <a:rPr lang="en-US" sz="1800" dirty="0">
                <a:solidFill>
                  <a:srgbClr val="111111"/>
                </a:solidFill>
                <a:latin typeface="Arial" pitchFamily="34" charset="0"/>
                <a:ea typeface="Arial" pitchFamily="34" charset="-122"/>
                <a:cs typeface="Arial" pitchFamily="34" charset="-120"/>
              </a:rPr>
              <a:t>you asked, then copied the answer by hand</a:t>
            </a:r>
            <a:endParaRPr lang="en-US" sz="1800" dirty="0"/>
          </a:p>
        </p:txBody>
      </p:sp>
      <p:sp>
        <p:nvSpPr>
          <p:cNvPr id="16" name="Shape 14"/>
          <p:cNvSpPr/>
          <p:nvPr/>
        </p:nvSpPr>
        <p:spPr>
          <a:xfrm>
            <a:off x="566928" y="4059936"/>
            <a:ext cx="548640" cy="548640"/>
          </a:xfrm>
          <a:prstGeom prst="rect">
            <a:avLst/>
          </a:prstGeom>
          <a:solidFill>
            <a:srgbClr val="111111"/>
          </a:solidFill>
          <a:ln w="19050">
            <a:solidFill>
              <a:srgbClr val="111111"/>
            </a:solidFill>
            <a:prstDash val="solid"/>
          </a:ln>
        </p:spPr>
        <p:txBody>
          <a:bodyPr/>
          <a:lstStyle/>
          <a:p>
            <a:endParaRPr lang="en-US"/>
          </a:p>
        </p:txBody>
      </p:sp>
      <p:sp>
        <p:nvSpPr>
          <p:cNvPr id="17" name="Text 15"/>
          <p:cNvSpPr/>
          <p:nvPr/>
        </p:nvSpPr>
        <p:spPr>
          <a:xfrm>
            <a:off x="566928" y="4059936"/>
            <a:ext cx="548640" cy="548640"/>
          </a:xfrm>
          <a:prstGeom prst="rect">
            <a:avLst/>
          </a:prstGeom>
          <a:noFill/>
          <a:ln/>
        </p:spPr>
        <p:txBody>
          <a:bodyPr wrap="square" lIns="0" tIns="0" rIns="0" bIns="0" rtlCol="0" anchor="ctr"/>
          <a:lstStyle/>
          <a:p>
            <a:pPr marL="0" indent="0" algn="ctr">
              <a:buNone/>
            </a:pPr>
            <a:r>
              <a:rPr lang="en-US" sz="2200" b="1" dirty="0">
                <a:solidFill>
                  <a:srgbClr val="F2EFE9"/>
                </a:solidFill>
                <a:latin typeface="Arial" pitchFamily="34" charset="0"/>
                <a:ea typeface="Arial" pitchFamily="34" charset="-122"/>
                <a:cs typeface="Arial" pitchFamily="34" charset="-120"/>
              </a:rPr>
              <a:t>4</a:t>
            </a:r>
            <a:endParaRPr lang="en-US" sz="2200" dirty="0"/>
          </a:p>
        </p:txBody>
      </p:sp>
      <p:sp>
        <p:nvSpPr>
          <p:cNvPr id="18" name="Text 16"/>
          <p:cNvSpPr/>
          <p:nvPr/>
        </p:nvSpPr>
        <p:spPr>
          <a:xfrm>
            <a:off x="1371600" y="4032504"/>
            <a:ext cx="4206240" cy="365760"/>
          </a:xfrm>
          <a:prstGeom prst="rect">
            <a:avLst/>
          </a:prstGeom>
          <a:noFill/>
          <a:ln/>
        </p:spPr>
        <p:txBody>
          <a:bodyPr wrap="square" lIns="0" tIns="0" rIns="0" bIns="0" rtlCol="0" anchor="ctr"/>
          <a:lstStyle/>
          <a:p>
            <a:pPr marL="0" indent="0">
              <a:buNone/>
            </a:pPr>
            <a:r>
              <a:rPr lang="en-US" sz="2000" b="1" dirty="0">
                <a:solidFill>
                  <a:srgbClr val="111111"/>
                </a:solidFill>
                <a:latin typeface="Arial" pitchFamily="34" charset="0"/>
                <a:ea typeface="Arial" pitchFamily="34" charset="-122"/>
                <a:cs typeface="Arial" pitchFamily="34" charset="-120"/>
              </a:rPr>
              <a:t>VIBE CODING  ·  2024</a:t>
            </a:r>
            <a:endParaRPr lang="en-US" sz="2000" dirty="0"/>
          </a:p>
        </p:txBody>
      </p:sp>
      <p:sp>
        <p:nvSpPr>
          <p:cNvPr id="19" name="Text 17"/>
          <p:cNvSpPr/>
          <p:nvPr/>
        </p:nvSpPr>
        <p:spPr>
          <a:xfrm>
            <a:off x="5669280" y="4078224"/>
            <a:ext cx="6035040" cy="365760"/>
          </a:xfrm>
          <a:prstGeom prst="rect">
            <a:avLst/>
          </a:prstGeom>
          <a:noFill/>
          <a:ln/>
        </p:spPr>
        <p:txBody>
          <a:bodyPr wrap="square" lIns="0" tIns="0" rIns="0" bIns="0" rtlCol="0" anchor="ctr"/>
          <a:lstStyle/>
          <a:p>
            <a:pPr marL="0" indent="0">
              <a:buNone/>
            </a:pPr>
            <a:r>
              <a:rPr lang="en-US" sz="1800" dirty="0">
                <a:solidFill>
                  <a:srgbClr val="111111"/>
                </a:solidFill>
                <a:latin typeface="Arial" pitchFamily="34" charset="0"/>
                <a:ea typeface="Arial" pitchFamily="34" charset="-122"/>
                <a:cs typeface="Arial" pitchFamily="34" charset="-120"/>
              </a:rPr>
              <a:t>one prompt built the whole thing</a:t>
            </a:r>
            <a:endParaRPr lang="en-US" sz="1800" dirty="0"/>
          </a:p>
        </p:txBody>
      </p:sp>
      <p:sp>
        <p:nvSpPr>
          <p:cNvPr id="20" name="Shape 18"/>
          <p:cNvSpPr/>
          <p:nvPr/>
        </p:nvSpPr>
        <p:spPr>
          <a:xfrm>
            <a:off x="566928" y="4818888"/>
            <a:ext cx="548640" cy="548640"/>
          </a:xfrm>
          <a:prstGeom prst="rect">
            <a:avLst/>
          </a:prstGeom>
          <a:solidFill>
            <a:srgbClr val="1B3FA0"/>
          </a:solidFill>
          <a:ln w="19050">
            <a:solidFill>
              <a:srgbClr val="111111"/>
            </a:solidFill>
            <a:prstDash val="solid"/>
          </a:ln>
        </p:spPr>
        <p:txBody>
          <a:bodyPr/>
          <a:lstStyle/>
          <a:p>
            <a:endParaRPr lang="en-US"/>
          </a:p>
        </p:txBody>
      </p:sp>
      <p:sp>
        <p:nvSpPr>
          <p:cNvPr id="21" name="Text 19"/>
          <p:cNvSpPr/>
          <p:nvPr/>
        </p:nvSpPr>
        <p:spPr>
          <a:xfrm>
            <a:off x="566928" y="4818888"/>
            <a:ext cx="548640" cy="548640"/>
          </a:xfrm>
          <a:prstGeom prst="rect">
            <a:avLst/>
          </a:prstGeom>
          <a:noFill/>
          <a:ln/>
        </p:spPr>
        <p:txBody>
          <a:bodyPr wrap="square" lIns="0" tIns="0" rIns="0" bIns="0" rtlCol="0" anchor="ctr"/>
          <a:lstStyle/>
          <a:p>
            <a:pPr marL="0" indent="0" algn="ctr">
              <a:buNone/>
            </a:pPr>
            <a:r>
              <a:rPr lang="en-US" sz="2200" b="1" dirty="0">
                <a:solidFill>
                  <a:srgbClr val="F2EFE9"/>
                </a:solidFill>
                <a:latin typeface="Arial" pitchFamily="34" charset="0"/>
                <a:ea typeface="Arial" pitchFamily="34" charset="-122"/>
                <a:cs typeface="Arial" pitchFamily="34" charset="-120"/>
              </a:rPr>
              <a:t>5</a:t>
            </a:r>
            <a:endParaRPr lang="en-US" sz="2200" dirty="0"/>
          </a:p>
        </p:txBody>
      </p:sp>
      <p:sp>
        <p:nvSpPr>
          <p:cNvPr id="22" name="Text 20"/>
          <p:cNvSpPr/>
          <p:nvPr/>
        </p:nvSpPr>
        <p:spPr>
          <a:xfrm>
            <a:off x="1371600" y="4791456"/>
            <a:ext cx="4206240" cy="365760"/>
          </a:xfrm>
          <a:prstGeom prst="rect">
            <a:avLst/>
          </a:prstGeom>
          <a:noFill/>
          <a:ln/>
        </p:spPr>
        <p:txBody>
          <a:bodyPr wrap="square" lIns="0" tIns="0" rIns="0" bIns="0" rtlCol="0" anchor="ctr"/>
          <a:lstStyle/>
          <a:p>
            <a:pPr marL="0" indent="0">
              <a:buNone/>
            </a:pPr>
            <a:r>
              <a:rPr lang="en-US" sz="2000" b="1" dirty="0">
                <a:solidFill>
                  <a:srgbClr val="111111"/>
                </a:solidFill>
                <a:latin typeface="Arial" pitchFamily="34" charset="0"/>
                <a:ea typeface="Arial" pitchFamily="34" charset="-122"/>
                <a:cs typeface="Arial" pitchFamily="34" charset="-120"/>
              </a:rPr>
              <a:t>TWO AGENTS  ·  2025</a:t>
            </a:r>
            <a:endParaRPr lang="en-US" sz="2000" dirty="0"/>
          </a:p>
        </p:txBody>
      </p:sp>
      <p:sp>
        <p:nvSpPr>
          <p:cNvPr id="23" name="Text 21"/>
          <p:cNvSpPr/>
          <p:nvPr/>
        </p:nvSpPr>
        <p:spPr>
          <a:xfrm>
            <a:off x="5669280" y="4837176"/>
            <a:ext cx="6035040" cy="365760"/>
          </a:xfrm>
          <a:prstGeom prst="rect">
            <a:avLst/>
          </a:prstGeom>
          <a:noFill/>
          <a:ln/>
        </p:spPr>
        <p:txBody>
          <a:bodyPr wrap="square" lIns="0" tIns="0" rIns="0" bIns="0" rtlCol="0" anchor="ctr"/>
          <a:lstStyle/>
          <a:p>
            <a:pPr marL="0" indent="0">
              <a:buNone/>
            </a:pPr>
            <a:r>
              <a:rPr lang="en-US" sz="1800" dirty="0">
                <a:solidFill>
                  <a:srgbClr val="111111"/>
                </a:solidFill>
                <a:latin typeface="Arial" pitchFamily="34" charset="0"/>
                <a:ea typeface="Arial" pitchFamily="34" charset="-122"/>
                <a:cs typeface="Arial" pitchFamily="34" charset="-120"/>
              </a:rPr>
              <a:t>one AI writes, a second AI checks it</a:t>
            </a:r>
            <a:endParaRPr lang="en-US" sz="1800" dirty="0"/>
          </a:p>
        </p:txBody>
      </p:sp>
      <p:sp>
        <p:nvSpPr>
          <p:cNvPr id="24" name="Shape 22"/>
          <p:cNvSpPr/>
          <p:nvPr/>
        </p:nvSpPr>
        <p:spPr>
          <a:xfrm>
            <a:off x="566928" y="5577840"/>
            <a:ext cx="548640" cy="548640"/>
          </a:xfrm>
          <a:prstGeom prst="rect">
            <a:avLst/>
          </a:prstGeom>
          <a:solidFill>
            <a:srgbClr val="E1462C"/>
          </a:solidFill>
          <a:ln w="19050">
            <a:solidFill>
              <a:srgbClr val="111111"/>
            </a:solidFill>
            <a:prstDash val="solid"/>
          </a:ln>
        </p:spPr>
        <p:txBody>
          <a:bodyPr/>
          <a:lstStyle/>
          <a:p>
            <a:endParaRPr lang="en-US"/>
          </a:p>
        </p:txBody>
      </p:sp>
      <p:sp>
        <p:nvSpPr>
          <p:cNvPr id="25" name="Text 23"/>
          <p:cNvSpPr/>
          <p:nvPr/>
        </p:nvSpPr>
        <p:spPr>
          <a:xfrm>
            <a:off x="566928" y="5577840"/>
            <a:ext cx="548640" cy="548640"/>
          </a:xfrm>
          <a:prstGeom prst="rect">
            <a:avLst/>
          </a:prstGeom>
          <a:noFill/>
          <a:ln/>
        </p:spPr>
        <p:txBody>
          <a:bodyPr wrap="square" lIns="0" tIns="0" rIns="0" bIns="0" rtlCol="0" anchor="ctr"/>
          <a:lstStyle/>
          <a:p>
            <a:pPr marL="0" indent="0" algn="ctr">
              <a:buNone/>
            </a:pPr>
            <a:r>
              <a:rPr lang="en-US" sz="2200" b="1" dirty="0">
                <a:solidFill>
                  <a:srgbClr val="F2EFE9"/>
                </a:solidFill>
                <a:latin typeface="Arial" pitchFamily="34" charset="0"/>
                <a:ea typeface="Arial" pitchFamily="34" charset="-122"/>
                <a:cs typeface="Arial" pitchFamily="34" charset="-120"/>
              </a:rPr>
              <a:t>6</a:t>
            </a:r>
            <a:endParaRPr lang="en-US" sz="2200" dirty="0"/>
          </a:p>
        </p:txBody>
      </p:sp>
      <p:sp>
        <p:nvSpPr>
          <p:cNvPr id="26" name="Text 24"/>
          <p:cNvSpPr/>
          <p:nvPr/>
        </p:nvSpPr>
        <p:spPr>
          <a:xfrm>
            <a:off x="1371600" y="5550408"/>
            <a:ext cx="4206240" cy="365760"/>
          </a:xfrm>
          <a:prstGeom prst="rect">
            <a:avLst/>
          </a:prstGeom>
          <a:noFill/>
          <a:ln/>
        </p:spPr>
        <p:txBody>
          <a:bodyPr wrap="square" lIns="0" tIns="0" rIns="0" bIns="0" rtlCol="0" anchor="ctr"/>
          <a:lstStyle/>
          <a:p>
            <a:pPr marL="0" indent="0">
              <a:buNone/>
            </a:pPr>
            <a:r>
              <a:rPr lang="en-US" sz="2000" b="1" dirty="0">
                <a:solidFill>
                  <a:srgbClr val="111111"/>
                </a:solidFill>
                <a:latin typeface="Arial" pitchFamily="34" charset="0"/>
                <a:ea typeface="Arial" pitchFamily="34" charset="-122"/>
                <a:cs typeface="Arial" pitchFamily="34" charset="-120"/>
              </a:rPr>
              <a:t>LOOP ENGINEERING  ·  NOW</a:t>
            </a:r>
            <a:endParaRPr lang="en-US" sz="2000" dirty="0"/>
          </a:p>
        </p:txBody>
      </p:sp>
      <p:sp>
        <p:nvSpPr>
          <p:cNvPr id="27" name="Text 25"/>
          <p:cNvSpPr/>
          <p:nvPr/>
        </p:nvSpPr>
        <p:spPr>
          <a:xfrm>
            <a:off x="5669280" y="5596128"/>
            <a:ext cx="6035040" cy="365760"/>
          </a:xfrm>
          <a:prstGeom prst="rect">
            <a:avLst/>
          </a:prstGeom>
          <a:noFill/>
          <a:ln/>
        </p:spPr>
        <p:txBody>
          <a:bodyPr wrap="square" lIns="0" tIns="0" rIns="0" bIns="0" rtlCol="0" anchor="ctr"/>
          <a:lstStyle/>
          <a:p>
            <a:pPr marL="0" indent="0">
              <a:buNone/>
            </a:pPr>
            <a:r>
              <a:rPr lang="en-US" sz="1800" dirty="0">
                <a:solidFill>
                  <a:srgbClr val="111111"/>
                </a:solidFill>
                <a:latin typeface="Arial" pitchFamily="34" charset="0"/>
                <a:ea typeface="Arial" pitchFamily="34" charset="-122"/>
                <a:cs typeface="Arial" pitchFamily="34" charset="-120"/>
              </a:rPr>
              <a:t>it checks and fixes itself, over and over</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EFE9"/>
        </a:solidFill>
        <a:effectLst/>
      </p:bgPr>
    </p:bg>
    <p:spTree>
      <p:nvGrpSpPr>
        <p:cNvPr id="1" name=""/>
        <p:cNvGrpSpPr/>
        <p:nvPr/>
      </p:nvGrpSpPr>
      <p:grpSpPr>
        <a:xfrm>
          <a:off x="0" y="0"/>
          <a:ext cx="0" cy="0"/>
          <a:chOff x="0" y="0"/>
          <a:chExt cx="0" cy="0"/>
        </a:xfrm>
      </p:grpSpPr>
      <p:sp>
        <p:nvSpPr>
          <p:cNvPr id="2" name="Text 0"/>
          <p:cNvSpPr/>
          <p:nvPr/>
        </p:nvSpPr>
        <p:spPr>
          <a:xfrm>
            <a:off x="11430000" y="182880"/>
            <a:ext cx="594360" cy="274320"/>
          </a:xfrm>
          <a:prstGeom prst="rect">
            <a:avLst/>
          </a:prstGeom>
          <a:noFill/>
          <a:ln/>
        </p:spPr>
        <p:txBody>
          <a:bodyPr wrap="square" lIns="0" tIns="0" rIns="0" bIns="0" rtlCol="0" anchor="ctr"/>
          <a:lstStyle/>
          <a:p>
            <a:pPr marL="0" indent="0" algn="r">
              <a:buNone/>
            </a:pPr>
            <a:r>
              <a:rPr lang="en-US" sz="1000" dirty="0">
                <a:solidFill>
                  <a:srgbClr val="111111"/>
                </a:solidFill>
                <a:latin typeface="Courier New" pitchFamily="34" charset="0"/>
                <a:ea typeface="Courier New" pitchFamily="34" charset="-122"/>
                <a:cs typeface="Courier New" pitchFamily="34" charset="-120"/>
              </a:rPr>
              <a:t>03</a:t>
            </a:r>
            <a:endParaRPr lang="en-US" sz="1000" dirty="0"/>
          </a:p>
        </p:txBody>
      </p:sp>
      <p:sp>
        <p:nvSpPr>
          <p:cNvPr id="3" name="Text 1"/>
          <p:cNvSpPr/>
          <p:nvPr/>
        </p:nvSpPr>
        <p:spPr>
          <a:xfrm>
            <a:off x="566928" y="402336"/>
            <a:ext cx="2743200" cy="274320"/>
          </a:xfrm>
          <a:prstGeom prst="rect">
            <a:avLst/>
          </a:prstGeom>
          <a:noFill/>
          <a:ln/>
        </p:spPr>
        <p:txBody>
          <a:bodyPr wrap="square" lIns="0" tIns="0" rIns="0" bIns="0" rtlCol="0" anchor="ctr"/>
          <a:lstStyle/>
          <a:p>
            <a:pPr marL="0" indent="0" algn="l">
              <a:buNone/>
            </a:pPr>
            <a:r>
              <a:rPr lang="en-US" sz="1000" dirty="0">
                <a:solidFill>
                  <a:srgbClr val="111111"/>
                </a:solidFill>
                <a:latin typeface="Courier New" pitchFamily="34" charset="0"/>
                <a:ea typeface="Courier New" pitchFamily="34" charset="-122"/>
                <a:cs typeface="Courier New" pitchFamily="34" charset="-120"/>
              </a:rPr>
              <a:t>STEP 1 OF 6</a:t>
            </a:r>
            <a:endParaRPr lang="en-US" sz="1000" dirty="0"/>
          </a:p>
        </p:txBody>
      </p:sp>
      <p:sp>
        <p:nvSpPr>
          <p:cNvPr id="4" name="Text 2"/>
          <p:cNvSpPr/>
          <p:nvPr/>
        </p:nvSpPr>
        <p:spPr>
          <a:xfrm>
            <a:off x="548640" y="749808"/>
            <a:ext cx="6400800" cy="1051560"/>
          </a:xfrm>
          <a:prstGeom prst="rect">
            <a:avLst/>
          </a:prstGeom>
          <a:noFill/>
          <a:ln/>
        </p:spPr>
        <p:txBody>
          <a:bodyPr wrap="square" lIns="0" tIns="0" rIns="0" bIns="0" rtlCol="0" anchor="t"/>
          <a:lstStyle/>
          <a:p>
            <a:pPr marL="0" indent="0">
              <a:buNone/>
            </a:pPr>
            <a:r>
              <a:rPr lang="en-US" sz="4200" b="1" dirty="0">
                <a:solidFill>
                  <a:srgbClr val="111111"/>
                </a:solidFill>
                <a:latin typeface="Arial" pitchFamily="34" charset="0"/>
                <a:ea typeface="Arial" pitchFamily="34" charset="-122"/>
                <a:cs typeface="Arial" pitchFamily="34" charset="-120"/>
              </a:rPr>
              <a:t>AUTOCOMPLETE</a:t>
            </a:r>
            <a:endParaRPr lang="en-US" sz="4200" dirty="0"/>
          </a:p>
        </p:txBody>
      </p:sp>
      <p:sp>
        <p:nvSpPr>
          <p:cNvPr id="5" name="Text 3"/>
          <p:cNvSpPr/>
          <p:nvPr/>
        </p:nvSpPr>
        <p:spPr>
          <a:xfrm>
            <a:off x="566928" y="1901952"/>
            <a:ext cx="4572000" cy="274320"/>
          </a:xfrm>
          <a:prstGeom prst="rect">
            <a:avLst/>
          </a:prstGeom>
          <a:noFill/>
          <a:ln/>
        </p:spPr>
        <p:txBody>
          <a:bodyPr wrap="square" lIns="0" tIns="0" rIns="0" bIns="0" rtlCol="0" anchor="ctr"/>
          <a:lstStyle/>
          <a:p>
            <a:pPr marL="0" indent="0" algn="l">
              <a:buNone/>
            </a:pPr>
            <a:r>
              <a:rPr lang="en-US" sz="1200" b="1" dirty="0">
                <a:solidFill>
                  <a:srgbClr val="E1462C"/>
                </a:solidFill>
                <a:latin typeface="Courier New" pitchFamily="34" charset="0"/>
                <a:ea typeface="Courier New" pitchFamily="34" charset="-122"/>
                <a:cs typeface="Courier New" pitchFamily="34" charset="-120"/>
              </a:rPr>
              <a:t>THE OLD IDE</a:t>
            </a:r>
            <a:endParaRPr lang="en-US" sz="1200" dirty="0"/>
          </a:p>
        </p:txBody>
      </p:sp>
      <p:sp>
        <p:nvSpPr>
          <p:cNvPr id="6" name="Text 4"/>
          <p:cNvSpPr/>
          <p:nvPr/>
        </p:nvSpPr>
        <p:spPr>
          <a:xfrm>
            <a:off x="548640" y="2395728"/>
            <a:ext cx="6035040" cy="1463040"/>
          </a:xfrm>
          <a:prstGeom prst="rect">
            <a:avLst/>
          </a:prstGeom>
          <a:noFill/>
          <a:ln/>
        </p:spPr>
        <p:txBody>
          <a:bodyPr wrap="square" lIns="0" tIns="0" rIns="0" bIns="0" rtlCol="0" anchor="t"/>
          <a:lstStyle/>
          <a:p>
            <a:pPr marL="0" indent="0">
              <a:buNone/>
            </a:pPr>
            <a:r>
              <a:rPr lang="en-US" sz="2500" dirty="0">
                <a:solidFill>
                  <a:srgbClr val="111111"/>
                </a:solidFill>
                <a:latin typeface="Arial" pitchFamily="34" charset="0"/>
                <a:ea typeface="Arial" pitchFamily="34" charset="-122"/>
                <a:cs typeface="Arial" pitchFamily="34" charset="-120"/>
              </a:rPr>
              <a:t>You start typing. The editor guesses the rest of the line.</a:t>
            </a:r>
            <a:endParaRPr lang="en-US" sz="2500" dirty="0"/>
          </a:p>
        </p:txBody>
      </p:sp>
      <p:sp>
        <p:nvSpPr>
          <p:cNvPr id="7" name="Shape 5"/>
          <p:cNvSpPr/>
          <p:nvPr/>
        </p:nvSpPr>
        <p:spPr>
          <a:xfrm>
            <a:off x="566928" y="4114800"/>
            <a:ext cx="2926080" cy="0"/>
          </a:xfrm>
          <a:prstGeom prst="line">
            <a:avLst/>
          </a:prstGeom>
          <a:noFill/>
          <a:ln w="19050">
            <a:solidFill>
              <a:srgbClr val="111111"/>
            </a:solidFill>
            <a:prstDash val="solid"/>
          </a:ln>
        </p:spPr>
        <p:txBody>
          <a:bodyPr/>
          <a:lstStyle/>
          <a:p>
            <a:endParaRPr lang="en-US"/>
          </a:p>
        </p:txBody>
      </p:sp>
      <p:sp>
        <p:nvSpPr>
          <p:cNvPr id="8" name="Text 6"/>
          <p:cNvSpPr/>
          <p:nvPr/>
        </p:nvSpPr>
        <p:spPr>
          <a:xfrm>
            <a:off x="566928" y="4279392"/>
            <a:ext cx="2743200" cy="274320"/>
          </a:xfrm>
          <a:prstGeom prst="rect">
            <a:avLst/>
          </a:prstGeom>
          <a:noFill/>
          <a:ln/>
        </p:spPr>
        <p:txBody>
          <a:bodyPr wrap="square" lIns="0" tIns="0" rIns="0" bIns="0" rtlCol="0" anchor="ctr"/>
          <a:lstStyle/>
          <a:p>
            <a:pPr marL="0" indent="0" algn="l">
              <a:buNone/>
            </a:pPr>
            <a:r>
              <a:rPr lang="en-US" sz="1000" b="1" dirty="0">
                <a:solidFill>
                  <a:srgbClr val="111111"/>
                </a:solidFill>
                <a:latin typeface="Courier New" pitchFamily="34" charset="0"/>
                <a:ea typeface="Courier New" pitchFamily="34" charset="-122"/>
                <a:cs typeface="Courier New" pitchFamily="34" charset="-120"/>
              </a:rPr>
              <a:t>THE PROBLEM</a:t>
            </a:r>
            <a:endParaRPr lang="en-US" sz="1000" dirty="0"/>
          </a:p>
        </p:txBody>
      </p:sp>
      <p:sp>
        <p:nvSpPr>
          <p:cNvPr id="9" name="Text 7"/>
          <p:cNvSpPr/>
          <p:nvPr/>
        </p:nvSpPr>
        <p:spPr>
          <a:xfrm>
            <a:off x="548640" y="4617720"/>
            <a:ext cx="6035040" cy="1097280"/>
          </a:xfrm>
          <a:prstGeom prst="rect">
            <a:avLst/>
          </a:prstGeom>
          <a:noFill/>
          <a:ln/>
        </p:spPr>
        <p:txBody>
          <a:bodyPr wrap="square" lIns="0" tIns="0" rIns="0" bIns="0" rtlCol="0" anchor="t"/>
          <a:lstStyle/>
          <a:p>
            <a:pPr marL="0" indent="0">
              <a:buNone/>
            </a:pPr>
            <a:r>
              <a:rPr lang="en-US" sz="1900" b="1" dirty="0">
                <a:solidFill>
                  <a:srgbClr val="E1462C"/>
                </a:solidFill>
                <a:latin typeface="Arial" pitchFamily="34" charset="0"/>
                <a:ea typeface="Arial" pitchFamily="34" charset="-122"/>
                <a:cs typeface="Arial" pitchFamily="34" charset="-120"/>
              </a:rPr>
              <a:t>It had no idea what you were building.</a:t>
            </a:r>
            <a:endParaRPr lang="en-US" sz="1900" dirty="0"/>
          </a:p>
        </p:txBody>
      </p:sp>
      <p:sp>
        <p:nvSpPr>
          <p:cNvPr id="10" name="Text 8"/>
          <p:cNvSpPr/>
          <p:nvPr/>
        </p:nvSpPr>
        <p:spPr>
          <a:xfrm>
            <a:off x="7178040" y="2331720"/>
            <a:ext cx="1828800" cy="274320"/>
          </a:xfrm>
          <a:prstGeom prst="rect">
            <a:avLst/>
          </a:prstGeom>
          <a:noFill/>
          <a:ln/>
        </p:spPr>
        <p:txBody>
          <a:bodyPr wrap="square" lIns="0" tIns="0" rIns="0" bIns="0" rtlCol="0" anchor="ctr"/>
          <a:lstStyle/>
          <a:p>
            <a:pPr marL="0" indent="0" algn="l">
              <a:buNone/>
            </a:pPr>
            <a:r>
              <a:rPr lang="en-US" sz="1000" dirty="0">
                <a:solidFill>
                  <a:srgbClr val="111111"/>
                </a:solidFill>
                <a:latin typeface="Courier New" pitchFamily="34" charset="0"/>
                <a:ea typeface="Courier New" pitchFamily="34" charset="-122"/>
                <a:cs typeface="Courier New" pitchFamily="34" charset="-120"/>
              </a:rPr>
              <a:t>YOU TYPED</a:t>
            </a:r>
            <a:endParaRPr lang="en-US" sz="1000" dirty="0"/>
          </a:p>
        </p:txBody>
      </p:sp>
      <p:sp>
        <p:nvSpPr>
          <p:cNvPr id="11" name="Shape 9"/>
          <p:cNvSpPr/>
          <p:nvPr/>
        </p:nvSpPr>
        <p:spPr>
          <a:xfrm>
            <a:off x="7178040" y="2606040"/>
            <a:ext cx="1828800" cy="566928"/>
          </a:xfrm>
          <a:prstGeom prst="rect">
            <a:avLst/>
          </a:prstGeom>
          <a:solidFill>
            <a:srgbClr val="111111"/>
          </a:solidFill>
          <a:ln w="22225">
            <a:solidFill>
              <a:srgbClr val="111111"/>
            </a:solidFill>
            <a:prstDash val="solid"/>
          </a:ln>
        </p:spPr>
        <p:txBody>
          <a:bodyPr/>
          <a:lstStyle/>
          <a:p>
            <a:endParaRPr lang="en-US"/>
          </a:p>
        </p:txBody>
      </p:sp>
      <p:sp>
        <p:nvSpPr>
          <p:cNvPr id="12" name="Text 10"/>
          <p:cNvSpPr/>
          <p:nvPr/>
        </p:nvSpPr>
        <p:spPr>
          <a:xfrm>
            <a:off x="7178040" y="2606040"/>
            <a:ext cx="1828800" cy="566928"/>
          </a:xfrm>
          <a:prstGeom prst="rect">
            <a:avLst/>
          </a:prstGeom>
          <a:noFill/>
          <a:ln/>
        </p:spPr>
        <p:txBody>
          <a:bodyPr wrap="square" lIns="508" tIns="508" rIns="508" bIns="508" rtlCol="0" anchor="ctr"/>
          <a:lstStyle/>
          <a:p>
            <a:pPr marL="0" indent="0" algn="ctr">
              <a:buNone/>
            </a:pPr>
            <a:r>
              <a:rPr lang="en-US" sz="1500" b="1" dirty="0">
                <a:solidFill>
                  <a:srgbClr val="F2EFE9"/>
                </a:solidFill>
                <a:latin typeface="Courier New" pitchFamily="34" charset="0"/>
                <a:ea typeface="Courier New" pitchFamily="34" charset="-122"/>
                <a:cs typeface="Courier New" pitchFamily="34" charset="-120"/>
              </a:rPr>
              <a:t>for (i</a:t>
            </a:r>
            <a:endParaRPr lang="en-US" sz="1500" dirty="0"/>
          </a:p>
        </p:txBody>
      </p:sp>
      <p:sp>
        <p:nvSpPr>
          <p:cNvPr id="13" name="Text 11"/>
          <p:cNvSpPr/>
          <p:nvPr/>
        </p:nvSpPr>
        <p:spPr>
          <a:xfrm>
            <a:off x="9098280" y="2331720"/>
            <a:ext cx="2377440" cy="274320"/>
          </a:xfrm>
          <a:prstGeom prst="rect">
            <a:avLst/>
          </a:prstGeom>
          <a:noFill/>
          <a:ln/>
        </p:spPr>
        <p:txBody>
          <a:bodyPr wrap="square" lIns="0" tIns="0" rIns="0" bIns="0" rtlCol="0" anchor="ctr"/>
          <a:lstStyle/>
          <a:p>
            <a:pPr marL="0" indent="0" algn="l">
              <a:buNone/>
            </a:pPr>
            <a:r>
              <a:rPr lang="en-US" sz="1000" dirty="0">
                <a:solidFill>
                  <a:srgbClr val="111111"/>
                </a:solidFill>
                <a:latin typeface="Courier New" pitchFamily="34" charset="0"/>
                <a:ea typeface="Courier New" pitchFamily="34" charset="-122"/>
                <a:cs typeface="Courier New" pitchFamily="34" charset="-120"/>
              </a:rPr>
              <a:t>IT GUESSED</a:t>
            </a:r>
            <a:endParaRPr lang="en-US" sz="1000" dirty="0"/>
          </a:p>
        </p:txBody>
      </p:sp>
      <p:sp>
        <p:nvSpPr>
          <p:cNvPr id="14" name="Shape 12"/>
          <p:cNvSpPr/>
          <p:nvPr/>
        </p:nvSpPr>
        <p:spPr>
          <a:xfrm>
            <a:off x="9098280" y="2606040"/>
            <a:ext cx="2606040" cy="566928"/>
          </a:xfrm>
          <a:prstGeom prst="rect">
            <a:avLst/>
          </a:prstGeom>
          <a:noFill/>
          <a:ln w="22225">
            <a:solidFill>
              <a:srgbClr val="111111"/>
            </a:solidFill>
            <a:prstDash val="solid"/>
          </a:ln>
        </p:spPr>
        <p:txBody>
          <a:bodyPr/>
          <a:lstStyle/>
          <a:p>
            <a:endParaRPr lang="en-US"/>
          </a:p>
        </p:txBody>
      </p:sp>
      <p:sp>
        <p:nvSpPr>
          <p:cNvPr id="15" name="Text 13"/>
          <p:cNvSpPr/>
          <p:nvPr/>
        </p:nvSpPr>
        <p:spPr>
          <a:xfrm>
            <a:off x="9098280" y="2606040"/>
            <a:ext cx="2606040" cy="566928"/>
          </a:xfrm>
          <a:prstGeom prst="rect">
            <a:avLst/>
          </a:prstGeom>
          <a:noFill/>
          <a:ln/>
        </p:spPr>
        <p:txBody>
          <a:bodyPr wrap="square" lIns="508" tIns="508" rIns="508" bIns="508" rtlCol="0" anchor="ctr"/>
          <a:lstStyle/>
          <a:p>
            <a:pPr marL="0" indent="0" algn="ctr">
              <a:buNone/>
            </a:pPr>
            <a:r>
              <a:rPr lang="en-US" sz="1500" b="1" dirty="0">
                <a:solidFill>
                  <a:srgbClr val="111111"/>
                </a:solidFill>
                <a:latin typeface="Courier New" pitchFamily="34" charset="0"/>
                <a:ea typeface="Courier New" pitchFamily="34" charset="-122"/>
                <a:cs typeface="Courier New" pitchFamily="34" charset="-120"/>
              </a:rPr>
              <a:t>= 0; i &lt; n</a:t>
            </a:r>
            <a:endParaRPr lang="en-US" sz="1500" dirty="0"/>
          </a:p>
        </p:txBody>
      </p:sp>
      <p:sp>
        <p:nvSpPr>
          <p:cNvPr id="16" name="Text 14"/>
          <p:cNvSpPr/>
          <p:nvPr/>
        </p:nvSpPr>
        <p:spPr>
          <a:xfrm>
            <a:off x="7178040" y="3657600"/>
            <a:ext cx="4526280" cy="914400"/>
          </a:xfrm>
          <a:prstGeom prst="rect">
            <a:avLst/>
          </a:prstGeom>
          <a:noFill/>
          <a:ln/>
        </p:spPr>
        <p:txBody>
          <a:bodyPr wrap="square" lIns="0" tIns="0" rIns="0" bIns="0" rtlCol="0" anchor="t"/>
          <a:lstStyle/>
          <a:p>
            <a:pPr marL="0" indent="0">
              <a:buNone/>
            </a:pPr>
            <a:r>
              <a:rPr lang="en-US" sz="1500" dirty="0">
                <a:solidFill>
                  <a:srgbClr val="111111"/>
                </a:solidFill>
                <a:latin typeface="Arial" pitchFamily="34" charset="0"/>
                <a:ea typeface="Arial" pitchFamily="34" charset="-122"/>
                <a:cs typeface="Arial" pitchFamily="34" charset="-120"/>
              </a:rPr>
              <a:t>It only ever saw the line under your cursor —</a:t>
            </a:r>
            <a:endParaRPr lang="en-US" sz="1500" dirty="0"/>
          </a:p>
          <a:p>
            <a:pPr marL="0" indent="0">
              <a:buNone/>
            </a:pPr>
            <a:r>
              <a:rPr lang="en-US" sz="1500" dirty="0">
                <a:solidFill>
                  <a:srgbClr val="111111"/>
                </a:solidFill>
                <a:latin typeface="Arial" pitchFamily="34" charset="0"/>
                <a:ea typeface="Arial" pitchFamily="34" charset="-122"/>
                <a:cs typeface="Arial" pitchFamily="34" charset="-120"/>
              </a:rPr>
              <a:t>not your project, not your goal.</a:t>
            </a:r>
            <a:endParaRPr lang="en-US" sz="1500" dirty="0"/>
          </a:p>
        </p:txBody>
      </p:sp>
      <p:sp>
        <p:nvSpPr>
          <p:cNvPr id="17" name="Text 15"/>
          <p:cNvSpPr/>
          <p:nvPr/>
        </p:nvSpPr>
        <p:spPr>
          <a:xfrm>
            <a:off x="7178040" y="4800600"/>
            <a:ext cx="4572000" cy="274320"/>
          </a:xfrm>
          <a:prstGeom prst="rect">
            <a:avLst/>
          </a:prstGeom>
          <a:noFill/>
          <a:ln/>
        </p:spPr>
        <p:txBody>
          <a:bodyPr wrap="square" lIns="0" tIns="0" rIns="0" bIns="0" rtlCol="0" anchor="ctr"/>
          <a:lstStyle/>
          <a:p>
            <a:pPr marL="0" indent="0" algn="l">
              <a:buNone/>
            </a:pPr>
            <a:r>
              <a:rPr lang="en-US" sz="1100" b="1" dirty="0">
                <a:solidFill>
                  <a:srgbClr val="111111"/>
                </a:solidFill>
                <a:latin typeface="Courier New" pitchFamily="34" charset="0"/>
                <a:ea typeface="Courier New" pitchFamily="34" charset="-122"/>
                <a:cs typeface="Courier New" pitchFamily="34" charset="-120"/>
              </a:rPr>
              <a:t>WHO CHECKS THE WORK?  YOU</a:t>
            </a:r>
            <a:endParaRPr lang="en-US" sz="1100" dirty="0"/>
          </a:p>
        </p:txBody>
      </p:sp>
      <p:sp>
        <p:nvSpPr>
          <p:cNvPr id="18" name="Shape 16"/>
          <p:cNvSpPr/>
          <p:nvPr/>
        </p:nvSpPr>
        <p:spPr>
          <a:xfrm>
            <a:off x="1234440" y="6263640"/>
            <a:ext cx="9720072" cy="0"/>
          </a:xfrm>
          <a:prstGeom prst="line">
            <a:avLst/>
          </a:prstGeom>
          <a:noFill/>
          <a:ln w="19050">
            <a:solidFill>
              <a:srgbClr val="111111"/>
            </a:solidFill>
            <a:prstDash val="solid"/>
          </a:ln>
        </p:spPr>
        <p:txBody>
          <a:bodyPr/>
          <a:lstStyle/>
          <a:p>
            <a:endParaRPr lang="en-US"/>
          </a:p>
        </p:txBody>
      </p:sp>
      <p:sp>
        <p:nvSpPr>
          <p:cNvPr id="19" name="Shape 17"/>
          <p:cNvSpPr/>
          <p:nvPr/>
        </p:nvSpPr>
        <p:spPr>
          <a:xfrm>
            <a:off x="1097280" y="6126480"/>
            <a:ext cx="274320" cy="274320"/>
          </a:xfrm>
          <a:prstGeom prst="rect">
            <a:avLst/>
          </a:prstGeom>
          <a:solidFill>
            <a:srgbClr val="E1462C"/>
          </a:solidFill>
          <a:ln w="19050">
            <a:solidFill>
              <a:srgbClr val="111111"/>
            </a:solidFill>
            <a:prstDash val="solid"/>
          </a:ln>
        </p:spPr>
        <p:txBody>
          <a:bodyPr/>
          <a:lstStyle/>
          <a:p>
            <a:endParaRPr lang="en-US"/>
          </a:p>
        </p:txBody>
      </p:sp>
      <p:sp>
        <p:nvSpPr>
          <p:cNvPr id="20" name="Text 18"/>
          <p:cNvSpPr/>
          <p:nvPr/>
        </p:nvSpPr>
        <p:spPr>
          <a:xfrm>
            <a:off x="320040" y="6446520"/>
            <a:ext cx="1828800" cy="256032"/>
          </a:xfrm>
          <a:prstGeom prst="rect">
            <a:avLst/>
          </a:prstGeom>
          <a:noFill/>
          <a:ln/>
        </p:spPr>
        <p:txBody>
          <a:bodyPr wrap="square" lIns="0" tIns="0" rIns="0" bIns="0" rtlCol="0" anchor="ctr"/>
          <a:lstStyle/>
          <a:p>
            <a:pPr marL="0" indent="0" algn="ctr">
              <a:buNone/>
            </a:pPr>
            <a:r>
              <a:rPr lang="en-US" sz="900" b="1" dirty="0">
                <a:solidFill>
                  <a:srgbClr val="111111"/>
                </a:solidFill>
                <a:latin typeface="Courier New" pitchFamily="34" charset="0"/>
                <a:ea typeface="Courier New" pitchFamily="34" charset="-122"/>
                <a:cs typeface="Courier New" pitchFamily="34" charset="-120"/>
              </a:rPr>
              <a:t>1 AUTOCOMPLETE</a:t>
            </a:r>
            <a:endParaRPr lang="en-US" sz="900" dirty="0"/>
          </a:p>
        </p:txBody>
      </p:sp>
      <p:sp>
        <p:nvSpPr>
          <p:cNvPr id="21" name="Shape 19"/>
          <p:cNvSpPr/>
          <p:nvPr/>
        </p:nvSpPr>
        <p:spPr>
          <a:xfrm>
            <a:off x="3096158" y="6181344"/>
            <a:ext cx="164592" cy="164592"/>
          </a:xfrm>
          <a:prstGeom prst="rect">
            <a:avLst/>
          </a:prstGeom>
          <a:noFill/>
          <a:ln w="19050">
            <a:solidFill>
              <a:srgbClr val="111111"/>
            </a:solidFill>
            <a:prstDash val="solid"/>
          </a:ln>
        </p:spPr>
        <p:txBody>
          <a:bodyPr/>
          <a:lstStyle/>
          <a:p>
            <a:endParaRPr lang="en-US"/>
          </a:p>
        </p:txBody>
      </p:sp>
      <p:sp>
        <p:nvSpPr>
          <p:cNvPr id="22" name="Text 20"/>
          <p:cNvSpPr/>
          <p:nvPr/>
        </p:nvSpPr>
        <p:spPr>
          <a:xfrm>
            <a:off x="2264054" y="6446520"/>
            <a:ext cx="1828800" cy="256032"/>
          </a:xfrm>
          <a:prstGeom prst="rect">
            <a:avLst/>
          </a:prstGeom>
          <a:noFill/>
          <a:ln/>
        </p:spPr>
        <p:txBody>
          <a:bodyPr wrap="square" lIns="0" tIns="0" rIns="0" bIns="0" rtlCol="0" anchor="ctr"/>
          <a:lstStyle/>
          <a:p>
            <a:pPr marL="0" indent="0" algn="ctr">
              <a:buNone/>
            </a:pPr>
            <a:r>
              <a:rPr lang="en-US" sz="900" dirty="0">
                <a:solidFill>
                  <a:srgbClr val="111111"/>
                </a:solidFill>
                <a:latin typeface="Courier New" pitchFamily="34" charset="0"/>
                <a:ea typeface="Courier New" pitchFamily="34" charset="-122"/>
                <a:cs typeface="Courier New" pitchFamily="34" charset="-120"/>
              </a:rPr>
              <a:t>2 COPILOT</a:t>
            </a:r>
            <a:endParaRPr lang="en-US" sz="900" dirty="0"/>
          </a:p>
        </p:txBody>
      </p:sp>
      <p:sp>
        <p:nvSpPr>
          <p:cNvPr id="23" name="Shape 21"/>
          <p:cNvSpPr/>
          <p:nvPr/>
        </p:nvSpPr>
        <p:spPr>
          <a:xfrm>
            <a:off x="5040173" y="6181344"/>
            <a:ext cx="164592" cy="164592"/>
          </a:xfrm>
          <a:prstGeom prst="rect">
            <a:avLst/>
          </a:prstGeom>
          <a:noFill/>
          <a:ln w="19050">
            <a:solidFill>
              <a:srgbClr val="111111"/>
            </a:solidFill>
            <a:prstDash val="solid"/>
          </a:ln>
        </p:spPr>
        <p:txBody>
          <a:bodyPr/>
          <a:lstStyle/>
          <a:p>
            <a:endParaRPr lang="en-US"/>
          </a:p>
        </p:txBody>
      </p:sp>
      <p:sp>
        <p:nvSpPr>
          <p:cNvPr id="24" name="Text 22"/>
          <p:cNvSpPr/>
          <p:nvPr/>
        </p:nvSpPr>
        <p:spPr>
          <a:xfrm>
            <a:off x="4208069" y="6446520"/>
            <a:ext cx="1828800" cy="256032"/>
          </a:xfrm>
          <a:prstGeom prst="rect">
            <a:avLst/>
          </a:prstGeom>
          <a:noFill/>
          <a:ln/>
        </p:spPr>
        <p:txBody>
          <a:bodyPr wrap="square" lIns="0" tIns="0" rIns="0" bIns="0" rtlCol="0" anchor="ctr"/>
          <a:lstStyle/>
          <a:p>
            <a:pPr marL="0" indent="0" algn="ctr">
              <a:buNone/>
            </a:pPr>
            <a:r>
              <a:rPr lang="en-US" sz="900" dirty="0">
                <a:solidFill>
                  <a:srgbClr val="111111"/>
                </a:solidFill>
                <a:latin typeface="Courier New" pitchFamily="34" charset="0"/>
                <a:ea typeface="Courier New" pitchFamily="34" charset="-122"/>
                <a:cs typeface="Courier New" pitchFamily="34" charset="-120"/>
              </a:rPr>
              <a:t>3 CHAT</a:t>
            </a:r>
            <a:endParaRPr lang="en-US" sz="900" dirty="0"/>
          </a:p>
        </p:txBody>
      </p:sp>
      <p:sp>
        <p:nvSpPr>
          <p:cNvPr id="25" name="Shape 23"/>
          <p:cNvSpPr/>
          <p:nvPr/>
        </p:nvSpPr>
        <p:spPr>
          <a:xfrm>
            <a:off x="6984187" y="6181344"/>
            <a:ext cx="164592" cy="164592"/>
          </a:xfrm>
          <a:prstGeom prst="rect">
            <a:avLst/>
          </a:prstGeom>
          <a:noFill/>
          <a:ln w="19050">
            <a:solidFill>
              <a:srgbClr val="111111"/>
            </a:solidFill>
            <a:prstDash val="solid"/>
          </a:ln>
        </p:spPr>
        <p:txBody>
          <a:bodyPr/>
          <a:lstStyle/>
          <a:p>
            <a:endParaRPr lang="en-US"/>
          </a:p>
        </p:txBody>
      </p:sp>
      <p:sp>
        <p:nvSpPr>
          <p:cNvPr id="26" name="Text 24"/>
          <p:cNvSpPr/>
          <p:nvPr/>
        </p:nvSpPr>
        <p:spPr>
          <a:xfrm>
            <a:off x="6152083" y="6446520"/>
            <a:ext cx="1828800" cy="256032"/>
          </a:xfrm>
          <a:prstGeom prst="rect">
            <a:avLst/>
          </a:prstGeom>
          <a:noFill/>
          <a:ln/>
        </p:spPr>
        <p:txBody>
          <a:bodyPr wrap="square" lIns="0" tIns="0" rIns="0" bIns="0" rtlCol="0" anchor="ctr"/>
          <a:lstStyle/>
          <a:p>
            <a:pPr marL="0" indent="0" algn="ctr">
              <a:buNone/>
            </a:pPr>
            <a:r>
              <a:rPr lang="en-US" sz="900" dirty="0">
                <a:solidFill>
                  <a:srgbClr val="111111"/>
                </a:solidFill>
                <a:latin typeface="Courier New" pitchFamily="34" charset="0"/>
                <a:ea typeface="Courier New" pitchFamily="34" charset="-122"/>
                <a:cs typeface="Courier New" pitchFamily="34" charset="-120"/>
              </a:rPr>
              <a:t>4 VIBE CODING</a:t>
            </a:r>
            <a:endParaRPr lang="en-US" sz="900" dirty="0"/>
          </a:p>
        </p:txBody>
      </p:sp>
      <p:sp>
        <p:nvSpPr>
          <p:cNvPr id="27" name="Shape 25"/>
          <p:cNvSpPr/>
          <p:nvPr/>
        </p:nvSpPr>
        <p:spPr>
          <a:xfrm>
            <a:off x="8928202" y="6181344"/>
            <a:ext cx="164592" cy="164592"/>
          </a:xfrm>
          <a:prstGeom prst="rect">
            <a:avLst/>
          </a:prstGeom>
          <a:noFill/>
          <a:ln w="19050">
            <a:solidFill>
              <a:srgbClr val="111111"/>
            </a:solidFill>
            <a:prstDash val="solid"/>
          </a:ln>
        </p:spPr>
        <p:txBody>
          <a:bodyPr/>
          <a:lstStyle/>
          <a:p>
            <a:endParaRPr lang="en-US"/>
          </a:p>
        </p:txBody>
      </p:sp>
      <p:sp>
        <p:nvSpPr>
          <p:cNvPr id="28" name="Text 26"/>
          <p:cNvSpPr/>
          <p:nvPr/>
        </p:nvSpPr>
        <p:spPr>
          <a:xfrm>
            <a:off x="8096098" y="6446520"/>
            <a:ext cx="1828800" cy="256032"/>
          </a:xfrm>
          <a:prstGeom prst="rect">
            <a:avLst/>
          </a:prstGeom>
          <a:noFill/>
          <a:ln/>
        </p:spPr>
        <p:txBody>
          <a:bodyPr wrap="square" lIns="0" tIns="0" rIns="0" bIns="0" rtlCol="0" anchor="ctr"/>
          <a:lstStyle/>
          <a:p>
            <a:pPr marL="0" indent="0" algn="ctr">
              <a:buNone/>
            </a:pPr>
            <a:r>
              <a:rPr lang="en-US" sz="900" dirty="0">
                <a:solidFill>
                  <a:srgbClr val="111111"/>
                </a:solidFill>
                <a:latin typeface="Courier New" pitchFamily="34" charset="0"/>
                <a:ea typeface="Courier New" pitchFamily="34" charset="-122"/>
                <a:cs typeface="Courier New" pitchFamily="34" charset="-120"/>
              </a:rPr>
              <a:t>5 TWO AGENTS</a:t>
            </a:r>
            <a:endParaRPr lang="en-US" sz="900" dirty="0"/>
          </a:p>
        </p:txBody>
      </p:sp>
      <p:sp>
        <p:nvSpPr>
          <p:cNvPr id="29" name="Shape 27"/>
          <p:cNvSpPr/>
          <p:nvPr/>
        </p:nvSpPr>
        <p:spPr>
          <a:xfrm>
            <a:off x="10872216" y="6181344"/>
            <a:ext cx="164592" cy="164592"/>
          </a:xfrm>
          <a:prstGeom prst="rect">
            <a:avLst/>
          </a:prstGeom>
          <a:noFill/>
          <a:ln w="19050">
            <a:solidFill>
              <a:srgbClr val="111111"/>
            </a:solidFill>
            <a:prstDash val="solid"/>
          </a:ln>
        </p:spPr>
        <p:txBody>
          <a:bodyPr/>
          <a:lstStyle/>
          <a:p>
            <a:endParaRPr lang="en-US"/>
          </a:p>
        </p:txBody>
      </p:sp>
      <p:sp>
        <p:nvSpPr>
          <p:cNvPr id="30" name="Text 28"/>
          <p:cNvSpPr/>
          <p:nvPr/>
        </p:nvSpPr>
        <p:spPr>
          <a:xfrm>
            <a:off x="10040112" y="6446520"/>
            <a:ext cx="1828800" cy="256032"/>
          </a:xfrm>
          <a:prstGeom prst="rect">
            <a:avLst/>
          </a:prstGeom>
          <a:noFill/>
          <a:ln/>
        </p:spPr>
        <p:txBody>
          <a:bodyPr wrap="square" lIns="0" tIns="0" rIns="0" bIns="0" rtlCol="0" anchor="ctr"/>
          <a:lstStyle/>
          <a:p>
            <a:pPr marL="0" indent="0" algn="ctr">
              <a:buNone/>
            </a:pPr>
            <a:r>
              <a:rPr lang="en-US" sz="900" dirty="0">
                <a:solidFill>
                  <a:srgbClr val="111111"/>
                </a:solidFill>
                <a:latin typeface="Courier New" pitchFamily="34" charset="0"/>
                <a:ea typeface="Courier New" pitchFamily="34" charset="-122"/>
                <a:cs typeface="Courier New" pitchFamily="34" charset="-120"/>
              </a:rPr>
              <a:t>6 LOOPS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EFE9"/>
        </a:solidFill>
        <a:effectLst/>
      </p:bgPr>
    </p:bg>
    <p:spTree>
      <p:nvGrpSpPr>
        <p:cNvPr id="1" name=""/>
        <p:cNvGrpSpPr/>
        <p:nvPr/>
      </p:nvGrpSpPr>
      <p:grpSpPr>
        <a:xfrm>
          <a:off x="0" y="0"/>
          <a:ext cx="0" cy="0"/>
          <a:chOff x="0" y="0"/>
          <a:chExt cx="0" cy="0"/>
        </a:xfrm>
      </p:grpSpPr>
      <p:sp>
        <p:nvSpPr>
          <p:cNvPr id="2" name="Text 0"/>
          <p:cNvSpPr/>
          <p:nvPr/>
        </p:nvSpPr>
        <p:spPr>
          <a:xfrm>
            <a:off x="11430000" y="182880"/>
            <a:ext cx="594360" cy="274320"/>
          </a:xfrm>
          <a:prstGeom prst="rect">
            <a:avLst/>
          </a:prstGeom>
          <a:noFill/>
          <a:ln/>
        </p:spPr>
        <p:txBody>
          <a:bodyPr wrap="square" lIns="0" tIns="0" rIns="0" bIns="0" rtlCol="0" anchor="ctr"/>
          <a:lstStyle/>
          <a:p>
            <a:pPr marL="0" indent="0" algn="r">
              <a:buNone/>
            </a:pPr>
            <a:r>
              <a:rPr lang="en-US" sz="1000" dirty="0">
                <a:solidFill>
                  <a:srgbClr val="111111"/>
                </a:solidFill>
                <a:latin typeface="Courier New" pitchFamily="34" charset="0"/>
                <a:ea typeface="Courier New" pitchFamily="34" charset="-122"/>
                <a:cs typeface="Courier New" pitchFamily="34" charset="-120"/>
              </a:rPr>
              <a:t>04</a:t>
            </a:r>
            <a:endParaRPr lang="en-US" sz="1000" dirty="0"/>
          </a:p>
        </p:txBody>
      </p:sp>
      <p:sp>
        <p:nvSpPr>
          <p:cNvPr id="3" name="Text 1"/>
          <p:cNvSpPr/>
          <p:nvPr/>
        </p:nvSpPr>
        <p:spPr>
          <a:xfrm>
            <a:off x="566928" y="402336"/>
            <a:ext cx="2743200" cy="274320"/>
          </a:xfrm>
          <a:prstGeom prst="rect">
            <a:avLst/>
          </a:prstGeom>
          <a:noFill/>
          <a:ln/>
        </p:spPr>
        <p:txBody>
          <a:bodyPr wrap="square" lIns="0" tIns="0" rIns="0" bIns="0" rtlCol="0" anchor="ctr"/>
          <a:lstStyle/>
          <a:p>
            <a:pPr marL="0" indent="0" algn="l">
              <a:buNone/>
            </a:pPr>
            <a:r>
              <a:rPr lang="en-US" sz="1000" dirty="0">
                <a:solidFill>
                  <a:srgbClr val="111111"/>
                </a:solidFill>
                <a:latin typeface="Courier New" pitchFamily="34" charset="0"/>
                <a:ea typeface="Courier New" pitchFamily="34" charset="-122"/>
                <a:cs typeface="Courier New" pitchFamily="34" charset="-120"/>
              </a:rPr>
              <a:t>STEP 2 OF 6</a:t>
            </a:r>
            <a:endParaRPr lang="en-US" sz="1000" dirty="0"/>
          </a:p>
        </p:txBody>
      </p:sp>
      <p:sp>
        <p:nvSpPr>
          <p:cNvPr id="4" name="Text 2"/>
          <p:cNvSpPr/>
          <p:nvPr/>
        </p:nvSpPr>
        <p:spPr>
          <a:xfrm>
            <a:off x="548640" y="749808"/>
            <a:ext cx="6400800" cy="1051560"/>
          </a:xfrm>
          <a:prstGeom prst="rect">
            <a:avLst/>
          </a:prstGeom>
          <a:noFill/>
          <a:ln/>
        </p:spPr>
        <p:txBody>
          <a:bodyPr wrap="square" lIns="0" tIns="0" rIns="0" bIns="0" rtlCol="0" anchor="t"/>
          <a:lstStyle/>
          <a:p>
            <a:pPr marL="0" indent="0">
              <a:buNone/>
            </a:pPr>
            <a:r>
              <a:rPr lang="en-US" sz="4200" b="1" dirty="0">
                <a:solidFill>
                  <a:srgbClr val="111111"/>
                </a:solidFill>
                <a:latin typeface="Arial" pitchFamily="34" charset="0"/>
                <a:ea typeface="Arial" pitchFamily="34" charset="-122"/>
                <a:cs typeface="Arial" pitchFamily="34" charset="-120"/>
              </a:rPr>
              <a:t>COPILOT</a:t>
            </a:r>
            <a:endParaRPr lang="en-US" sz="4200" dirty="0"/>
          </a:p>
        </p:txBody>
      </p:sp>
      <p:sp>
        <p:nvSpPr>
          <p:cNvPr id="5" name="Text 3"/>
          <p:cNvSpPr/>
          <p:nvPr/>
        </p:nvSpPr>
        <p:spPr>
          <a:xfrm>
            <a:off x="566928" y="1901952"/>
            <a:ext cx="4572000" cy="274320"/>
          </a:xfrm>
          <a:prstGeom prst="rect">
            <a:avLst/>
          </a:prstGeom>
          <a:noFill/>
          <a:ln/>
        </p:spPr>
        <p:txBody>
          <a:bodyPr wrap="square" lIns="0" tIns="0" rIns="0" bIns="0" rtlCol="0" anchor="ctr"/>
          <a:lstStyle/>
          <a:p>
            <a:pPr marL="0" indent="0" algn="l">
              <a:buNone/>
            </a:pPr>
            <a:r>
              <a:rPr lang="en-US" sz="1200" b="1" dirty="0">
                <a:solidFill>
                  <a:srgbClr val="E1462C"/>
                </a:solidFill>
                <a:latin typeface="Courier New" pitchFamily="34" charset="0"/>
                <a:ea typeface="Courier New" pitchFamily="34" charset="-122"/>
                <a:cs typeface="Courier New" pitchFamily="34" charset="-120"/>
              </a:rPr>
              <a:t>2021</a:t>
            </a:r>
            <a:endParaRPr lang="en-US" sz="1200" dirty="0"/>
          </a:p>
        </p:txBody>
      </p:sp>
      <p:sp>
        <p:nvSpPr>
          <p:cNvPr id="6" name="Text 4"/>
          <p:cNvSpPr/>
          <p:nvPr/>
        </p:nvSpPr>
        <p:spPr>
          <a:xfrm>
            <a:off x="548640" y="2395728"/>
            <a:ext cx="6035040" cy="1463040"/>
          </a:xfrm>
          <a:prstGeom prst="rect">
            <a:avLst/>
          </a:prstGeom>
          <a:noFill/>
          <a:ln/>
        </p:spPr>
        <p:txBody>
          <a:bodyPr wrap="square" lIns="0" tIns="0" rIns="0" bIns="0" rtlCol="0" anchor="t"/>
          <a:lstStyle/>
          <a:p>
            <a:pPr marL="0" indent="0">
              <a:buNone/>
            </a:pPr>
            <a:r>
              <a:rPr lang="en-US" sz="2500" dirty="0">
                <a:solidFill>
                  <a:srgbClr val="111111"/>
                </a:solidFill>
                <a:latin typeface="Arial" pitchFamily="34" charset="0"/>
                <a:ea typeface="Arial" pitchFamily="34" charset="-122"/>
                <a:cs typeface="Arial" pitchFamily="34" charset="-120"/>
              </a:rPr>
              <a:t>You write a comment saying what you want. It writes the whole block.</a:t>
            </a:r>
            <a:endParaRPr lang="en-US" sz="2500" dirty="0"/>
          </a:p>
        </p:txBody>
      </p:sp>
      <p:sp>
        <p:nvSpPr>
          <p:cNvPr id="7" name="Shape 5"/>
          <p:cNvSpPr/>
          <p:nvPr/>
        </p:nvSpPr>
        <p:spPr>
          <a:xfrm>
            <a:off x="566928" y="4114800"/>
            <a:ext cx="2926080" cy="0"/>
          </a:xfrm>
          <a:prstGeom prst="line">
            <a:avLst/>
          </a:prstGeom>
          <a:noFill/>
          <a:ln w="19050">
            <a:solidFill>
              <a:srgbClr val="111111"/>
            </a:solidFill>
            <a:prstDash val="solid"/>
          </a:ln>
        </p:spPr>
        <p:txBody>
          <a:bodyPr/>
          <a:lstStyle/>
          <a:p>
            <a:endParaRPr lang="en-US"/>
          </a:p>
        </p:txBody>
      </p:sp>
      <p:sp>
        <p:nvSpPr>
          <p:cNvPr id="8" name="Text 6"/>
          <p:cNvSpPr/>
          <p:nvPr/>
        </p:nvSpPr>
        <p:spPr>
          <a:xfrm>
            <a:off x="566928" y="4279392"/>
            <a:ext cx="2743200" cy="274320"/>
          </a:xfrm>
          <a:prstGeom prst="rect">
            <a:avLst/>
          </a:prstGeom>
          <a:noFill/>
          <a:ln/>
        </p:spPr>
        <p:txBody>
          <a:bodyPr wrap="square" lIns="0" tIns="0" rIns="0" bIns="0" rtlCol="0" anchor="ctr"/>
          <a:lstStyle/>
          <a:p>
            <a:pPr marL="0" indent="0" algn="l">
              <a:buNone/>
            </a:pPr>
            <a:r>
              <a:rPr lang="en-US" sz="1000" b="1" dirty="0">
                <a:solidFill>
                  <a:srgbClr val="111111"/>
                </a:solidFill>
                <a:latin typeface="Courier New" pitchFamily="34" charset="0"/>
                <a:ea typeface="Courier New" pitchFamily="34" charset="-122"/>
                <a:cs typeface="Courier New" pitchFamily="34" charset="-120"/>
              </a:rPr>
              <a:t>THE PROBLEM</a:t>
            </a:r>
            <a:endParaRPr lang="en-US" sz="1000" dirty="0"/>
          </a:p>
        </p:txBody>
      </p:sp>
      <p:sp>
        <p:nvSpPr>
          <p:cNvPr id="9" name="Text 7"/>
          <p:cNvSpPr/>
          <p:nvPr/>
        </p:nvSpPr>
        <p:spPr>
          <a:xfrm>
            <a:off x="548640" y="4617720"/>
            <a:ext cx="6035040" cy="1097280"/>
          </a:xfrm>
          <a:prstGeom prst="rect">
            <a:avLst/>
          </a:prstGeom>
          <a:noFill/>
          <a:ln/>
        </p:spPr>
        <p:txBody>
          <a:bodyPr wrap="square" lIns="0" tIns="0" rIns="0" bIns="0" rtlCol="0" anchor="t"/>
          <a:lstStyle/>
          <a:p>
            <a:pPr marL="0" indent="0">
              <a:buNone/>
            </a:pPr>
            <a:r>
              <a:rPr lang="en-US" sz="1900" b="1" dirty="0">
                <a:solidFill>
                  <a:srgbClr val="E1462C"/>
                </a:solidFill>
                <a:latin typeface="Arial" pitchFamily="34" charset="0"/>
                <a:ea typeface="Arial" pitchFamily="34" charset="-122"/>
                <a:cs typeface="Arial" pitchFamily="34" charset="-120"/>
              </a:rPr>
              <a:t>It copied patterns. It could not reason about them.</a:t>
            </a:r>
            <a:endParaRPr lang="en-US" sz="1900" dirty="0"/>
          </a:p>
        </p:txBody>
      </p:sp>
      <p:sp>
        <p:nvSpPr>
          <p:cNvPr id="10" name="Shape 8"/>
          <p:cNvSpPr/>
          <p:nvPr/>
        </p:nvSpPr>
        <p:spPr>
          <a:xfrm>
            <a:off x="7178040" y="2377440"/>
            <a:ext cx="4526280" cy="566928"/>
          </a:xfrm>
          <a:prstGeom prst="rect">
            <a:avLst/>
          </a:prstGeom>
          <a:solidFill>
            <a:srgbClr val="F5C518"/>
          </a:solidFill>
          <a:ln w="22225">
            <a:solidFill>
              <a:srgbClr val="111111"/>
            </a:solidFill>
            <a:prstDash val="solid"/>
          </a:ln>
        </p:spPr>
        <p:txBody>
          <a:bodyPr/>
          <a:lstStyle/>
          <a:p>
            <a:endParaRPr lang="en-US"/>
          </a:p>
        </p:txBody>
      </p:sp>
      <p:sp>
        <p:nvSpPr>
          <p:cNvPr id="11" name="Text 9"/>
          <p:cNvSpPr/>
          <p:nvPr/>
        </p:nvSpPr>
        <p:spPr>
          <a:xfrm>
            <a:off x="7360920" y="2377440"/>
            <a:ext cx="4206240" cy="566928"/>
          </a:xfrm>
          <a:prstGeom prst="rect">
            <a:avLst/>
          </a:prstGeom>
          <a:noFill/>
          <a:ln/>
        </p:spPr>
        <p:txBody>
          <a:bodyPr wrap="square" lIns="0" tIns="0" rIns="0" bIns="0" rtlCol="0" anchor="ctr"/>
          <a:lstStyle/>
          <a:p>
            <a:pPr marL="0" indent="0">
              <a:buNone/>
            </a:pPr>
            <a:r>
              <a:rPr lang="en-US" sz="1400" dirty="0">
                <a:solidFill>
                  <a:srgbClr val="111111"/>
                </a:solidFill>
                <a:latin typeface="Courier New" pitchFamily="34" charset="0"/>
                <a:ea typeface="Courier New" pitchFamily="34" charset="-122"/>
                <a:cs typeface="Courier New" pitchFamily="34" charset="-120"/>
              </a:rPr>
              <a:t>// make a login form</a:t>
            </a:r>
            <a:endParaRPr lang="en-US" sz="1400" dirty="0"/>
          </a:p>
        </p:txBody>
      </p:sp>
      <p:sp>
        <p:nvSpPr>
          <p:cNvPr id="12" name="Shape 10"/>
          <p:cNvSpPr/>
          <p:nvPr/>
        </p:nvSpPr>
        <p:spPr>
          <a:xfrm>
            <a:off x="9436608" y="2944368"/>
            <a:ext cx="0" cy="365760"/>
          </a:xfrm>
          <a:prstGeom prst="line">
            <a:avLst/>
          </a:prstGeom>
          <a:noFill/>
          <a:ln w="22225">
            <a:solidFill>
              <a:srgbClr val="111111"/>
            </a:solidFill>
            <a:prstDash val="solid"/>
            <a:tailEnd type="triangle"/>
          </a:ln>
        </p:spPr>
        <p:txBody>
          <a:bodyPr/>
          <a:lstStyle/>
          <a:p>
            <a:endParaRPr lang="en-US"/>
          </a:p>
        </p:txBody>
      </p:sp>
      <p:sp>
        <p:nvSpPr>
          <p:cNvPr id="13" name="Shape 11"/>
          <p:cNvSpPr/>
          <p:nvPr/>
        </p:nvSpPr>
        <p:spPr>
          <a:xfrm>
            <a:off x="7178040" y="3310128"/>
            <a:ext cx="4526280" cy="1143000"/>
          </a:xfrm>
          <a:prstGeom prst="rect">
            <a:avLst/>
          </a:prstGeom>
          <a:solidFill>
            <a:srgbClr val="1B3FA0"/>
          </a:solidFill>
          <a:ln w="22225">
            <a:solidFill>
              <a:srgbClr val="111111"/>
            </a:solidFill>
            <a:prstDash val="solid"/>
          </a:ln>
        </p:spPr>
        <p:txBody>
          <a:bodyPr/>
          <a:lstStyle/>
          <a:p>
            <a:endParaRPr lang="en-US"/>
          </a:p>
        </p:txBody>
      </p:sp>
      <p:sp>
        <p:nvSpPr>
          <p:cNvPr id="14" name="Text 12"/>
          <p:cNvSpPr/>
          <p:nvPr/>
        </p:nvSpPr>
        <p:spPr>
          <a:xfrm>
            <a:off x="7178040" y="3310128"/>
            <a:ext cx="4526280" cy="1143000"/>
          </a:xfrm>
          <a:prstGeom prst="rect">
            <a:avLst/>
          </a:prstGeom>
          <a:noFill/>
          <a:ln/>
        </p:spPr>
        <p:txBody>
          <a:bodyPr wrap="square" lIns="508" tIns="508" rIns="508" bIns="508" rtlCol="0" anchor="ctr"/>
          <a:lstStyle/>
          <a:p>
            <a:pPr marL="0" indent="0" algn="ctr">
              <a:buNone/>
            </a:pPr>
            <a:r>
              <a:rPr lang="en-US" sz="1500" b="1" dirty="0">
                <a:solidFill>
                  <a:srgbClr val="F2EFE9"/>
                </a:solidFill>
                <a:latin typeface="Arial" pitchFamily="34" charset="0"/>
                <a:ea typeface="Arial" pitchFamily="34" charset="-122"/>
                <a:cs typeface="Arial" pitchFamily="34" charset="-120"/>
              </a:rPr>
              <a:t>THE AI WRITES</a:t>
            </a:r>
            <a:endParaRPr lang="en-US" sz="1500" dirty="0"/>
          </a:p>
          <a:p>
            <a:pPr marL="0" indent="0" algn="ctr">
              <a:buNone/>
            </a:pPr>
            <a:r>
              <a:rPr lang="en-US" sz="1500" b="1" dirty="0">
                <a:solidFill>
                  <a:srgbClr val="F2EFE9"/>
                </a:solidFill>
                <a:latin typeface="Arial" pitchFamily="34" charset="0"/>
                <a:ea typeface="Arial" pitchFamily="34" charset="-122"/>
                <a:cs typeface="Arial" pitchFamily="34" charset="-120"/>
              </a:rPr>
              <a:t>THE WHOLE BLOCK</a:t>
            </a:r>
            <a:endParaRPr lang="en-US" sz="1500" dirty="0"/>
          </a:p>
        </p:txBody>
      </p:sp>
      <p:sp>
        <p:nvSpPr>
          <p:cNvPr id="15" name="Text 13"/>
          <p:cNvSpPr/>
          <p:nvPr/>
        </p:nvSpPr>
        <p:spPr>
          <a:xfrm>
            <a:off x="7178040" y="4800600"/>
            <a:ext cx="4572000" cy="274320"/>
          </a:xfrm>
          <a:prstGeom prst="rect">
            <a:avLst/>
          </a:prstGeom>
          <a:noFill/>
          <a:ln/>
        </p:spPr>
        <p:txBody>
          <a:bodyPr wrap="square" lIns="0" tIns="0" rIns="0" bIns="0" rtlCol="0" anchor="ctr"/>
          <a:lstStyle/>
          <a:p>
            <a:pPr marL="0" indent="0" algn="l">
              <a:buNone/>
            </a:pPr>
            <a:r>
              <a:rPr lang="en-US" sz="1100" b="1" dirty="0">
                <a:solidFill>
                  <a:srgbClr val="111111"/>
                </a:solidFill>
                <a:latin typeface="Courier New" pitchFamily="34" charset="0"/>
                <a:ea typeface="Courier New" pitchFamily="34" charset="-122"/>
                <a:cs typeface="Courier New" pitchFamily="34" charset="-120"/>
              </a:rPr>
              <a:t>WHO CHECKS THE WORK?  YOU</a:t>
            </a:r>
            <a:endParaRPr lang="en-US" sz="1100" dirty="0"/>
          </a:p>
        </p:txBody>
      </p:sp>
      <p:sp>
        <p:nvSpPr>
          <p:cNvPr id="16" name="Shape 14"/>
          <p:cNvSpPr/>
          <p:nvPr/>
        </p:nvSpPr>
        <p:spPr>
          <a:xfrm>
            <a:off x="1234440" y="6263640"/>
            <a:ext cx="9720072" cy="0"/>
          </a:xfrm>
          <a:prstGeom prst="line">
            <a:avLst/>
          </a:prstGeom>
          <a:noFill/>
          <a:ln w="19050">
            <a:solidFill>
              <a:srgbClr val="111111"/>
            </a:solidFill>
            <a:prstDash val="solid"/>
          </a:ln>
        </p:spPr>
        <p:txBody>
          <a:bodyPr/>
          <a:lstStyle/>
          <a:p>
            <a:endParaRPr lang="en-US"/>
          </a:p>
        </p:txBody>
      </p:sp>
      <p:sp>
        <p:nvSpPr>
          <p:cNvPr id="17" name="Shape 15"/>
          <p:cNvSpPr/>
          <p:nvPr/>
        </p:nvSpPr>
        <p:spPr>
          <a:xfrm>
            <a:off x="1152144" y="6181344"/>
            <a:ext cx="164592" cy="164592"/>
          </a:xfrm>
          <a:prstGeom prst="rect">
            <a:avLst/>
          </a:prstGeom>
          <a:solidFill>
            <a:srgbClr val="111111"/>
          </a:solidFill>
          <a:ln w="19050">
            <a:solidFill>
              <a:srgbClr val="111111"/>
            </a:solidFill>
            <a:prstDash val="solid"/>
          </a:ln>
        </p:spPr>
        <p:txBody>
          <a:bodyPr/>
          <a:lstStyle/>
          <a:p>
            <a:endParaRPr lang="en-US"/>
          </a:p>
        </p:txBody>
      </p:sp>
      <p:sp>
        <p:nvSpPr>
          <p:cNvPr id="18" name="Text 16"/>
          <p:cNvSpPr/>
          <p:nvPr/>
        </p:nvSpPr>
        <p:spPr>
          <a:xfrm>
            <a:off x="320040" y="6446520"/>
            <a:ext cx="1828800" cy="256032"/>
          </a:xfrm>
          <a:prstGeom prst="rect">
            <a:avLst/>
          </a:prstGeom>
          <a:noFill/>
          <a:ln/>
        </p:spPr>
        <p:txBody>
          <a:bodyPr wrap="square" lIns="0" tIns="0" rIns="0" bIns="0" rtlCol="0" anchor="ctr"/>
          <a:lstStyle/>
          <a:p>
            <a:pPr marL="0" indent="0" algn="ctr">
              <a:buNone/>
            </a:pPr>
            <a:r>
              <a:rPr lang="en-US" sz="900" dirty="0">
                <a:solidFill>
                  <a:srgbClr val="111111"/>
                </a:solidFill>
                <a:latin typeface="Courier New" pitchFamily="34" charset="0"/>
                <a:ea typeface="Courier New" pitchFamily="34" charset="-122"/>
                <a:cs typeface="Courier New" pitchFamily="34" charset="-120"/>
              </a:rPr>
              <a:t>1 AUTOCOMPLETE</a:t>
            </a:r>
            <a:endParaRPr lang="en-US" sz="900" dirty="0"/>
          </a:p>
        </p:txBody>
      </p:sp>
      <p:sp>
        <p:nvSpPr>
          <p:cNvPr id="19" name="Shape 17"/>
          <p:cNvSpPr/>
          <p:nvPr/>
        </p:nvSpPr>
        <p:spPr>
          <a:xfrm>
            <a:off x="3041294" y="6126480"/>
            <a:ext cx="274320" cy="274320"/>
          </a:xfrm>
          <a:prstGeom prst="rect">
            <a:avLst/>
          </a:prstGeom>
          <a:solidFill>
            <a:srgbClr val="E1462C"/>
          </a:solidFill>
          <a:ln w="19050">
            <a:solidFill>
              <a:srgbClr val="111111"/>
            </a:solidFill>
            <a:prstDash val="solid"/>
          </a:ln>
        </p:spPr>
        <p:txBody>
          <a:bodyPr/>
          <a:lstStyle/>
          <a:p>
            <a:endParaRPr lang="en-US"/>
          </a:p>
        </p:txBody>
      </p:sp>
      <p:sp>
        <p:nvSpPr>
          <p:cNvPr id="20" name="Text 18"/>
          <p:cNvSpPr/>
          <p:nvPr/>
        </p:nvSpPr>
        <p:spPr>
          <a:xfrm>
            <a:off x="2264054" y="6446520"/>
            <a:ext cx="1828800" cy="256032"/>
          </a:xfrm>
          <a:prstGeom prst="rect">
            <a:avLst/>
          </a:prstGeom>
          <a:noFill/>
          <a:ln/>
        </p:spPr>
        <p:txBody>
          <a:bodyPr wrap="square" lIns="0" tIns="0" rIns="0" bIns="0" rtlCol="0" anchor="ctr"/>
          <a:lstStyle/>
          <a:p>
            <a:pPr marL="0" indent="0" algn="ctr">
              <a:buNone/>
            </a:pPr>
            <a:r>
              <a:rPr lang="en-US" sz="900" b="1" dirty="0">
                <a:solidFill>
                  <a:srgbClr val="111111"/>
                </a:solidFill>
                <a:latin typeface="Courier New" pitchFamily="34" charset="0"/>
                <a:ea typeface="Courier New" pitchFamily="34" charset="-122"/>
                <a:cs typeface="Courier New" pitchFamily="34" charset="-120"/>
              </a:rPr>
              <a:t>2 COPILOT</a:t>
            </a:r>
            <a:endParaRPr lang="en-US" sz="900" dirty="0"/>
          </a:p>
        </p:txBody>
      </p:sp>
      <p:sp>
        <p:nvSpPr>
          <p:cNvPr id="21" name="Shape 19"/>
          <p:cNvSpPr/>
          <p:nvPr/>
        </p:nvSpPr>
        <p:spPr>
          <a:xfrm>
            <a:off x="5040173" y="6181344"/>
            <a:ext cx="164592" cy="164592"/>
          </a:xfrm>
          <a:prstGeom prst="rect">
            <a:avLst/>
          </a:prstGeom>
          <a:noFill/>
          <a:ln w="19050">
            <a:solidFill>
              <a:srgbClr val="111111"/>
            </a:solidFill>
            <a:prstDash val="solid"/>
          </a:ln>
        </p:spPr>
        <p:txBody>
          <a:bodyPr/>
          <a:lstStyle/>
          <a:p>
            <a:endParaRPr lang="en-US"/>
          </a:p>
        </p:txBody>
      </p:sp>
      <p:sp>
        <p:nvSpPr>
          <p:cNvPr id="22" name="Text 20"/>
          <p:cNvSpPr/>
          <p:nvPr/>
        </p:nvSpPr>
        <p:spPr>
          <a:xfrm>
            <a:off x="4208069" y="6446520"/>
            <a:ext cx="1828800" cy="256032"/>
          </a:xfrm>
          <a:prstGeom prst="rect">
            <a:avLst/>
          </a:prstGeom>
          <a:noFill/>
          <a:ln/>
        </p:spPr>
        <p:txBody>
          <a:bodyPr wrap="square" lIns="0" tIns="0" rIns="0" bIns="0" rtlCol="0" anchor="ctr"/>
          <a:lstStyle/>
          <a:p>
            <a:pPr marL="0" indent="0" algn="ctr">
              <a:buNone/>
            </a:pPr>
            <a:r>
              <a:rPr lang="en-US" sz="900" dirty="0">
                <a:solidFill>
                  <a:srgbClr val="111111"/>
                </a:solidFill>
                <a:latin typeface="Courier New" pitchFamily="34" charset="0"/>
                <a:ea typeface="Courier New" pitchFamily="34" charset="-122"/>
                <a:cs typeface="Courier New" pitchFamily="34" charset="-120"/>
              </a:rPr>
              <a:t>3 CHAT</a:t>
            </a:r>
            <a:endParaRPr lang="en-US" sz="900" dirty="0"/>
          </a:p>
        </p:txBody>
      </p:sp>
      <p:sp>
        <p:nvSpPr>
          <p:cNvPr id="23" name="Shape 21"/>
          <p:cNvSpPr/>
          <p:nvPr/>
        </p:nvSpPr>
        <p:spPr>
          <a:xfrm>
            <a:off x="6984187" y="6181344"/>
            <a:ext cx="164592" cy="164592"/>
          </a:xfrm>
          <a:prstGeom prst="rect">
            <a:avLst/>
          </a:prstGeom>
          <a:noFill/>
          <a:ln w="19050">
            <a:solidFill>
              <a:srgbClr val="111111"/>
            </a:solidFill>
            <a:prstDash val="solid"/>
          </a:ln>
        </p:spPr>
        <p:txBody>
          <a:bodyPr/>
          <a:lstStyle/>
          <a:p>
            <a:endParaRPr lang="en-US"/>
          </a:p>
        </p:txBody>
      </p:sp>
      <p:sp>
        <p:nvSpPr>
          <p:cNvPr id="24" name="Text 22"/>
          <p:cNvSpPr/>
          <p:nvPr/>
        </p:nvSpPr>
        <p:spPr>
          <a:xfrm>
            <a:off x="6152083" y="6446520"/>
            <a:ext cx="1828800" cy="256032"/>
          </a:xfrm>
          <a:prstGeom prst="rect">
            <a:avLst/>
          </a:prstGeom>
          <a:noFill/>
          <a:ln/>
        </p:spPr>
        <p:txBody>
          <a:bodyPr wrap="square" lIns="0" tIns="0" rIns="0" bIns="0" rtlCol="0" anchor="ctr"/>
          <a:lstStyle/>
          <a:p>
            <a:pPr marL="0" indent="0" algn="ctr">
              <a:buNone/>
            </a:pPr>
            <a:r>
              <a:rPr lang="en-US" sz="900" dirty="0">
                <a:solidFill>
                  <a:srgbClr val="111111"/>
                </a:solidFill>
                <a:latin typeface="Courier New" pitchFamily="34" charset="0"/>
                <a:ea typeface="Courier New" pitchFamily="34" charset="-122"/>
                <a:cs typeface="Courier New" pitchFamily="34" charset="-120"/>
              </a:rPr>
              <a:t>4 VIBE CODING</a:t>
            </a:r>
            <a:endParaRPr lang="en-US" sz="900" dirty="0"/>
          </a:p>
        </p:txBody>
      </p:sp>
      <p:sp>
        <p:nvSpPr>
          <p:cNvPr id="25" name="Shape 23"/>
          <p:cNvSpPr/>
          <p:nvPr/>
        </p:nvSpPr>
        <p:spPr>
          <a:xfrm>
            <a:off x="8928202" y="6181344"/>
            <a:ext cx="164592" cy="164592"/>
          </a:xfrm>
          <a:prstGeom prst="rect">
            <a:avLst/>
          </a:prstGeom>
          <a:noFill/>
          <a:ln w="19050">
            <a:solidFill>
              <a:srgbClr val="111111"/>
            </a:solidFill>
            <a:prstDash val="solid"/>
          </a:ln>
        </p:spPr>
        <p:txBody>
          <a:bodyPr/>
          <a:lstStyle/>
          <a:p>
            <a:endParaRPr lang="en-US"/>
          </a:p>
        </p:txBody>
      </p:sp>
      <p:sp>
        <p:nvSpPr>
          <p:cNvPr id="26" name="Text 24"/>
          <p:cNvSpPr/>
          <p:nvPr/>
        </p:nvSpPr>
        <p:spPr>
          <a:xfrm>
            <a:off x="8096098" y="6446520"/>
            <a:ext cx="1828800" cy="256032"/>
          </a:xfrm>
          <a:prstGeom prst="rect">
            <a:avLst/>
          </a:prstGeom>
          <a:noFill/>
          <a:ln/>
        </p:spPr>
        <p:txBody>
          <a:bodyPr wrap="square" lIns="0" tIns="0" rIns="0" bIns="0" rtlCol="0" anchor="ctr"/>
          <a:lstStyle/>
          <a:p>
            <a:pPr marL="0" indent="0" algn="ctr">
              <a:buNone/>
            </a:pPr>
            <a:r>
              <a:rPr lang="en-US" sz="900" dirty="0">
                <a:solidFill>
                  <a:srgbClr val="111111"/>
                </a:solidFill>
                <a:latin typeface="Courier New" pitchFamily="34" charset="0"/>
                <a:ea typeface="Courier New" pitchFamily="34" charset="-122"/>
                <a:cs typeface="Courier New" pitchFamily="34" charset="-120"/>
              </a:rPr>
              <a:t>5 TWO AGENTS</a:t>
            </a:r>
            <a:endParaRPr lang="en-US" sz="900" dirty="0"/>
          </a:p>
        </p:txBody>
      </p:sp>
      <p:sp>
        <p:nvSpPr>
          <p:cNvPr id="27" name="Shape 25"/>
          <p:cNvSpPr/>
          <p:nvPr/>
        </p:nvSpPr>
        <p:spPr>
          <a:xfrm>
            <a:off x="10872216" y="6181344"/>
            <a:ext cx="164592" cy="164592"/>
          </a:xfrm>
          <a:prstGeom prst="rect">
            <a:avLst/>
          </a:prstGeom>
          <a:noFill/>
          <a:ln w="19050">
            <a:solidFill>
              <a:srgbClr val="111111"/>
            </a:solidFill>
            <a:prstDash val="solid"/>
          </a:ln>
        </p:spPr>
        <p:txBody>
          <a:bodyPr/>
          <a:lstStyle/>
          <a:p>
            <a:endParaRPr lang="en-US"/>
          </a:p>
        </p:txBody>
      </p:sp>
      <p:sp>
        <p:nvSpPr>
          <p:cNvPr id="28" name="Text 26"/>
          <p:cNvSpPr/>
          <p:nvPr/>
        </p:nvSpPr>
        <p:spPr>
          <a:xfrm>
            <a:off x="10040112" y="6446520"/>
            <a:ext cx="1828800" cy="256032"/>
          </a:xfrm>
          <a:prstGeom prst="rect">
            <a:avLst/>
          </a:prstGeom>
          <a:noFill/>
          <a:ln/>
        </p:spPr>
        <p:txBody>
          <a:bodyPr wrap="square" lIns="0" tIns="0" rIns="0" bIns="0" rtlCol="0" anchor="ctr"/>
          <a:lstStyle/>
          <a:p>
            <a:pPr marL="0" indent="0" algn="ctr">
              <a:buNone/>
            </a:pPr>
            <a:r>
              <a:rPr lang="en-US" sz="900" dirty="0">
                <a:solidFill>
                  <a:srgbClr val="111111"/>
                </a:solidFill>
                <a:latin typeface="Courier New" pitchFamily="34" charset="0"/>
                <a:ea typeface="Courier New" pitchFamily="34" charset="-122"/>
                <a:cs typeface="Courier New" pitchFamily="34" charset="-120"/>
              </a:rPr>
              <a:t>6 LOOPS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EFE9"/>
        </a:solidFill>
        <a:effectLst/>
      </p:bgPr>
    </p:bg>
    <p:spTree>
      <p:nvGrpSpPr>
        <p:cNvPr id="1" name=""/>
        <p:cNvGrpSpPr/>
        <p:nvPr/>
      </p:nvGrpSpPr>
      <p:grpSpPr>
        <a:xfrm>
          <a:off x="0" y="0"/>
          <a:ext cx="0" cy="0"/>
          <a:chOff x="0" y="0"/>
          <a:chExt cx="0" cy="0"/>
        </a:xfrm>
      </p:grpSpPr>
      <p:sp>
        <p:nvSpPr>
          <p:cNvPr id="2" name="Text 0"/>
          <p:cNvSpPr/>
          <p:nvPr/>
        </p:nvSpPr>
        <p:spPr>
          <a:xfrm>
            <a:off x="11430000" y="182880"/>
            <a:ext cx="594360" cy="274320"/>
          </a:xfrm>
          <a:prstGeom prst="rect">
            <a:avLst/>
          </a:prstGeom>
          <a:noFill/>
          <a:ln/>
        </p:spPr>
        <p:txBody>
          <a:bodyPr wrap="square" lIns="0" tIns="0" rIns="0" bIns="0" rtlCol="0" anchor="ctr"/>
          <a:lstStyle/>
          <a:p>
            <a:pPr marL="0" indent="0" algn="r">
              <a:buNone/>
            </a:pPr>
            <a:r>
              <a:rPr lang="en-US" sz="1000" dirty="0">
                <a:solidFill>
                  <a:srgbClr val="111111"/>
                </a:solidFill>
                <a:latin typeface="Courier New" pitchFamily="34" charset="0"/>
                <a:ea typeface="Courier New" pitchFamily="34" charset="-122"/>
                <a:cs typeface="Courier New" pitchFamily="34" charset="-120"/>
              </a:rPr>
              <a:t>05</a:t>
            </a:r>
            <a:endParaRPr lang="en-US" sz="1000" dirty="0"/>
          </a:p>
        </p:txBody>
      </p:sp>
      <p:sp>
        <p:nvSpPr>
          <p:cNvPr id="3" name="Text 1"/>
          <p:cNvSpPr/>
          <p:nvPr/>
        </p:nvSpPr>
        <p:spPr>
          <a:xfrm>
            <a:off x="566928" y="402336"/>
            <a:ext cx="2743200" cy="274320"/>
          </a:xfrm>
          <a:prstGeom prst="rect">
            <a:avLst/>
          </a:prstGeom>
          <a:noFill/>
          <a:ln/>
        </p:spPr>
        <p:txBody>
          <a:bodyPr wrap="square" lIns="0" tIns="0" rIns="0" bIns="0" rtlCol="0" anchor="ctr"/>
          <a:lstStyle/>
          <a:p>
            <a:pPr marL="0" indent="0" algn="l">
              <a:buNone/>
            </a:pPr>
            <a:r>
              <a:rPr lang="en-US" sz="1000" dirty="0">
                <a:solidFill>
                  <a:srgbClr val="111111"/>
                </a:solidFill>
                <a:latin typeface="Courier New" pitchFamily="34" charset="0"/>
                <a:ea typeface="Courier New" pitchFamily="34" charset="-122"/>
                <a:cs typeface="Courier New" pitchFamily="34" charset="-120"/>
              </a:rPr>
              <a:t>STEP 3 OF 6</a:t>
            </a:r>
            <a:endParaRPr lang="en-US" sz="1000" dirty="0"/>
          </a:p>
        </p:txBody>
      </p:sp>
      <p:sp>
        <p:nvSpPr>
          <p:cNvPr id="4" name="Text 2"/>
          <p:cNvSpPr/>
          <p:nvPr/>
        </p:nvSpPr>
        <p:spPr>
          <a:xfrm>
            <a:off x="548640" y="749808"/>
            <a:ext cx="6400800" cy="1051560"/>
          </a:xfrm>
          <a:prstGeom prst="rect">
            <a:avLst/>
          </a:prstGeom>
          <a:noFill/>
          <a:ln/>
        </p:spPr>
        <p:txBody>
          <a:bodyPr wrap="square" lIns="0" tIns="0" rIns="0" bIns="0" rtlCol="0" anchor="t"/>
          <a:lstStyle/>
          <a:p>
            <a:pPr marL="0" indent="0">
              <a:buNone/>
            </a:pPr>
            <a:r>
              <a:rPr lang="en-US" sz="4200" b="1" dirty="0">
                <a:solidFill>
                  <a:srgbClr val="111111"/>
                </a:solidFill>
                <a:latin typeface="Arial" pitchFamily="34" charset="0"/>
                <a:ea typeface="Arial" pitchFamily="34" charset="-122"/>
                <a:cs typeface="Arial" pitchFamily="34" charset="-120"/>
              </a:rPr>
              <a:t>CHAT CODING</a:t>
            </a:r>
            <a:endParaRPr lang="en-US" sz="4200" dirty="0"/>
          </a:p>
        </p:txBody>
      </p:sp>
      <p:sp>
        <p:nvSpPr>
          <p:cNvPr id="5" name="Text 3"/>
          <p:cNvSpPr/>
          <p:nvPr/>
        </p:nvSpPr>
        <p:spPr>
          <a:xfrm>
            <a:off x="566928" y="1901952"/>
            <a:ext cx="4572000" cy="274320"/>
          </a:xfrm>
          <a:prstGeom prst="rect">
            <a:avLst/>
          </a:prstGeom>
          <a:noFill/>
          <a:ln/>
        </p:spPr>
        <p:txBody>
          <a:bodyPr wrap="square" lIns="0" tIns="0" rIns="0" bIns="0" rtlCol="0" anchor="ctr"/>
          <a:lstStyle/>
          <a:p>
            <a:pPr marL="0" indent="0" algn="l">
              <a:buNone/>
            </a:pPr>
            <a:r>
              <a:rPr lang="en-US" sz="1200" b="1" dirty="0">
                <a:solidFill>
                  <a:srgbClr val="E1462C"/>
                </a:solidFill>
                <a:latin typeface="Courier New" pitchFamily="34" charset="0"/>
                <a:ea typeface="Courier New" pitchFamily="34" charset="-122"/>
                <a:cs typeface="Courier New" pitchFamily="34" charset="-120"/>
              </a:rPr>
              <a:t>2022  ·  CHATGPT</a:t>
            </a:r>
            <a:endParaRPr lang="en-US" sz="1200" dirty="0"/>
          </a:p>
        </p:txBody>
      </p:sp>
      <p:sp>
        <p:nvSpPr>
          <p:cNvPr id="6" name="Text 4"/>
          <p:cNvSpPr/>
          <p:nvPr/>
        </p:nvSpPr>
        <p:spPr>
          <a:xfrm>
            <a:off x="548640" y="2395728"/>
            <a:ext cx="6035040" cy="1463040"/>
          </a:xfrm>
          <a:prstGeom prst="rect">
            <a:avLst/>
          </a:prstGeom>
          <a:noFill/>
          <a:ln/>
        </p:spPr>
        <p:txBody>
          <a:bodyPr wrap="square" lIns="0" tIns="0" rIns="0" bIns="0" rtlCol="0" anchor="t"/>
          <a:lstStyle/>
          <a:p>
            <a:pPr marL="0" indent="0">
              <a:buNone/>
            </a:pPr>
            <a:r>
              <a:rPr lang="en-US" sz="2500" dirty="0">
                <a:solidFill>
                  <a:srgbClr val="111111"/>
                </a:solidFill>
                <a:latin typeface="Arial" pitchFamily="34" charset="0"/>
                <a:ea typeface="Arial" pitchFamily="34" charset="-122"/>
                <a:cs typeface="Arial" pitchFamily="34" charset="-120"/>
              </a:rPr>
              <a:t>You describe the problem in a chat window and paste the answer back into your editor.</a:t>
            </a:r>
            <a:endParaRPr lang="en-US" sz="2500" dirty="0"/>
          </a:p>
        </p:txBody>
      </p:sp>
      <p:sp>
        <p:nvSpPr>
          <p:cNvPr id="7" name="Shape 5"/>
          <p:cNvSpPr/>
          <p:nvPr/>
        </p:nvSpPr>
        <p:spPr>
          <a:xfrm>
            <a:off x="566928" y="4114800"/>
            <a:ext cx="2926080" cy="0"/>
          </a:xfrm>
          <a:prstGeom prst="line">
            <a:avLst/>
          </a:prstGeom>
          <a:noFill/>
          <a:ln w="19050">
            <a:solidFill>
              <a:srgbClr val="111111"/>
            </a:solidFill>
            <a:prstDash val="solid"/>
          </a:ln>
        </p:spPr>
        <p:txBody>
          <a:bodyPr/>
          <a:lstStyle/>
          <a:p>
            <a:endParaRPr lang="en-US"/>
          </a:p>
        </p:txBody>
      </p:sp>
      <p:sp>
        <p:nvSpPr>
          <p:cNvPr id="8" name="Text 6"/>
          <p:cNvSpPr/>
          <p:nvPr/>
        </p:nvSpPr>
        <p:spPr>
          <a:xfrm>
            <a:off x="566928" y="4279392"/>
            <a:ext cx="2743200" cy="274320"/>
          </a:xfrm>
          <a:prstGeom prst="rect">
            <a:avLst/>
          </a:prstGeom>
          <a:noFill/>
          <a:ln/>
        </p:spPr>
        <p:txBody>
          <a:bodyPr wrap="square" lIns="0" tIns="0" rIns="0" bIns="0" rtlCol="0" anchor="ctr"/>
          <a:lstStyle/>
          <a:p>
            <a:pPr marL="0" indent="0" algn="l">
              <a:buNone/>
            </a:pPr>
            <a:r>
              <a:rPr lang="en-US" sz="1000" b="1" dirty="0">
                <a:solidFill>
                  <a:srgbClr val="111111"/>
                </a:solidFill>
                <a:latin typeface="Courier New" pitchFamily="34" charset="0"/>
                <a:ea typeface="Courier New" pitchFamily="34" charset="-122"/>
                <a:cs typeface="Courier New" pitchFamily="34" charset="-120"/>
              </a:rPr>
              <a:t>THE PROBLEM</a:t>
            </a:r>
            <a:endParaRPr lang="en-US" sz="1000" dirty="0"/>
          </a:p>
        </p:txBody>
      </p:sp>
      <p:sp>
        <p:nvSpPr>
          <p:cNvPr id="9" name="Text 7"/>
          <p:cNvSpPr/>
          <p:nvPr/>
        </p:nvSpPr>
        <p:spPr>
          <a:xfrm>
            <a:off x="548640" y="4617720"/>
            <a:ext cx="6035040" cy="1097280"/>
          </a:xfrm>
          <a:prstGeom prst="rect">
            <a:avLst/>
          </a:prstGeom>
          <a:noFill/>
          <a:ln/>
        </p:spPr>
        <p:txBody>
          <a:bodyPr wrap="square" lIns="0" tIns="0" rIns="0" bIns="0" rtlCol="0" anchor="t"/>
          <a:lstStyle/>
          <a:p>
            <a:pPr marL="0" indent="0">
              <a:buNone/>
            </a:pPr>
            <a:r>
              <a:rPr lang="en-US" sz="1900" b="1" dirty="0">
                <a:solidFill>
                  <a:srgbClr val="E1462C"/>
                </a:solidFill>
                <a:latin typeface="Arial" pitchFamily="34" charset="0"/>
                <a:ea typeface="Arial" pitchFamily="34" charset="-122"/>
                <a:cs typeface="Arial" pitchFamily="34" charset="-120"/>
              </a:rPr>
              <a:t>The AI never saw your actual project. You were the wire.</a:t>
            </a:r>
            <a:endParaRPr lang="en-US" sz="1900" dirty="0"/>
          </a:p>
        </p:txBody>
      </p:sp>
      <p:sp>
        <p:nvSpPr>
          <p:cNvPr id="10" name="Shape 8"/>
          <p:cNvSpPr/>
          <p:nvPr/>
        </p:nvSpPr>
        <p:spPr>
          <a:xfrm>
            <a:off x="7178040" y="2286000"/>
            <a:ext cx="1828800" cy="777240"/>
          </a:xfrm>
          <a:prstGeom prst="rect">
            <a:avLst/>
          </a:prstGeom>
          <a:noFill/>
          <a:ln w="22225">
            <a:solidFill>
              <a:srgbClr val="111111"/>
            </a:solidFill>
            <a:prstDash val="solid"/>
          </a:ln>
        </p:spPr>
        <p:txBody>
          <a:bodyPr/>
          <a:lstStyle/>
          <a:p>
            <a:endParaRPr lang="en-US"/>
          </a:p>
        </p:txBody>
      </p:sp>
      <p:sp>
        <p:nvSpPr>
          <p:cNvPr id="11" name="Text 9"/>
          <p:cNvSpPr/>
          <p:nvPr/>
        </p:nvSpPr>
        <p:spPr>
          <a:xfrm>
            <a:off x="7178040" y="2286000"/>
            <a:ext cx="1828800" cy="777240"/>
          </a:xfrm>
          <a:prstGeom prst="rect">
            <a:avLst/>
          </a:prstGeom>
          <a:noFill/>
          <a:ln/>
        </p:spPr>
        <p:txBody>
          <a:bodyPr wrap="square" lIns="508" tIns="508" rIns="508" bIns="508" rtlCol="0" anchor="ctr"/>
          <a:lstStyle/>
          <a:p>
            <a:pPr marL="0" indent="0" algn="ctr">
              <a:buNone/>
            </a:pPr>
            <a:r>
              <a:rPr lang="en-US" sz="1500" b="1" dirty="0">
                <a:solidFill>
                  <a:srgbClr val="111111"/>
                </a:solidFill>
                <a:latin typeface="Arial" pitchFamily="34" charset="0"/>
                <a:ea typeface="Arial" pitchFamily="34" charset="-122"/>
                <a:cs typeface="Arial" pitchFamily="34" charset="-120"/>
              </a:rPr>
              <a:t>YOU</a:t>
            </a:r>
            <a:endParaRPr lang="en-US" sz="1500" dirty="0"/>
          </a:p>
        </p:txBody>
      </p:sp>
      <p:sp>
        <p:nvSpPr>
          <p:cNvPr id="12" name="Shape 10"/>
          <p:cNvSpPr/>
          <p:nvPr/>
        </p:nvSpPr>
        <p:spPr>
          <a:xfrm>
            <a:off x="9893808" y="2286000"/>
            <a:ext cx="1828800" cy="777240"/>
          </a:xfrm>
          <a:prstGeom prst="rect">
            <a:avLst/>
          </a:prstGeom>
          <a:noFill/>
          <a:ln w="22225">
            <a:solidFill>
              <a:srgbClr val="111111"/>
            </a:solidFill>
            <a:prstDash val="solid"/>
          </a:ln>
        </p:spPr>
        <p:txBody>
          <a:bodyPr/>
          <a:lstStyle/>
          <a:p>
            <a:endParaRPr lang="en-US"/>
          </a:p>
        </p:txBody>
      </p:sp>
      <p:sp>
        <p:nvSpPr>
          <p:cNvPr id="13" name="Text 11"/>
          <p:cNvSpPr/>
          <p:nvPr/>
        </p:nvSpPr>
        <p:spPr>
          <a:xfrm>
            <a:off x="9893808" y="2286000"/>
            <a:ext cx="1828800" cy="777240"/>
          </a:xfrm>
          <a:prstGeom prst="rect">
            <a:avLst/>
          </a:prstGeom>
          <a:noFill/>
          <a:ln/>
        </p:spPr>
        <p:txBody>
          <a:bodyPr wrap="square" lIns="508" tIns="508" rIns="508" bIns="508" rtlCol="0" anchor="ctr"/>
          <a:lstStyle/>
          <a:p>
            <a:pPr marL="0" indent="0" algn="ctr">
              <a:buNone/>
            </a:pPr>
            <a:r>
              <a:rPr lang="en-US" sz="1500" b="1" dirty="0">
                <a:solidFill>
                  <a:srgbClr val="111111"/>
                </a:solidFill>
                <a:latin typeface="Arial" pitchFamily="34" charset="0"/>
                <a:ea typeface="Arial" pitchFamily="34" charset="-122"/>
                <a:cs typeface="Arial" pitchFamily="34" charset="-120"/>
              </a:rPr>
              <a:t>CHAT AI</a:t>
            </a:r>
            <a:endParaRPr lang="en-US" sz="1500" dirty="0"/>
          </a:p>
        </p:txBody>
      </p:sp>
      <p:sp>
        <p:nvSpPr>
          <p:cNvPr id="14" name="Shape 12"/>
          <p:cNvSpPr/>
          <p:nvPr/>
        </p:nvSpPr>
        <p:spPr>
          <a:xfrm>
            <a:off x="9052560" y="2487168"/>
            <a:ext cx="804672" cy="0"/>
          </a:xfrm>
          <a:prstGeom prst="line">
            <a:avLst/>
          </a:prstGeom>
          <a:noFill/>
          <a:ln w="22225">
            <a:solidFill>
              <a:srgbClr val="111111"/>
            </a:solidFill>
            <a:prstDash val="solid"/>
            <a:tailEnd type="triangle"/>
          </a:ln>
        </p:spPr>
        <p:txBody>
          <a:bodyPr/>
          <a:lstStyle/>
          <a:p>
            <a:endParaRPr lang="en-US"/>
          </a:p>
        </p:txBody>
      </p:sp>
      <p:sp>
        <p:nvSpPr>
          <p:cNvPr id="15" name="Shape 13"/>
          <p:cNvSpPr/>
          <p:nvPr/>
        </p:nvSpPr>
        <p:spPr>
          <a:xfrm>
            <a:off x="9052560" y="2862072"/>
            <a:ext cx="804672" cy="0"/>
          </a:xfrm>
          <a:prstGeom prst="line">
            <a:avLst/>
          </a:prstGeom>
          <a:noFill/>
          <a:ln w="22225">
            <a:solidFill>
              <a:srgbClr val="111111"/>
            </a:solidFill>
            <a:prstDash val="solid"/>
            <a:headEnd type="triangle"/>
          </a:ln>
        </p:spPr>
        <p:txBody>
          <a:bodyPr/>
          <a:lstStyle/>
          <a:p>
            <a:endParaRPr lang="en-US"/>
          </a:p>
        </p:txBody>
      </p:sp>
      <p:sp>
        <p:nvSpPr>
          <p:cNvPr id="16" name="Text 14"/>
          <p:cNvSpPr/>
          <p:nvPr/>
        </p:nvSpPr>
        <p:spPr>
          <a:xfrm>
            <a:off x="9070848" y="2194560"/>
            <a:ext cx="822960" cy="274320"/>
          </a:xfrm>
          <a:prstGeom prst="rect">
            <a:avLst/>
          </a:prstGeom>
          <a:noFill/>
          <a:ln/>
        </p:spPr>
        <p:txBody>
          <a:bodyPr wrap="square" lIns="0" tIns="0" rIns="0" bIns="0" rtlCol="0" anchor="ctr"/>
          <a:lstStyle/>
          <a:p>
            <a:pPr marL="0" indent="0" algn="l">
              <a:buNone/>
            </a:pPr>
            <a:r>
              <a:rPr lang="en-US" sz="900" dirty="0">
                <a:solidFill>
                  <a:srgbClr val="111111"/>
                </a:solidFill>
                <a:latin typeface="Courier New" pitchFamily="34" charset="0"/>
                <a:ea typeface="Courier New" pitchFamily="34" charset="-122"/>
                <a:cs typeface="Courier New" pitchFamily="34" charset="-120"/>
              </a:rPr>
              <a:t>ASK</a:t>
            </a:r>
            <a:endParaRPr lang="en-US" sz="900" dirty="0"/>
          </a:p>
        </p:txBody>
      </p:sp>
      <p:sp>
        <p:nvSpPr>
          <p:cNvPr id="17" name="Text 15"/>
          <p:cNvSpPr/>
          <p:nvPr/>
        </p:nvSpPr>
        <p:spPr>
          <a:xfrm>
            <a:off x="9070848" y="2907792"/>
            <a:ext cx="1097280" cy="274320"/>
          </a:xfrm>
          <a:prstGeom prst="rect">
            <a:avLst/>
          </a:prstGeom>
          <a:noFill/>
          <a:ln/>
        </p:spPr>
        <p:txBody>
          <a:bodyPr wrap="square" lIns="0" tIns="0" rIns="0" bIns="0" rtlCol="0" anchor="ctr"/>
          <a:lstStyle/>
          <a:p>
            <a:pPr marL="0" indent="0" algn="l">
              <a:buNone/>
            </a:pPr>
            <a:r>
              <a:rPr lang="en-US" sz="900" dirty="0">
                <a:solidFill>
                  <a:srgbClr val="111111"/>
                </a:solidFill>
                <a:latin typeface="Courier New" pitchFamily="34" charset="0"/>
                <a:ea typeface="Courier New" pitchFamily="34" charset="-122"/>
                <a:cs typeface="Courier New" pitchFamily="34" charset="-120"/>
              </a:rPr>
              <a:t>ANSWER</a:t>
            </a:r>
            <a:endParaRPr lang="en-US" sz="900" dirty="0"/>
          </a:p>
        </p:txBody>
      </p:sp>
      <p:sp>
        <p:nvSpPr>
          <p:cNvPr id="18" name="Shape 16"/>
          <p:cNvSpPr/>
          <p:nvPr/>
        </p:nvSpPr>
        <p:spPr>
          <a:xfrm>
            <a:off x="7178040" y="3611880"/>
            <a:ext cx="4526280" cy="731520"/>
          </a:xfrm>
          <a:prstGeom prst="rect">
            <a:avLst/>
          </a:prstGeom>
          <a:solidFill>
            <a:srgbClr val="E1462C"/>
          </a:solidFill>
          <a:ln w="22225">
            <a:solidFill>
              <a:srgbClr val="111111"/>
            </a:solidFill>
            <a:prstDash val="solid"/>
          </a:ln>
        </p:spPr>
        <p:txBody>
          <a:bodyPr/>
          <a:lstStyle/>
          <a:p>
            <a:endParaRPr lang="en-US"/>
          </a:p>
        </p:txBody>
      </p:sp>
      <p:sp>
        <p:nvSpPr>
          <p:cNvPr id="19" name="Text 17"/>
          <p:cNvSpPr/>
          <p:nvPr/>
        </p:nvSpPr>
        <p:spPr>
          <a:xfrm>
            <a:off x="7178040" y="3611880"/>
            <a:ext cx="4526280" cy="731520"/>
          </a:xfrm>
          <a:prstGeom prst="rect">
            <a:avLst/>
          </a:prstGeom>
          <a:noFill/>
          <a:ln/>
        </p:spPr>
        <p:txBody>
          <a:bodyPr wrap="square" lIns="508" tIns="508" rIns="508" bIns="508" rtlCol="0" anchor="ctr"/>
          <a:lstStyle/>
          <a:p>
            <a:pPr marL="0" indent="0" algn="ctr">
              <a:buNone/>
            </a:pPr>
            <a:r>
              <a:rPr lang="en-US" sz="1400" b="1" dirty="0">
                <a:solidFill>
                  <a:srgbClr val="F2EFE9"/>
                </a:solidFill>
                <a:latin typeface="Arial" pitchFamily="34" charset="0"/>
                <a:ea typeface="Arial" pitchFamily="34" charset="-122"/>
                <a:cs typeface="Arial" pitchFamily="34" charset="-120"/>
              </a:rPr>
              <a:t>YOU COPY AND PASTE EVERY LINE</a:t>
            </a:r>
            <a:endParaRPr lang="en-US" sz="1400" dirty="0"/>
          </a:p>
        </p:txBody>
      </p:sp>
      <p:sp>
        <p:nvSpPr>
          <p:cNvPr id="20" name="Text 18"/>
          <p:cNvSpPr/>
          <p:nvPr/>
        </p:nvSpPr>
        <p:spPr>
          <a:xfrm>
            <a:off x="7178040" y="4800600"/>
            <a:ext cx="4572000" cy="274320"/>
          </a:xfrm>
          <a:prstGeom prst="rect">
            <a:avLst/>
          </a:prstGeom>
          <a:noFill/>
          <a:ln/>
        </p:spPr>
        <p:txBody>
          <a:bodyPr wrap="square" lIns="0" tIns="0" rIns="0" bIns="0" rtlCol="0" anchor="ctr"/>
          <a:lstStyle/>
          <a:p>
            <a:pPr marL="0" indent="0" algn="l">
              <a:buNone/>
            </a:pPr>
            <a:r>
              <a:rPr lang="en-US" sz="1100" b="1" dirty="0">
                <a:solidFill>
                  <a:srgbClr val="111111"/>
                </a:solidFill>
                <a:latin typeface="Courier New" pitchFamily="34" charset="0"/>
                <a:ea typeface="Courier New" pitchFamily="34" charset="-122"/>
                <a:cs typeface="Courier New" pitchFamily="34" charset="-120"/>
              </a:rPr>
              <a:t>WHO CHECKS THE WORK?  YOU</a:t>
            </a:r>
            <a:endParaRPr lang="en-US" sz="1100" dirty="0"/>
          </a:p>
        </p:txBody>
      </p:sp>
      <p:sp>
        <p:nvSpPr>
          <p:cNvPr id="21" name="Shape 19"/>
          <p:cNvSpPr/>
          <p:nvPr/>
        </p:nvSpPr>
        <p:spPr>
          <a:xfrm>
            <a:off x="1234440" y="6263640"/>
            <a:ext cx="9720072" cy="0"/>
          </a:xfrm>
          <a:prstGeom prst="line">
            <a:avLst/>
          </a:prstGeom>
          <a:noFill/>
          <a:ln w="19050">
            <a:solidFill>
              <a:srgbClr val="111111"/>
            </a:solidFill>
            <a:prstDash val="solid"/>
          </a:ln>
        </p:spPr>
        <p:txBody>
          <a:bodyPr/>
          <a:lstStyle/>
          <a:p>
            <a:endParaRPr lang="en-US"/>
          </a:p>
        </p:txBody>
      </p:sp>
      <p:sp>
        <p:nvSpPr>
          <p:cNvPr id="22" name="Shape 20"/>
          <p:cNvSpPr/>
          <p:nvPr/>
        </p:nvSpPr>
        <p:spPr>
          <a:xfrm>
            <a:off x="1152144" y="6181344"/>
            <a:ext cx="164592" cy="164592"/>
          </a:xfrm>
          <a:prstGeom prst="rect">
            <a:avLst/>
          </a:prstGeom>
          <a:solidFill>
            <a:srgbClr val="111111"/>
          </a:solidFill>
          <a:ln w="19050">
            <a:solidFill>
              <a:srgbClr val="111111"/>
            </a:solidFill>
            <a:prstDash val="solid"/>
          </a:ln>
        </p:spPr>
        <p:txBody>
          <a:bodyPr/>
          <a:lstStyle/>
          <a:p>
            <a:endParaRPr lang="en-US"/>
          </a:p>
        </p:txBody>
      </p:sp>
      <p:sp>
        <p:nvSpPr>
          <p:cNvPr id="23" name="Text 21"/>
          <p:cNvSpPr/>
          <p:nvPr/>
        </p:nvSpPr>
        <p:spPr>
          <a:xfrm>
            <a:off x="320040" y="6446520"/>
            <a:ext cx="1828800" cy="256032"/>
          </a:xfrm>
          <a:prstGeom prst="rect">
            <a:avLst/>
          </a:prstGeom>
          <a:noFill/>
          <a:ln/>
        </p:spPr>
        <p:txBody>
          <a:bodyPr wrap="square" lIns="0" tIns="0" rIns="0" bIns="0" rtlCol="0" anchor="ctr"/>
          <a:lstStyle/>
          <a:p>
            <a:pPr marL="0" indent="0" algn="ctr">
              <a:buNone/>
            </a:pPr>
            <a:r>
              <a:rPr lang="en-US" sz="900" dirty="0">
                <a:solidFill>
                  <a:srgbClr val="111111"/>
                </a:solidFill>
                <a:latin typeface="Courier New" pitchFamily="34" charset="0"/>
                <a:ea typeface="Courier New" pitchFamily="34" charset="-122"/>
                <a:cs typeface="Courier New" pitchFamily="34" charset="-120"/>
              </a:rPr>
              <a:t>1 AUTOCOMPLETE</a:t>
            </a:r>
            <a:endParaRPr lang="en-US" sz="900" dirty="0"/>
          </a:p>
        </p:txBody>
      </p:sp>
      <p:sp>
        <p:nvSpPr>
          <p:cNvPr id="24" name="Shape 22"/>
          <p:cNvSpPr/>
          <p:nvPr/>
        </p:nvSpPr>
        <p:spPr>
          <a:xfrm>
            <a:off x="3096158" y="6181344"/>
            <a:ext cx="164592" cy="164592"/>
          </a:xfrm>
          <a:prstGeom prst="rect">
            <a:avLst/>
          </a:prstGeom>
          <a:solidFill>
            <a:srgbClr val="111111"/>
          </a:solidFill>
          <a:ln w="19050">
            <a:solidFill>
              <a:srgbClr val="111111"/>
            </a:solidFill>
            <a:prstDash val="solid"/>
          </a:ln>
        </p:spPr>
        <p:txBody>
          <a:bodyPr/>
          <a:lstStyle/>
          <a:p>
            <a:endParaRPr lang="en-US"/>
          </a:p>
        </p:txBody>
      </p:sp>
      <p:sp>
        <p:nvSpPr>
          <p:cNvPr id="25" name="Text 23"/>
          <p:cNvSpPr/>
          <p:nvPr/>
        </p:nvSpPr>
        <p:spPr>
          <a:xfrm>
            <a:off x="2264054" y="6446520"/>
            <a:ext cx="1828800" cy="256032"/>
          </a:xfrm>
          <a:prstGeom prst="rect">
            <a:avLst/>
          </a:prstGeom>
          <a:noFill/>
          <a:ln/>
        </p:spPr>
        <p:txBody>
          <a:bodyPr wrap="square" lIns="0" tIns="0" rIns="0" bIns="0" rtlCol="0" anchor="ctr"/>
          <a:lstStyle/>
          <a:p>
            <a:pPr marL="0" indent="0" algn="ctr">
              <a:buNone/>
            </a:pPr>
            <a:r>
              <a:rPr lang="en-US" sz="900" dirty="0">
                <a:solidFill>
                  <a:srgbClr val="111111"/>
                </a:solidFill>
                <a:latin typeface="Courier New" pitchFamily="34" charset="0"/>
                <a:ea typeface="Courier New" pitchFamily="34" charset="-122"/>
                <a:cs typeface="Courier New" pitchFamily="34" charset="-120"/>
              </a:rPr>
              <a:t>2 COPILOT</a:t>
            </a:r>
            <a:endParaRPr lang="en-US" sz="900" dirty="0"/>
          </a:p>
        </p:txBody>
      </p:sp>
      <p:sp>
        <p:nvSpPr>
          <p:cNvPr id="26" name="Shape 24"/>
          <p:cNvSpPr/>
          <p:nvPr/>
        </p:nvSpPr>
        <p:spPr>
          <a:xfrm>
            <a:off x="4985309" y="6126480"/>
            <a:ext cx="274320" cy="274320"/>
          </a:xfrm>
          <a:prstGeom prst="rect">
            <a:avLst/>
          </a:prstGeom>
          <a:solidFill>
            <a:srgbClr val="E1462C"/>
          </a:solidFill>
          <a:ln w="19050">
            <a:solidFill>
              <a:srgbClr val="111111"/>
            </a:solidFill>
            <a:prstDash val="solid"/>
          </a:ln>
        </p:spPr>
        <p:txBody>
          <a:bodyPr/>
          <a:lstStyle/>
          <a:p>
            <a:endParaRPr lang="en-US"/>
          </a:p>
        </p:txBody>
      </p:sp>
      <p:sp>
        <p:nvSpPr>
          <p:cNvPr id="27" name="Text 25"/>
          <p:cNvSpPr/>
          <p:nvPr/>
        </p:nvSpPr>
        <p:spPr>
          <a:xfrm>
            <a:off x="4208069" y="6446520"/>
            <a:ext cx="1828800" cy="256032"/>
          </a:xfrm>
          <a:prstGeom prst="rect">
            <a:avLst/>
          </a:prstGeom>
          <a:noFill/>
          <a:ln/>
        </p:spPr>
        <p:txBody>
          <a:bodyPr wrap="square" lIns="0" tIns="0" rIns="0" bIns="0" rtlCol="0" anchor="ctr"/>
          <a:lstStyle/>
          <a:p>
            <a:pPr marL="0" indent="0" algn="ctr">
              <a:buNone/>
            </a:pPr>
            <a:r>
              <a:rPr lang="en-US" sz="900" b="1" dirty="0">
                <a:solidFill>
                  <a:srgbClr val="111111"/>
                </a:solidFill>
                <a:latin typeface="Courier New" pitchFamily="34" charset="0"/>
                <a:ea typeface="Courier New" pitchFamily="34" charset="-122"/>
                <a:cs typeface="Courier New" pitchFamily="34" charset="-120"/>
              </a:rPr>
              <a:t>3 CHAT</a:t>
            </a:r>
            <a:endParaRPr lang="en-US" sz="900" dirty="0"/>
          </a:p>
        </p:txBody>
      </p:sp>
      <p:sp>
        <p:nvSpPr>
          <p:cNvPr id="28" name="Shape 26"/>
          <p:cNvSpPr/>
          <p:nvPr/>
        </p:nvSpPr>
        <p:spPr>
          <a:xfrm>
            <a:off x="6984187" y="6181344"/>
            <a:ext cx="164592" cy="164592"/>
          </a:xfrm>
          <a:prstGeom prst="rect">
            <a:avLst/>
          </a:prstGeom>
          <a:noFill/>
          <a:ln w="19050">
            <a:solidFill>
              <a:srgbClr val="111111"/>
            </a:solidFill>
            <a:prstDash val="solid"/>
          </a:ln>
        </p:spPr>
        <p:txBody>
          <a:bodyPr/>
          <a:lstStyle/>
          <a:p>
            <a:endParaRPr lang="en-US"/>
          </a:p>
        </p:txBody>
      </p:sp>
      <p:sp>
        <p:nvSpPr>
          <p:cNvPr id="29" name="Text 27"/>
          <p:cNvSpPr/>
          <p:nvPr/>
        </p:nvSpPr>
        <p:spPr>
          <a:xfrm>
            <a:off x="6152083" y="6446520"/>
            <a:ext cx="1828800" cy="256032"/>
          </a:xfrm>
          <a:prstGeom prst="rect">
            <a:avLst/>
          </a:prstGeom>
          <a:noFill/>
          <a:ln/>
        </p:spPr>
        <p:txBody>
          <a:bodyPr wrap="square" lIns="0" tIns="0" rIns="0" bIns="0" rtlCol="0" anchor="ctr"/>
          <a:lstStyle/>
          <a:p>
            <a:pPr marL="0" indent="0" algn="ctr">
              <a:buNone/>
            </a:pPr>
            <a:r>
              <a:rPr lang="en-US" sz="900" dirty="0">
                <a:solidFill>
                  <a:srgbClr val="111111"/>
                </a:solidFill>
                <a:latin typeface="Courier New" pitchFamily="34" charset="0"/>
                <a:ea typeface="Courier New" pitchFamily="34" charset="-122"/>
                <a:cs typeface="Courier New" pitchFamily="34" charset="-120"/>
              </a:rPr>
              <a:t>4 VIBE CODING</a:t>
            </a:r>
            <a:endParaRPr lang="en-US" sz="900" dirty="0"/>
          </a:p>
        </p:txBody>
      </p:sp>
      <p:sp>
        <p:nvSpPr>
          <p:cNvPr id="30" name="Shape 28"/>
          <p:cNvSpPr/>
          <p:nvPr/>
        </p:nvSpPr>
        <p:spPr>
          <a:xfrm>
            <a:off x="8928202" y="6181344"/>
            <a:ext cx="164592" cy="164592"/>
          </a:xfrm>
          <a:prstGeom prst="rect">
            <a:avLst/>
          </a:prstGeom>
          <a:noFill/>
          <a:ln w="19050">
            <a:solidFill>
              <a:srgbClr val="111111"/>
            </a:solidFill>
            <a:prstDash val="solid"/>
          </a:ln>
        </p:spPr>
        <p:txBody>
          <a:bodyPr/>
          <a:lstStyle/>
          <a:p>
            <a:endParaRPr lang="en-US"/>
          </a:p>
        </p:txBody>
      </p:sp>
      <p:sp>
        <p:nvSpPr>
          <p:cNvPr id="31" name="Text 29"/>
          <p:cNvSpPr/>
          <p:nvPr/>
        </p:nvSpPr>
        <p:spPr>
          <a:xfrm>
            <a:off x="8096098" y="6446520"/>
            <a:ext cx="1828800" cy="256032"/>
          </a:xfrm>
          <a:prstGeom prst="rect">
            <a:avLst/>
          </a:prstGeom>
          <a:noFill/>
          <a:ln/>
        </p:spPr>
        <p:txBody>
          <a:bodyPr wrap="square" lIns="0" tIns="0" rIns="0" bIns="0" rtlCol="0" anchor="ctr"/>
          <a:lstStyle/>
          <a:p>
            <a:pPr marL="0" indent="0" algn="ctr">
              <a:buNone/>
            </a:pPr>
            <a:r>
              <a:rPr lang="en-US" sz="900" dirty="0">
                <a:solidFill>
                  <a:srgbClr val="111111"/>
                </a:solidFill>
                <a:latin typeface="Courier New" pitchFamily="34" charset="0"/>
                <a:ea typeface="Courier New" pitchFamily="34" charset="-122"/>
                <a:cs typeface="Courier New" pitchFamily="34" charset="-120"/>
              </a:rPr>
              <a:t>5 TWO AGENTS</a:t>
            </a:r>
            <a:endParaRPr lang="en-US" sz="900" dirty="0"/>
          </a:p>
        </p:txBody>
      </p:sp>
      <p:sp>
        <p:nvSpPr>
          <p:cNvPr id="32" name="Shape 30"/>
          <p:cNvSpPr/>
          <p:nvPr/>
        </p:nvSpPr>
        <p:spPr>
          <a:xfrm>
            <a:off x="10872216" y="6181344"/>
            <a:ext cx="164592" cy="164592"/>
          </a:xfrm>
          <a:prstGeom prst="rect">
            <a:avLst/>
          </a:prstGeom>
          <a:noFill/>
          <a:ln w="19050">
            <a:solidFill>
              <a:srgbClr val="111111"/>
            </a:solidFill>
            <a:prstDash val="solid"/>
          </a:ln>
        </p:spPr>
        <p:txBody>
          <a:bodyPr/>
          <a:lstStyle/>
          <a:p>
            <a:endParaRPr lang="en-US"/>
          </a:p>
        </p:txBody>
      </p:sp>
      <p:sp>
        <p:nvSpPr>
          <p:cNvPr id="33" name="Text 31"/>
          <p:cNvSpPr/>
          <p:nvPr/>
        </p:nvSpPr>
        <p:spPr>
          <a:xfrm>
            <a:off x="10040112" y="6446520"/>
            <a:ext cx="1828800" cy="256032"/>
          </a:xfrm>
          <a:prstGeom prst="rect">
            <a:avLst/>
          </a:prstGeom>
          <a:noFill/>
          <a:ln/>
        </p:spPr>
        <p:txBody>
          <a:bodyPr wrap="square" lIns="0" tIns="0" rIns="0" bIns="0" rtlCol="0" anchor="ctr"/>
          <a:lstStyle/>
          <a:p>
            <a:pPr marL="0" indent="0" algn="ctr">
              <a:buNone/>
            </a:pPr>
            <a:r>
              <a:rPr lang="en-US" sz="900" dirty="0">
                <a:solidFill>
                  <a:srgbClr val="111111"/>
                </a:solidFill>
                <a:latin typeface="Courier New" pitchFamily="34" charset="0"/>
                <a:ea typeface="Courier New" pitchFamily="34" charset="-122"/>
                <a:cs typeface="Courier New" pitchFamily="34" charset="-120"/>
              </a:rPr>
              <a:t>6 LOOPS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EFE9"/>
        </a:solidFill>
        <a:effectLst/>
      </p:bgPr>
    </p:bg>
    <p:spTree>
      <p:nvGrpSpPr>
        <p:cNvPr id="1" name=""/>
        <p:cNvGrpSpPr/>
        <p:nvPr/>
      </p:nvGrpSpPr>
      <p:grpSpPr>
        <a:xfrm>
          <a:off x="0" y="0"/>
          <a:ext cx="0" cy="0"/>
          <a:chOff x="0" y="0"/>
          <a:chExt cx="0" cy="0"/>
        </a:xfrm>
      </p:grpSpPr>
      <p:sp>
        <p:nvSpPr>
          <p:cNvPr id="2" name="Text 0"/>
          <p:cNvSpPr/>
          <p:nvPr/>
        </p:nvSpPr>
        <p:spPr>
          <a:xfrm>
            <a:off x="11430000" y="182880"/>
            <a:ext cx="594360" cy="274320"/>
          </a:xfrm>
          <a:prstGeom prst="rect">
            <a:avLst/>
          </a:prstGeom>
          <a:noFill/>
          <a:ln/>
        </p:spPr>
        <p:txBody>
          <a:bodyPr wrap="square" lIns="0" tIns="0" rIns="0" bIns="0" rtlCol="0" anchor="ctr"/>
          <a:lstStyle/>
          <a:p>
            <a:pPr marL="0" indent="0" algn="r">
              <a:buNone/>
            </a:pPr>
            <a:r>
              <a:rPr lang="en-US" sz="1000" dirty="0">
                <a:solidFill>
                  <a:srgbClr val="111111"/>
                </a:solidFill>
                <a:latin typeface="Courier New" pitchFamily="34" charset="0"/>
                <a:ea typeface="Courier New" pitchFamily="34" charset="-122"/>
                <a:cs typeface="Courier New" pitchFamily="34" charset="-120"/>
              </a:rPr>
              <a:t>06</a:t>
            </a:r>
            <a:endParaRPr lang="en-US" sz="1000" dirty="0"/>
          </a:p>
        </p:txBody>
      </p:sp>
      <p:sp>
        <p:nvSpPr>
          <p:cNvPr id="3" name="Text 1"/>
          <p:cNvSpPr/>
          <p:nvPr/>
        </p:nvSpPr>
        <p:spPr>
          <a:xfrm>
            <a:off x="566928" y="402336"/>
            <a:ext cx="2743200" cy="274320"/>
          </a:xfrm>
          <a:prstGeom prst="rect">
            <a:avLst/>
          </a:prstGeom>
          <a:noFill/>
          <a:ln/>
        </p:spPr>
        <p:txBody>
          <a:bodyPr wrap="square" lIns="0" tIns="0" rIns="0" bIns="0" rtlCol="0" anchor="ctr"/>
          <a:lstStyle/>
          <a:p>
            <a:pPr marL="0" indent="0" algn="l">
              <a:buNone/>
            </a:pPr>
            <a:r>
              <a:rPr lang="en-US" sz="1000" dirty="0">
                <a:solidFill>
                  <a:srgbClr val="111111"/>
                </a:solidFill>
                <a:latin typeface="Courier New" pitchFamily="34" charset="0"/>
                <a:ea typeface="Courier New" pitchFamily="34" charset="-122"/>
                <a:cs typeface="Courier New" pitchFamily="34" charset="-120"/>
              </a:rPr>
              <a:t>STEP 4 OF 6</a:t>
            </a:r>
            <a:endParaRPr lang="en-US" sz="1000" dirty="0"/>
          </a:p>
        </p:txBody>
      </p:sp>
      <p:sp>
        <p:nvSpPr>
          <p:cNvPr id="4" name="Text 2"/>
          <p:cNvSpPr/>
          <p:nvPr/>
        </p:nvSpPr>
        <p:spPr>
          <a:xfrm>
            <a:off x="548640" y="749808"/>
            <a:ext cx="6400800" cy="1051560"/>
          </a:xfrm>
          <a:prstGeom prst="rect">
            <a:avLst/>
          </a:prstGeom>
          <a:noFill/>
          <a:ln/>
        </p:spPr>
        <p:txBody>
          <a:bodyPr wrap="square" lIns="0" tIns="0" rIns="0" bIns="0" rtlCol="0" anchor="t"/>
          <a:lstStyle/>
          <a:p>
            <a:pPr marL="0" indent="0">
              <a:buNone/>
            </a:pPr>
            <a:r>
              <a:rPr lang="en-US" sz="4200" b="1" dirty="0">
                <a:solidFill>
                  <a:srgbClr val="111111"/>
                </a:solidFill>
                <a:latin typeface="Arial" pitchFamily="34" charset="0"/>
                <a:ea typeface="Arial" pitchFamily="34" charset="-122"/>
                <a:cs typeface="Arial" pitchFamily="34" charset="-120"/>
              </a:rPr>
              <a:t>VIBE CODING</a:t>
            </a:r>
            <a:endParaRPr lang="en-US" sz="4200" dirty="0"/>
          </a:p>
        </p:txBody>
      </p:sp>
      <p:sp>
        <p:nvSpPr>
          <p:cNvPr id="5" name="Text 3"/>
          <p:cNvSpPr/>
          <p:nvPr/>
        </p:nvSpPr>
        <p:spPr>
          <a:xfrm>
            <a:off x="566928" y="1901952"/>
            <a:ext cx="4572000" cy="274320"/>
          </a:xfrm>
          <a:prstGeom prst="rect">
            <a:avLst/>
          </a:prstGeom>
          <a:noFill/>
          <a:ln/>
        </p:spPr>
        <p:txBody>
          <a:bodyPr wrap="square" lIns="0" tIns="0" rIns="0" bIns="0" rtlCol="0" anchor="ctr"/>
          <a:lstStyle/>
          <a:p>
            <a:pPr marL="0" indent="0" algn="l">
              <a:buNone/>
            </a:pPr>
            <a:r>
              <a:rPr lang="en-US" sz="1200" b="1" dirty="0">
                <a:solidFill>
                  <a:srgbClr val="E1462C"/>
                </a:solidFill>
                <a:latin typeface="Courier New" pitchFamily="34" charset="0"/>
                <a:ea typeface="Courier New" pitchFamily="34" charset="-122"/>
                <a:cs typeface="Courier New" pitchFamily="34" charset="-120"/>
              </a:rPr>
              <a:t>2023 – 2024  ·  AGENTS</a:t>
            </a:r>
            <a:endParaRPr lang="en-US" sz="1200" dirty="0"/>
          </a:p>
        </p:txBody>
      </p:sp>
      <p:sp>
        <p:nvSpPr>
          <p:cNvPr id="6" name="Text 4"/>
          <p:cNvSpPr/>
          <p:nvPr/>
        </p:nvSpPr>
        <p:spPr>
          <a:xfrm>
            <a:off x="548640" y="2395728"/>
            <a:ext cx="6035040" cy="1463040"/>
          </a:xfrm>
          <a:prstGeom prst="rect">
            <a:avLst/>
          </a:prstGeom>
          <a:noFill/>
          <a:ln/>
        </p:spPr>
        <p:txBody>
          <a:bodyPr wrap="square" lIns="0" tIns="0" rIns="0" bIns="0" rtlCol="0" anchor="t"/>
          <a:lstStyle/>
          <a:p>
            <a:pPr marL="0" indent="0">
              <a:buNone/>
            </a:pPr>
            <a:r>
              <a:rPr lang="en-US" sz="2500" dirty="0">
                <a:solidFill>
                  <a:srgbClr val="111111"/>
                </a:solidFill>
                <a:latin typeface="Arial" pitchFamily="34" charset="0"/>
                <a:ea typeface="Arial" pitchFamily="34" charset="-122"/>
                <a:cs typeface="Arial" pitchFamily="34" charset="-120"/>
              </a:rPr>
              <a:t>One prompt. The agent reads your files, writes the code, and runs it.</a:t>
            </a:r>
            <a:endParaRPr lang="en-US" sz="2500" dirty="0"/>
          </a:p>
        </p:txBody>
      </p:sp>
      <p:sp>
        <p:nvSpPr>
          <p:cNvPr id="7" name="Shape 5"/>
          <p:cNvSpPr/>
          <p:nvPr/>
        </p:nvSpPr>
        <p:spPr>
          <a:xfrm>
            <a:off x="566928" y="4114800"/>
            <a:ext cx="2926080" cy="0"/>
          </a:xfrm>
          <a:prstGeom prst="line">
            <a:avLst/>
          </a:prstGeom>
          <a:noFill/>
          <a:ln w="19050">
            <a:solidFill>
              <a:srgbClr val="111111"/>
            </a:solidFill>
            <a:prstDash val="solid"/>
          </a:ln>
        </p:spPr>
        <p:txBody>
          <a:bodyPr/>
          <a:lstStyle/>
          <a:p>
            <a:endParaRPr lang="en-US"/>
          </a:p>
        </p:txBody>
      </p:sp>
      <p:sp>
        <p:nvSpPr>
          <p:cNvPr id="8" name="Text 6"/>
          <p:cNvSpPr/>
          <p:nvPr/>
        </p:nvSpPr>
        <p:spPr>
          <a:xfrm>
            <a:off x="566928" y="4279392"/>
            <a:ext cx="2743200" cy="274320"/>
          </a:xfrm>
          <a:prstGeom prst="rect">
            <a:avLst/>
          </a:prstGeom>
          <a:noFill/>
          <a:ln/>
        </p:spPr>
        <p:txBody>
          <a:bodyPr wrap="square" lIns="0" tIns="0" rIns="0" bIns="0" rtlCol="0" anchor="ctr"/>
          <a:lstStyle/>
          <a:p>
            <a:pPr marL="0" indent="0" algn="l">
              <a:buNone/>
            </a:pPr>
            <a:r>
              <a:rPr lang="en-US" sz="1000" b="1" dirty="0">
                <a:solidFill>
                  <a:srgbClr val="111111"/>
                </a:solidFill>
                <a:latin typeface="Courier New" pitchFamily="34" charset="0"/>
                <a:ea typeface="Courier New" pitchFamily="34" charset="-122"/>
                <a:cs typeface="Courier New" pitchFamily="34" charset="-120"/>
              </a:rPr>
              <a:t>THE PROBLEM</a:t>
            </a:r>
            <a:endParaRPr lang="en-US" sz="1000" dirty="0"/>
          </a:p>
        </p:txBody>
      </p:sp>
      <p:sp>
        <p:nvSpPr>
          <p:cNvPr id="9" name="Text 7"/>
          <p:cNvSpPr/>
          <p:nvPr/>
        </p:nvSpPr>
        <p:spPr>
          <a:xfrm>
            <a:off x="548640" y="4617720"/>
            <a:ext cx="6035040" cy="1097280"/>
          </a:xfrm>
          <a:prstGeom prst="rect">
            <a:avLst/>
          </a:prstGeom>
          <a:noFill/>
          <a:ln/>
        </p:spPr>
        <p:txBody>
          <a:bodyPr wrap="square" lIns="0" tIns="0" rIns="0" bIns="0" rtlCol="0" anchor="t"/>
          <a:lstStyle/>
          <a:p>
            <a:pPr marL="0" indent="0">
              <a:buNone/>
            </a:pPr>
            <a:r>
              <a:rPr lang="en-US" sz="1900" b="1" dirty="0">
                <a:solidFill>
                  <a:srgbClr val="E1462C"/>
                </a:solidFill>
                <a:latin typeface="Arial" pitchFamily="34" charset="0"/>
                <a:ea typeface="Arial" pitchFamily="34" charset="-122"/>
                <a:cs typeface="Arial" pitchFamily="34" charset="-120"/>
              </a:rPr>
              <a:t>Nobody checked the work — except you, at the very end.</a:t>
            </a:r>
            <a:endParaRPr lang="en-US" sz="1900" dirty="0"/>
          </a:p>
        </p:txBody>
      </p:sp>
      <p:sp>
        <p:nvSpPr>
          <p:cNvPr id="10" name="Shape 8"/>
          <p:cNvSpPr/>
          <p:nvPr/>
        </p:nvSpPr>
        <p:spPr>
          <a:xfrm>
            <a:off x="7178040" y="2103120"/>
            <a:ext cx="4526280" cy="566928"/>
          </a:xfrm>
          <a:prstGeom prst="rect">
            <a:avLst/>
          </a:prstGeom>
          <a:noFill/>
          <a:ln w="22225">
            <a:solidFill>
              <a:srgbClr val="111111"/>
            </a:solidFill>
            <a:prstDash val="solid"/>
          </a:ln>
        </p:spPr>
        <p:txBody>
          <a:bodyPr/>
          <a:lstStyle/>
          <a:p>
            <a:endParaRPr lang="en-US"/>
          </a:p>
        </p:txBody>
      </p:sp>
      <p:sp>
        <p:nvSpPr>
          <p:cNvPr id="11" name="Text 9"/>
          <p:cNvSpPr/>
          <p:nvPr/>
        </p:nvSpPr>
        <p:spPr>
          <a:xfrm>
            <a:off x="7178040" y="2103120"/>
            <a:ext cx="4526280" cy="566928"/>
          </a:xfrm>
          <a:prstGeom prst="rect">
            <a:avLst/>
          </a:prstGeom>
          <a:noFill/>
          <a:ln/>
        </p:spPr>
        <p:txBody>
          <a:bodyPr wrap="square" lIns="508" tIns="508" rIns="508" bIns="508" rtlCol="0" anchor="ctr"/>
          <a:lstStyle/>
          <a:p>
            <a:pPr marL="0" indent="0" algn="ctr">
              <a:buNone/>
            </a:pPr>
            <a:r>
              <a:rPr lang="en-US" sz="1400" dirty="0">
                <a:solidFill>
                  <a:srgbClr val="111111"/>
                </a:solidFill>
                <a:latin typeface="Courier New" pitchFamily="34" charset="0"/>
                <a:ea typeface="Courier New" pitchFamily="34" charset="-122"/>
                <a:cs typeface="Courier New" pitchFamily="34" charset="-120"/>
              </a:rPr>
              <a:t>"BUILD ME A LOGIN PAGE"</a:t>
            </a:r>
            <a:endParaRPr lang="en-US" sz="1400" dirty="0"/>
          </a:p>
        </p:txBody>
      </p:sp>
      <p:sp>
        <p:nvSpPr>
          <p:cNvPr id="12" name="Shape 10"/>
          <p:cNvSpPr/>
          <p:nvPr/>
        </p:nvSpPr>
        <p:spPr>
          <a:xfrm>
            <a:off x="9436608" y="2670048"/>
            <a:ext cx="0" cy="365760"/>
          </a:xfrm>
          <a:prstGeom prst="line">
            <a:avLst/>
          </a:prstGeom>
          <a:noFill/>
          <a:ln w="22225">
            <a:solidFill>
              <a:srgbClr val="111111"/>
            </a:solidFill>
            <a:prstDash val="solid"/>
            <a:tailEnd type="triangle"/>
          </a:ln>
        </p:spPr>
        <p:txBody>
          <a:bodyPr/>
          <a:lstStyle/>
          <a:p>
            <a:endParaRPr lang="en-US"/>
          </a:p>
        </p:txBody>
      </p:sp>
      <p:sp>
        <p:nvSpPr>
          <p:cNvPr id="13" name="Shape 11"/>
          <p:cNvSpPr/>
          <p:nvPr/>
        </p:nvSpPr>
        <p:spPr>
          <a:xfrm>
            <a:off x="7178040" y="3035808"/>
            <a:ext cx="4526280" cy="914400"/>
          </a:xfrm>
          <a:prstGeom prst="rect">
            <a:avLst/>
          </a:prstGeom>
          <a:solidFill>
            <a:srgbClr val="1B3FA0"/>
          </a:solidFill>
          <a:ln w="22225">
            <a:solidFill>
              <a:srgbClr val="111111"/>
            </a:solidFill>
            <a:prstDash val="solid"/>
          </a:ln>
        </p:spPr>
        <p:txBody>
          <a:bodyPr/>
          <a:lstStyle/>
          <a:p>
            <a:endParaRPr lang="en-US"/>
          </a:p>
        </p:txBody>
      </p:sp>
      <p:sp>
        <p:nvSpPr>
          <p:cNvPr id="14" name="Text 12"/>
          <p:cNvSpPr/>
          <p:nvPr/>
        </p:nvSpPr>
        <p:spPr>
          <a:xfrm>
            <a:off x="7178040" y="3035808"/>
            <a:ext cx="4526280" cy="914400"/>
          </a:xfrm>
          <a:prstGeom prst="rect">
            <a:avLst/>
          </a:prstGeom>
          <a:noFill/>
          <a:ln/>
        </p:spPr>
        <p:txBody>
          <a:bodyPr wrap="square" lIns="508" tIns="508" rIns="508" bIns="508" rtlCol="0" anchor="ctr"/>
          <a:lstStyle/>
          <a:p>
            <a:pPr marL="0" indent="0" algn="ctr">
              <a:buNone/>
            </a:pPr>
            <a:r>
              <a:rPr lang="en-US" sz="1500" b="1" dirty="0">
                <a:solidFill>
                  <a:srgbClr val="F2EFE9"/>
                </a:solidFill>
                <a:latin typeface="Arial" pitchFamily="34" charset="0"/>
                <a:ea typeface="Arial" pitchFamily="34" charset="-122"/>
                <a:cs typeface="Arial" pitchFamily="34" charset="-120"/>
              </a:rPr>
              <a:t>ONE AGENT DOES EVERYTHING</a:t>
            </a:r>
            <a:endParaRPr lang="en-US" sz="1500" dirty="0"/>
          </a:p>
        </p:txBody>
      </p:sp>
      <p:sp>
        <p:nvSpPr>
          <p:cNvPr id="15" name="Shape 13"/>
          <p:cNvSpPr/>
          <p:nvPr/>
        </p:nvSpPr>
        <p:spPr>
          <a:xfrm>
            <a:off x="9436608" y="3950208"/>
            <a:ext cx="0" cy="365760"/>
          </a:xfrm>
          <a:prstGeom prst="line">
            <a:avLst/>
          </a:prstGeom>
          <a:noFill/>
          <a:ln w="22225">
            <a:solidFill>
              <a:srgbClr val="111111"/>
            </a:solidFill>
            <a:prstDash val="solid"/>
            <a:tailEnd type="triangle"/>
          </a:ln>
        </p:spPr>
        <p:txBody>
          <a:bodyPr/>
          <a:lstStyle/>
          <a:p>
            <a:endParaRPr lang="en-US"/>
          </a:p>
        </p:txBody>
      </p:sp>
      <p:sp>
        <p:nvSpPr>
          <p:cNvPr id="16" name="Shape 14"/>
          <p:cNvSpPr/>
          <p:nvPr/>
        </p:nvSpPr>
        <p:spPr>
          <a:xfrm>
            <a:off x="7178040" y="4315968"/>
            <a:ext cx="4526280" cy="658368"/>
          </a:xfrm>
          <a:prstGeom prst="rect">
            <a:avLst/>
          </a:prstGeom>
          <a:noFill/>
          <a:ln w="31750">
            <a:solidFill>
              <a:srgbClr val="E1462C"/>
            </a:solidFill>
            <a:prstDash val="solid"/>
          </a:ln>
        </p:spPr>
        <p:txBody>
          <a:bodyPr/>
          <a:lstStyle/>
          <a:p>
            <a:endParaRPr lang="en-US"/>
          </a:p>
        </p:txBody>
      </p:sp>
      <p:sp>
        <p:nvSpPr>
          <p:cNvPr id="17" name="Text 15"/>
          <p:cNvSpPr/>
          <p:nvPr/>
        </p:nvSpPr>
        <p:spPr>
          <a:xfrm>
            <a:off x="7178040" y="4315968"/>
            <a:ext cx="4526280" cy="658368"/>
          </a:xfrm>
          <a:prstGeom prst="rect">
            <a:avLst/>
          </a:prstGeom>
          <a:noFill/>
          <a:ln/>
        </p:spPr>
        <p:txBody>
          <a:bodyPr wrap="square" lIns="508" tIns="508" rIns="508" bIns="508" rtlCol="0" anchor="ctr"/>
          <a:lstStyle/>
          <a:p>
            <a:pPr marL="0" indent="0" algn="ctr">
              <a:buNone/>
            </a:pPr>
            <a:r>
              <a:rPr lang="en-US" sz="1500" b="1" dirty="0">
                <a:solidFill>
                  <a:srgbClr val="E1462C"/>
                </a:solidFill>
                <a:latin typeface="Arial" pitchFamily="34" charset="0"/>
                <a:ea typeface="Arial" pitchFamily="34" charset="-122"/>
                <a:cs typeface="Arial" pitchFamily="34" charset="-120"/>
              </a:rPr>
              <a:t>YOU REVIEW ALL OF IT</a:t>
            </a:r>
            <a:endParaRPr lang="en-US" sz="1500" dirty="0"/>
          </a:p>
        </p:txBody>
      </p:sp>
      <p:sp>
        <p:nvSpPr>
          <p:cNvPr id="18" name="Text 16"/>
          <p:cNvSpPr/>
          <p:nvPr/>
        </p:nvSpPr>
        <p:spPr>
          <a:xfrm>
            <a:off x="7178040" y="5230368"/>
            <a:ext cx="4572000" cy="274320"/>
          </a:xfrm>
          <a:prstGeom prst="rect">
            <a:avLst/>
          </a:prstGeom>
          <a:noFill/>
          <a:ln/>
        </p:spPr>
        <p:txBody>
          <a:bodyPr wrap="square" lIns="0" tIns="0" rIns="0" bIns="0" rtlCol="0" anchor="ctr"/>
          <a:lstStyle/>
          <a:p>
            <a:pPr marL="0" indent="0" algn="l">
              <a:buNone/>
            </a:pPr>
            <a:r>
              <a:rPr lang="en-US" sz="1100" b="1" dirty="0">
                <a:solidFill>
                  <a:srgbClr val="E1462C"/>
                </a:solidFill>
                <a:latin typeface="Courier New" pitchFamily="34" charset="0"/>
                <a:ea typeface="Courier New" pitchFamily="34" charset="-122"/>
                <a:cs typeface="Courier New" pitchFamily="34" charset="-120"/>
              </a:rPr>
              <a:t>WHO CHECKS THE WORK?  STILL YOU</a:t>
            </a:r>
            <a:endParaRPr lang="en-US" sz="1100" dirty="0"/>
          </a:p>
        </p:txBody>
      </p:sp>
      <p:sp>
        <p:nvSpPr>
          <p:cNvPr id="19" name="Shape 17"/>
          <p:cNvSpPr/>
          <p:nvPr/>
        </p:nvSpPr>
        <p:spPr>
          <a:xfrm>
            <a:off x="1234440" y="6263640"/>
            <a:ext cx="9720072" cy="0"/>
          </a:xfrm>
          <a:prstGeom prst="line">
            <a:avLst/>
          </a:prstGeom>
          <a:noFill/>
          <a:ln w="19050">
            <a:solidFill>
              <a:srgbClr val="111111"/>
            </a:solidFill>
            <a:prstDash val="solid"/>
          </a:ln>
        </p:spPr>
        <p:txBody>
          <a:bodyPr/>
          <a:lstStyle/>
          <a:p>
            <a:endParaRPr lang="en-US"/>
          </a:p>
        </p:txBody>
      </p:sp>
      <p:sp>
        <p:nvSpPr>
          <p:cNvPr id="20" name="Shape 18"/>
          <p:cNvSpPr/>
          <p:nvPr/>
        </p:nvSpPr>
        <p:spPr>
          <a:xfrm>
            <a:off x="1152144" y="6181344"/>
            <a:ext cx="164592" cy="164592"/>
          </a:xfrm>
          <a:prstGeom prst="rect">
            <a:avLst/>
          </a:prstGeom>
          <a:solidFill>
            <a:srgbClr val="111111"/>
          </a:solidFill>
          <a:ln w="19050">
            <a:solidFill>
              <a:srgbClr val="111111"/>
            </a:solidFill>
            <a:prstDash val="solid"/>
          </a:ln>
        </p:spPr>
        <p:txBody>
          <a:bodyPr/>
          <a:lstStyle/>
          <a:p>
            <a:endParaRPr lang="en-US"/>
          </a:p>
        </p:txBody>
      </p:sp>
      <p:sp>
        <p:nvSpPr>
          <p:cNvPr id="21" name="Text 19"/>
          <p:cNvSpPr/>
          <p:nvPr/>
        </p:nvSpPr>
        <p:spPr>
          <a:xfrm>
            <a:off x="320040" y="6446520"/>
            <a:ext cx="1828800" cy="256032"/>
          </a:xfrm>
          <a:prstGeom prst="rect">
            <a:avLst/>
          </a:prstGeom>
          <a:noFill/>
          <a:ln/>
        </p:spPr>
        <p:txBody>
          <a:bodyPr wrap="square" lIns="0" tIns="0" rIns="0" bIns="0" rtlCol="0" anchor="ctr"/>
          <a:lstStyle/>
          <a:p>
            <a:pPr marL="0" indent="0" algn="ctr">
              <a:buNone/>
            </a:pPr>
            <a:r>
              <a:rPr lang="en-US" sz="900" dirty="0">
                <a:solidFill>
                  <a:srgbClr val="111111"/>
                </a:solidFill>
                <a:latin typeface="Courier New" pitchFamily="34" charset="0"/>
                <a:ea typeface="Courier New" pitchFamily="34" charset="-122"/>
                <a:cs typeface="Courier New" pitchFamily="34" charset="-120"/>
              </a:rPr>
              <a:t>1 AUTOCOMPLETE</a:t>
            </a:r>
            <a:endParaRPr lang="en-US" sz="900" dirty="0"/>
          </a:p>
        </p:txBody>
      </p:sp>
      <p:sp>
        <p:nvSpPr>
          <p:cNvPr id="22" name="Shape 20"/>
          <p:cNvSpPr/>
          <p:nvPr/>
        </p:nvSpPr>
        <p:spPr>
          <a:xfrm>
            <a:off x="3096158" y="6181344"/>
            <a:ext cx="164592" cy="164592"/>
          </a:xfrm>
          <a:prstGeom prst="rect">
            <a:avLst/>
          </a:prstGeom>
          <a:solidFill>
            <a:srgbClr val="111111"/>
          </a:solidFill>
          <a:ln w="19050">
            <a:solidFill>
              <a:srgbClr val="111111"/>
            </a:solidFill>
            <a:prstDash val="solid"/>
          </a:ln>
        </p:spPr>
        <p:txBody>
          <a:bodyPr/>
          <a:lstStyle/>
          <a:p>
            <a:endParaRPr lang="en-US"/>
          </a:p>
        </p:txBody>
      </p:sp>
      <p:sp>
        <p:nvSpPr>
          <p:cNvPr id="23" name="Text 21"/>
          <p:cNvSpPr/>
          <p:nvPr/>
        </p:nvSpPr>
        <p:spPr>
          <a:xfrm>
            <a:off x="2264054" y="6446520"/>
            <a:ext cx="1828800" cy="256032"/>
          </a:xfrm>
          <a:prstGeom prst="rect">
            <a:avLst/>
          </a:prstGeom>
          <a:noFill/>
          <a:ln/>
        </p:spPr>
        <p:txBody>
          <a:bodyPr wrap="square" lIns="0" tIns="0" rIns="0" bIns="0" rtlCol="0" anchor="ctr"/>
          <a:lstStyle/>
          <a:p>
            <a:pPr marL="0" indent="0" algn="ctr">
              <a:buNone/>
            </a:pPr>
            <a:r>
              <a:rPr lang="en-US" sz="900" dirty="0">
                <a:solidFill>
                  <a:srgbClr val="111111"/>
                </a:solidFill>
                <a:latin typeface="Courier New" pitchFamily="34" charset="0"/>
                <a:ea typeface="Courier New" pitchFamily="34" charset="-122"/>
                <a:cs typeface="Courier New" pitchFamily="34" charset="-120"/>
              </a:rPr>
              <a:t>2 COPILOT</a:t>
            </a:r>
            <a:endParaRPr lang="en-US" sz="900" dirty="0"/>
          </a:p>
        </p:txBody>
      </p:sp>
      <p:sp>
        <p:nvSpPr>
          <p:cNvPr id="24" name="Shape 22"/>
          <p:cNvSpPr/>
          <p:nvPr/>
        </p:nvSpPr>
        <p:spPr>
          <a:xfrm>
            <a:off x="5040173" y="6181344"/>
            <a:ext cx="164592" cy="164592"/>
          </a:xfrm>
          <a:prstGeom prst="rect">
            <a:avLst/>
          </a:prstGeom>
          <a:solidFill>
            <a:srgbClr val="111111"/>
          </a:solidFill>
          <a:ln w="19050">
            <a:solidFill>
              <a:srgbClr val="111111"/>
            </a:solidFill>
            <a:prstDash val="solid"/>
          </a:ln>
        </p:spPr>
        <p:txBody>
          <a:bodyPr/>
          <a:lstStyle/>
          <a:p>
            <a:endParaRPr lang="en-US"/>
          </a:p>
        </p:txBody>
      </p:sp>
      <p:sp>
        <p:nvSpPr>
          <p:cNvPr id="25" name="Text 23"/>
          <p:cNvSpPr/>
          <p:nvPr/>
        </p:nvSpPr>
        <p:spPr>
          <a:xfrm>
            <a:off x="4208069" y="6446520"/>
            <a:ext cx="1828800" cy="256032"/>
          </a:xfrm>
          <a:prstGeom prst="rect">
            <a:avLst/>
          </a:prstGeom>
          <a:noFill/>
          <a:ln/>
        </p:spPr>
        <p:txBody>
          <a:bodyPr wrap="square" lIns="0" tIns="0" rIns="0" bIns="0" rtlCol="0" anchor="ctr"/>
          <a:lstStyle/>
          <a:p>
            <a:pPr marL="0" indent="0" algn="ctr">
              <a:buNone/>
            </a:pPr>
            <a:r>
              <a:rPr lang="en-US" sz="900" dirty="0">
                <a:solidFill>
                  <a:srgbClr val="111111"/>
                </a:solidFill>
                <a:latin typeface="Courier New" pitchFamily="34" charset="0"/>
                <a:ea typeface="Courier New" pitchFamily="34" charset="-122"/>
                <a:cs typeface="Courier New" pitchFamily="34" charset="-120"/>
              </a:rPr>
              <a:t>3 CHAT</a:t>
            </a:r>
            <a:endParaRPr lang="en-US" sz="900" dirty="0"/>
          </a:p>
        </p:txBody>
      </p:sp>
      <p:sp>
        <p:nvSpPr>
          <p:cNvPr id="26" name="Shape 24"/>
          <p:cNvSpPr/>
          <p:nvPr/>
        </p:nvSpPr>
        <p:spPr>
          <a:xfrm>
            <a:off x="6929323" y="6126480"/>
            <a:ext cx="274320" cy="274320"/>
          </a:xfrm>
          <a:prstGeom prst="rect">
            <a:avLst/>
          </a:prstGeom>
          <a:solidFill>
            <a:srgbClr val="E1462C"/>
          </a:solidFill>
          <a:ln w="19050">
            <a:solidFill>
              <a:srgbClr val="111111"/>
            </a:solidFill>
            <a:prstDash val="solid"/>
          </a:ln>
        </p:spPr>
        <p:txBody>
          <a:bodyPr/>
          <a:lstStyle/>
          <a:p>
            <a:endParaRPr lang="en-US"/>
          </a:p>
        </p:txBody>
      </p:sp>
      <p:sp>
        <p:nvSpPr>
          <p:cNvPr id="27" name="Text 25"/>
          <p:cNvSpPr/>
          <p:nvPr/>
        </p:nvSpPr>
        <p:spPr>
          <a:xfrm>
            <a:off x="6152083" y="6446520"/>
            <a:ext cx="1828800" cy="256032"/>
          </a:xfrm>
          <a:prstGeom prst="rect">
            <a:avLst/>
          </a:prstGeom>
          <a:noFill/>
          <a:ln/>
        </p:spPr>
        <p:txBody>
          <a:bodyPr wrap="square" lIns="0" tIns="0" rIns="0" bIns="0" rtlCol="0" anchor="ctr"/>
          <a:lstStyle/>
          <a:p>
            <a:pPr marL="0" indent="0" algn="ctr">
              <a:buNone/>
            </a:pPr>
            <a:r>
              <a:rPr lang="en-US" sz="900" b="1" dirty="0">
                <a:solidFill>
                  <a:srgbClr val="111111"/>
                </a:solidFill>
                <a:latin typeface="Courier New" pitchFamily="34" charset="0"/>
                <a:ea typeface="Courier New" pitchFamily="34" charset="-122"/>
                <a:cs typeface="Courier New" pitchFamily="34" charset="-120"/>
              </a:rPr>
              <a:t>4 VIBE CODING</a:t>
            </a:r>
            <a:endParaRPr lang="en-US" sz="900" dirty="0"/>
          </a:p>
        </p:txBody>
      </p:sp>
      <p:sp>
        <p:nvSpPr>
          <p:cNvPr id="28" name="Shape 26"/>
          <p:cNvSpPr/>
          <p:nvPr/>
        </p:nvSpPr>
        <p:spPr>
          <a:xfrm>
            <a:off x="8928202" y="6181344"/>
            <a:ext cx="164592" cy="164592"/>
          </a:xfrm>
          <a:prstGeom prst="rect">
            <a:avLst/>
          </a:prstGeom>
          <a:noFill/>
          <a:ln w="19050">
            <a:solidFill>
              <a:srgbClr val="111111"/>
            </a:solidFill>
            <a:prstDash val="solid"/>
          </a:ln>
        </p:spPr>
        <p:txBody>
          <a:bodyPr/>
          <a:lstStyle/>
          <a:p>
            <a:endParaRPr lang="en-US"/>
          </a:p>
        </p:txBody>
      </p:sp>
      <p:sp>
        <p:nvSpPr>
          <p:cNvPr id="29" name="Text 27"/>
          <p:cNvSpPr/>
          <p:nvPr/>
        </p:nvSpPr>
        <p:spPr>
          <a:xfrm>
            <a:off x="8096098" y="6446520"/>
            <a:ext cx="1828800" cy="256032"/>
          </a:xfrm>
          <a:prstGeom prst="rect">
            <a:avLst/>
          </a:prstGeom>
          <a:noFill/>
          <a:ln/>
        </p:spPr>
        <p:txBody>
          <a:bodyPr wrap="square" lIns="0" tIns="0" rIns="0" bIns="0" rtlCol="0" anchor="ctr"/>
          <a:lstStyle/>
          <a:p>
            <a:pPr marL="0" indent="0" algn="ctr">
              <a:buNone/>
            </a:pPr>
            <a:r>
              <a:rPr lang="en-US" sz="900" dirty="0">
                <a:solidFill>
                  <a:srgbClr val="111111"/>
                </a:solidFill>
                <a:latin typeface="Courier New" pitchFamily="34" charset="0"/>
                <a:ea typeface="Courier New" pitchFamily="34" charset="-122"/>
                <a:cs typeface="Courier New" pitchFamily="34" charset="-120"/>
              </a:rPr>
              <a:t>5 TWO AGENTS</a:t>
            </a:r>
            <a:endParaRPr lang="en-US" sz="900" dirty="0"/>
          </a:p>
        </p:txBody>
      </p:sp>
      <p:sp>
        <p:nvSpPr>
          <p:cNvPr id="30" name="Shape 28"/>
          <p:cNvSpPr/>
          <p:nvPr/>
        </p:nvSpPr>
        <p:spPr>
          <a:xfrm>
            <a:off x="10872216" y="6181344"/>
            <a:ext cx="164592" cy="164592"/>
          </a:xfrm>
          <a:prstGeom prst="rect">
            <a:avLst/>
          </a:prstGeom>
          <a:noFill/>
          <a:ln w="19050">
            <a:solidFill>
              <a:srgbClr val="111111"/>
            </a:solidFill>
            <a:prstDash val="solid"/>
          </a:ln>
        </p:spPr>
        <p:txBody>
          <a:bodyPr/>
          <a:lstStyle/>
          <a:p>
            <a:endParaRPr lang="en-US"/>
          </a:p>
        </p:txBody>
      </p:sp>
      <p:sp>
        <p:nvSpPr>
          <p:cNvPr id="31" name="Text 29"/>
          <p:cNvSpPr/>
          <p:nvPr/>
        </p:nvSpPr>
        <p:spPr>
          <a:xfrm>
            <a:off x="10040112" y="6446520"/>
            <a:ext cx="1828800" cy="256032"/>
          </a:xfrm>
          <a:prstGeom prst="rect">
            <a:avLst/>
          </a:prstGeom>
          <a:noFill/>
          <a:ln/>
        </p:spPr>
        <p:txBody>
          <a:bodyPr wrap="square" lIns="0" tIns="0" rIns="0" bIns="0" rtlCol="0" anchor="ctr"/>
          <a:lstStyle/>
          <a:p>
            <a:pPr marL="0" indent="0" algn="ctr">
              <a:buNone/>
            </a:pPr>
            <a:r>
              <a:rPr lang="en-US" sz="900" dirty="0">
                <a:solidFill>
                  <a:srgbClr val="111111"/>
                </a:solidFill>
                <a:latin typeface="Courier New" pitchFamily="34" charset="0"/>
                <a:ea typeface="Courier New" pitchFamily="34" charset="-122"/>
                <a:cs typeface="Courier New" pitchFamily="34" charset="-120"/>
              </a:rPr>
              <a:t>6 LOOPS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EFE9"/>
        </a:solidFill>
        <a:effectLst/>
      </p:bgPr>
    </p:bg>
    <p:spTree>
      <p:nvGrpSpPr>
        <p:cNvPr id="1" name=""/>
        <p:cNvGrpSpPr/>
        <p:nvPr/>
      </p:nvGrpSpPr>
      <p:grpSpPr>
        <a:xfrm>
          <a:off x="0" y="0"/>
          <a:ext cx="0" cy="0"/>
          <a:chOff x="0" y="0"/>
          <a:chExt cx="0" cy="0"/>
        </a:xfrm>
      </p:grpSpPr>
      <p:sp>
        <p:nvSpPr>
          <p:cNvPr id="2" name="Text 0"/>
          <p:cNvSpPr/>
          <p:nvPr/>
        </p:nvSpPr>
        <p:spPr>
          <a:xfrm>
            <a:off x="11430000" y="182880"/>
            <a:ext cx="594360" cy="274320"/>
          </a:xfrm>
          <a:prstGeom prst="rect">
            <a:avLst/>
          </a:prstGeom>
          <a:noFill/>
          <a:ln/>
        </p:spPr>
        <p:txBody>
          <a:bodyPr wrap="square" lIns="0" tIns="0" rIns="0" bIns="0" rtlCol="0" anchor="ctr"/>
          <a:lstStyle/>
          <a:p>
            <a:pPr marL="0" indent="0" algn="r">
              <a:buNone/>
            </a:pPr>
            <a:r>
              <a:rPr lang="en-US" sz="1000" dirty="0">
                <a:solidFill>
                  <a:srgbClr val="111111"/>
                </a:solidFill>
                <a:latin typeface="Courier New" pitchFamily="34" charset="0"/>
                <a:ea typeface="Courier New" pitchFamily="34" charset="-122"/>
                <a:cs typeface="Courier New" pitchFamily="34" charset="-120"/>
              </a:rPr>
              <a:t>07</a:t>
            </a:r>
            <a:endParaRPr lang="en-US" sz="1000" dirty="0"/>
          </a:p>
        </p:txBody>
      </p:sp>
      <p:sp>
        <p:nvSpPr>
          <p:cNvPr id="3" name="Text 1"/>
          <p:cNvSpPr/>
          <p:nvPr/>
        </p:nvSpPr>
        <p:spPr>
          <a:xfrm>
            <a:off x="566928" y="502920"/>
            <a:ext cx="4572000" cy="274320"/>
          </a:xfrm>
          <a:prstGeom prst="rect">
            <a:avLst/>
          </a:prstGeom>
          <a:noFill/>
          <a:ln/>
        </p:spPr>
        <p:txBody>
          <a:bodyPr wrap="square" lIns="0" tIns="0" rIns="0" bIns="0" rtlCol="0" anchor="ctr"/>
          <a:lstStyle/>
          <a:p>
            <a:pPr marL="0" indent="0" algn="l">
              <a:buNone/>
            </a:pPr>
            <a:r>
              <a:rPr lang="en-US" sz="1200" b="1" dirty="0">
                <a:solidFill>
                  <a:srgbClr val="E1462C"/>
                </a:solidFill>
                <a:latin typeface="Courier New" pitchFamily="34" charset="0"/>
                <a:ea typeface="Courier New" pitchFamily="34" charset="-122"/>
                <a:cs typeface="Courier New" pitchFamily="34" charset="-120"/>
              </a:rPr>
              <a:t>AND THEN IT BROKE</a:t>
            </a:r>
            <a:endParaRPr lang="en-US" sz="1200" dirty="0"/>
          </a:p>
        </p:txBody>
      </p:sp>
      <p:sp>
        <p:nvSpPr>
          <p:cNvPr id="4" name="Text 2"/>
          <p:cNvSpPr/>
          <p:nvPr/>
        </p:nvSpPr>
        <p:spPr>
          <a:xfrm>
            <a:off x="548640" y="868680"/>
            <a:ext cx="11155680" cy="1051560"/>
          </a:xfrm>
          <a:prstGeom prst="rect">
            <a:avLst/>
          </a:prstGeom>
          <a:noFill/>
          <a:ln/>
        </p:spPr>
        <p:txBody>
          <a:bodyPr wrap="square" lIns="0" tIns="0" rIns="0" bIns="0" rtlCol="0" anchor="t"/>
          <a:lstStyle/>
          <a:p>
            <a:pPr marL="0" indent="0">
              <a:buNone/>
            </a:pPr>
            <a:r>
              <a:rPr lang="en-US" sz="4600" b="1" dirty="0">
                <a:solidFill>
                  <a:srgbClr val="111111"/>
                </a:solidFill>
                <a:latin typeface="Arial" pitchFamily="34" charset="0"/>
                <a:ea typeface="Arial" pitchFamily="34" charset="-122"/>
                <a:cs typeface="Arial" pitchFamily="34" charset="-120"/>
              </a:rPr>
              <a:t>ONE AGENT WASN'T ENOUGH</a:t>
            </a:r>
            <a:endParaRPr lang="en-US" sz="4600" dirty="0"/>
          </a:p>
        </p:txBody>
      </p:sp>
      <p:sp>
        <p:nvSpPr>
          <p:cNvPr id="5" name="Shape 3"/>
          <p:cNvSpPr/>
          <p:nvPr/>
        </p:nvSpPr>
        <p:spPr>
          <a:xfrm>
            <a:off x="566928" y="2377440"/>
            <a:ext cx="310896" cy="310896"/>
          </a:xfrm>
          <a:prstGeom prst="rect">
            <a:avLst/>
          </a:prstGeom>
          <a:solidFill>
            <a:srgbClr val="E1462C"/>
          </a:solidFill>
          <a:ln w="19050">
            <a:solidFill>
              <a:srgbClr val="111111"/>
            </a:solidFill>
            <a:prstDash val="solid"/>
          </a:ln>
        </p:spPr>
        <p:txBody>
          <a:bodyPr/>
          <a:lstStyle/>
          <a:p>
            <a:endParaRPr lang="en-US"/>
          </a:p>
        </p:txBody>
      </p:sp>
      <p:sp>
        <p:nvSpPr>
          <p:cNvPr id="6" name="Text 4"/>
          <p:cNvSpPr/>
          <p:nvPr/>
        </p:nvSpPr>
        <p:spPr>
          <a:xfrm>
            <a:off x="1143000" y="2331720"/>
            <a:ext cx="2834640" cy="411480"/>
          </a:xfrm>
          <a:prstGeom prst="rect">
            <a:avLst/>
          </a:prstGeom>
          <a:noFill/>
          <a:ln/>
        </p:spPr>
        <p:txBody>
          <a:bodyPr wrap="square" lIns="0" tIns="0" rIns="0" bIns="0" rtlCol="0" anchor="ctr"/>
          <a:lstStyle/>
          <a:p>
            <a:pPr marL="0" indent="0">
              <a:buNone/>
            </a:pPr>
            <a:r>
              <a:rPr lang="en-US" sz="1900" b="1" dirty="0">
                <a:solidFill>
                  <a:srgbClr val="111111"/>
                </a:solidFill>
                <a:latin typeface="Arial" pitchFamily="34" charset="0"/>
                <a:ea typeface="Arial" pitchFamily="34" charset="-122"/>
                <a:cs typeface="Arial" pitchFamily="34" charset="-120"/>
              </a:rPr>
              <a:t>THE WAIT</a:t>
            </a:r>
            <a:endParaRPr lang="en-US" sz="1900" dirty="0"/>
          </a:p>
        </p:txBody>
      </p:sp>
      <p:sp>
        <p:nvSpPr>
          <p:cNvPr id="7" name="Text 5"/>
          <p:cNvSpPr/>
          <p:nvPr/>
        </p:nvSpPr>
        <p:spPr>
          <a:xfrm>
            <a:off x="4114800" y="2359152"/>
            <a:ext cx="7589520" cy="411480"/>
          </a:xfrm>
          <a:prstGeom prst="rect">
            <a:avLst/>
          </a:prstGeom>
          <a:noFill/>
          <a:ln/>
        </p:spPr>
        <p:txBody>
          <a:bodyPr wrap="square" lIns="0" tIns="0" rIns="0" bIns="0" rtlCol="0" anchor="ctr"/>
          <a:lstStyle/>
          <a:p>
            <a:pPr marL="0" indent="0">
              <a:buNone/>
            </a:pPr>
            <a:r>
              <a:rPr lang="en-US" sz="1800" dirty="0">
                <a:solidFill>
                  <a:srgbClr val="111111"/>
                </a:solidFill>
                <a:latin typeface="Arial" pitchFamily="34" charset="0"/>
                <a:ea typeface="Arial" pitchFamily="34" charset="-122"/>
                <a:cs typeface="Arial" pitchFamily="34" charset="-120"/>
              </a:rPr>
              <a:t>You sat there for ten minutes with no idea what it was doing.</a:t>
            </a:r>
            <a:endParaRPr lang="en-US" sz="1800" dirty="0"/>
          </a:p>
        </p:txBody>
      </p:sp>
      <p:sp>
        <p:nvSpPr>
          <p:cNvPr id="8" name="Shape 6"/>
          <p:cNvSpPr/>
          <p:nvPr/>
        </p:nvSpPr>
        <p:spPr>
          <a:xfrm>
            <a:off x="566928" y="3182112"/>
            <a:ext cx="310896" cy="310896"/>
          </a:xfrm>
          <a:prstGeom prst="rect">
            <a:avLst/>
          </a:prstGeom>
          <a:solidFill>
            <a:srgbClr val="E1462C"/>
          </a:solidFill>
          <a:ln w="19050">
            <a:solidFill>
              <a:srgbClr val="111111"/>
            </a:solidFill>
            <a:prstDash val="solid"/>
          </a:ln>
        </p:spPr>
        <p:txBody>
          <a:bodyPr/>
          <a:lstStyle/>
          <a:p>
            <a:endParaRPr lang="en-US"/>
          </a:p>
        </p:txBody>
      </p:sp>
      <p:sp>
        <p:nvSpPr>
          <p:cNvPr id="9" name="Text 7"/>
          <p:cNvSpPr/>
          <p:nvPr/>
        </p:nvSpPr>
        <p:spPr>
          <a:xfrm>
            <a:off x="1143000" y="3136392"/>
            <a:ext cx="2834640" cy="411480"/>
          </a:xfrm>
          <a:prstGeom prst="rect">
            <a:avLst/>
          </a:prstGeom>
          <a:noFill/>
          <a:ln/>
        </p:spPr>
        <p:txBody>
          <a:bodyPr wrap="square" lIns="0" tIns="0" rIns="0" bIns="0" rtlCol="0" anchor="ctr"/>
          <a:lstStyle/>
          <a:p>
            <a:pPr marL="0" indent="0">
              <a:buNone/>
            </a:pPr>
            <a:r>
              <a:rPr lang="en-US" sz="1900" b="1" dirty="0">
                <a:solidFill>
                  <a:srgbClr val="111111"/>
                </a:solidFill>
                <a:latin typeface="Arial" pitchFamily="34" charset="0"/>
                <a:ea typeface="Arial" pitchFamily="34" charset="-122"/>
                <a:cs typeface="Arial" pitchFamily="34" charset="-120"/>
              </a:rPr>
              <a:t>THE FORGETTING</a:t>
            </a:r>
            <a:endParaRPr lang="en-US" sz="1900" dirty="0"/>
          </a:p>
        </p:txBody>
      </p:sp>
      <p:sp>
        <p:nvSpPr>
          <p:cNvPr id="10" name="Text 8"/>
          <p:cNvSpPr/>
          <p:nvPr/>
        </p:nvSpPr>
        <p:spPr>
          <a:xfrm>
            <a:off x="4114800" y="3163824"/>
            <a:ext cx="7589520" cy="411480"/>
          </a:xfrm>
          <a:prstGeom prst="rect">
            <a:avLst/>
          </a:prstGeom>
          <a:noFill/>
          <a:ln/>
        </p:spPr>
        <p:txBody>
          <a:bodyPr wrap="square" lIns="0" tIns="0" rIns="0" bIns="0" rtlCol="0" anchor="ctr"/>
          <a:lstStyle/>
          <a:p>
            <a:pPr marL="0" indent="0">
              <a:buNone/>
            </a:pPr>
            <a:r>
              <a:rPr lang="en-US" sz="1800" dirty="0">
                <a:solidFill>
                  <a:srgbClr val="111111"/>
                </a:solidFill>
                <a:latin typeface="Arial" pitchFamily="34" charset="0"/>
                <a:ea typeface="Arial" pitchFamily="34" charset="-122"/>
                <a:cs typeface="Arial" pitchFamily="34" charset="-120"/>
              </a:rPr>
              <a:t>It ran out of memory halfway and forgot why it started.</a:t>
            </a:r>
            <a:endParaRPr lang="en-US" sz="1800" dirty="0"/>
          </a:p>
        </p:txBody>
      </p:sp>
      <p:sp>
        <p:nvSpPr>
          <p:cNvPr id="11" name="Shape 9"/>
          <p:cNvSpPr/>
          <p:nvPr/>
        </p:nvSpPr>
        <p:spPr>
          <a:xfrm>
            <a:off x="566928" y="3986784"/>
            <a:ext cx="310896" cy="310896"/>
          </a:xfrm>
          <a:prstGeom prst="rect">
            <a:avLst/>
          </a:prstGeom>
          <a:solidFill>
            <a:srgbClr val="E1462C"/>
          </a:solidFill>
          <a:ln w="19050">
            <a:solidFill>
              <a:srgbClr val="111111"/>
            </a:solidFill>
            <a:prstDash val="solid"/>
          </a:ln>
        </p:spPr>
        <p:txBody>
          <a:bodyPr/>
          <a:lstStyle/>
          <a:p>
            <a:endParaRPr lang="en-US"/>
          </a:p>
        </p:txBody>
      </p:sp>
      <p:sp>
        <p:nvSpPr>
          <p:cNvPr id="12" name="Text 10"/>
          <p:cNvSpPr/>
          <p:nvPr/>
        </p:nvSpPr>
        <p:spPr>
          <a:xfrm>
            <a:off x="1143000" y="3941064"/>
            <a:ext cx="2834640" cy="411480"/>
          </a:xfrm>
          <a:prstGeom prst="rect">
            <a:avLst/>
          </a:prstGeom>
          <a:noFill/>
          <a:ln/>
        </p:spPr>
        <p:txBody>
          <a:bodyPr wrap="square" lIns="0" tIns="0" rIns="0" bIns="0" rtlCol="0" anchor="ctr"/>
          <a:lstStyle/>
          <a:p>
            <a:pPr marL="0" indent="0">
              <a:buNone/>
            </a:pPr>
            <a:r>
              <a:rPr lang="en-US" sz="1900" b="1" dirty="0">
                <a:solidFill>
                  <a:srgbClr val="111111"/>
                </a:solidFill>
                <a:latin typeface="Arial" pitchFamily="34" charset="0"/>
                <a:ea typeface="Arial" pitchFamily="34" charset="-122"/>
                <a:cs typeface="Arial" pitchFamily="34" charset="-120"/>
              </a:rPr>
              <a:t>THE ERROR</a:t>
            </a:r>
            <a:endParaRPr lang="en-US" sz="1900" dirty="0"/>
          </a:p>
        </p:txBody>
      </p:sp>
      <p:sp>
        <p:nvSpPr>
          <p:cNvPr id="13" name="Text 11"/>
          <p:cNvSpPr/>
          <p:nvPr/>
        </p:nvSpPr>
        <p:spPr>
          <a:xfrm>
            <a:off x="4114800" y="3968496"/>
            <a:ext cx="7589520" cy="411480"/>
          </a:xfrm>
          <a:prstGeom prst="rect">
            <a:avLst/>
          </a:prstGeom>
          <a:noFill/>
          <a:ln/>
        </p:spPr>
        <p:txBody>
          <a:bodyPr wrap="square" lIns="0" tIns="0" rIns="0" bIns="0" rtlCol="0" anchor="ctr"/>
          <a:lstStyle/>
          <a:p>
            <a:pPr marL="0" indent="0">
              <a:buNone/>
            </a:pPr>
            <a:r>
              <a:rPr lang="en-US" sz="1800" dirty="0">
                <a:solidFill>
                  <a:srgbClr val="111111"/>
                </a:solidFill>
                <a:latin typeface="Arial" pitchFamily="34" charset="0"/>
                <a:ea typeface="Arial" pitchFamily="34" charset="-122"/>
                <a:cs typeface="Arial" pitchFamily="34" charset="-120"/>
              </a:rPr>
              <a:t>Something failed — and it had no way to know that it failed.</a:t>
            </a:r>
            <a:endParaRPr lang="en-US" sz="1800" dirty="0"/>
          </a:p>
        </p:txBody>
      </p:sp>
      <p:sp>
        <p:nvSpPr>
          <p:cNvPr id="14" name="Shape 12"/>
          <p:cNvSpPr/>
          <p:nvPr/>
        </p:nvSpPr>
        <p:spPr>
          <a:xfrm>
            <a:off x="566928" y="4791456"/>
            <a:ext cx="310896" cy="310896"/>
          </a:xfrm>
          <a:prstGeom prst="rect">
            <a:avLst/>
          </a:prstGeom>
          <a:solidFill>
            <a:srgbClr val="E1462C"/>
          </a:solidFill>
          <a:ln w="19050">
            <a:solidFill>
              <a:srgbClr val="111111"/>
            </a:solidFill>
            <a:prstDash val="solid"/>
          </a:ln>
        </p:spPr>
        <p:txBody>
          <a:bodyPr/>
          <a:lstStyle/>
          <a:p>
            <a:endParaRPr lang="en-US"/>
          </a:p>
        </p:txBody>
      </p:sp>
      <p:sp>
        <p:nvSpPr>
          <p:cNvPr id="15" name="Text 13"/>
          <p:cNvSpPr/>
          <p:nvPr/>
        </p:nvSpPr>
        <p:spPr>
          <a:xfrm>
            <a:off x="1143000" y="4745736"/>
            <a:ext cx="2834640" cy="411480"/>
          </a:xfrm>
          <a:prstGeom prst="rect">
            <a:avLst/>
          </a:prstGeom>
          <a:noFill/>
          <a:ln/>
        </p:spPr>
        <p:txBody>
          <a:bodyPr wrap="square" lIns="0" tIns="0" rIns="0" bIns="0" rtlCol="0" anchor="ctr"/>
          <a:lstStyle/>
          <a:p>
            <a:pPr marL="0" indent="0">
              <a:buNone/>
            </a:pPr>
            <a:r>
              <a:rPr lang="en-US" sz="1900" b="1" dirty="0">
                <a:solidFill>
                  <a:srgbClr val="111111"/>
                </a:solidFill>
                <a:latin typeface="Arial" pitchFamily="34" charset="0"/>
                <a:ea typeface="Arial" pitchFamily="34" charset="-122"/>
                <a:cs typeface="Arial" pitchFamily="34" charset="-120"/>
              </a:rPr>
              <a:t>THE REVIEW</a:t>
            </a:r>
            <a:endParaRPr lang="en-US" sz="1900" dirty="0"/>
          </a:p>
        </p:txBody>
      </p:sp>
      <p:sp>
        <p:nvSpPr>
          <p:cNvPr id="16" name="Text 14"/>
          <p:cNvSpPr/>
          <p:nvPr/>
        </p:nvSpPr>
        <p:spPr>
          <a:xfrm>
            <a:off x="4114800" y="4773168"/>
            <a:ext cx="7589520" cy="411480"/>
          </a:xfrm>
          <a:prstGeom prst="rect">
            <a:avLst/>
          </a:prstGeom>
          <a:noFill/>
          <a:ln/>
        </p:spPr>
        <p:txBody>
          <a:bodyPr wrap="square" lIns="0" tIns="0" rIns="0" bIns="0" rtlCol="0" anchor="ctr"/>
          <a:lstStyle/>
          <a:p>
            <a:pPr marL="0" indent="0">
              <a:buNone/>
            </a:pPr>
            <a:r>
              <a:rPr lang="en-US" sz="1800" dirty="0">
                <a:solidFill>
                  <a:srgbClr val="111111"/>
                </a:solidFill>
                <a:latin typeface="Arial" pitchFamily="34" charset="0"/>
                <a:ea typeface="Arial" pitchFamily="34" charset="-122"/>
                <a:cs typeface="Arial" pitchFamily="34" charset="-120"/>
              </a:rPr>
              <a:t>All of it landed on you, at the end, all at once.</a:t>
            </a:r>
            <a:endParaRPr lang="en-US" sz="1800" dirty="0"/>
          </a:p>
        </p:txBody>
      </p:sp>
      <p:sp>
        <p:nvSpPr>
          <p:cNvPr id="17" name="Text 15"/>
          <p:cNvSpPr/>
          <p:nvPr/>
        </p:nvSpPr>
        <p:spPr>
          <a:xfrm>
            <a:off x="548640" y="5806440"/>
            <a:ext cx="10972800" cy="548640"/>
          </a:xfrm>
          <a:prstGeom prst="rect">
            <a:avLst/>
          </a:prstGeom>
          <a:noFill/>
          <a:ln/>
        </p:spPr>
        <p:txBody>
          <a:bodyPr wrap="square" lIns="0" tIns="0" rIns="0" bIns="0" rtlCol="0" anchor="ctr"/>
          <a:lstStyle/>
          <a:p>
            <a:pPr marL="0" indent="0">
              <a:buNone/>
            </a:pPr>
            <a:r>
              <a:rPr lang="en-US" sz="2100" b="1" dirty="0">
                <a:solidFill>
                  <a:srgbClr val="E1462C"/>
                </a:solidFill>
                <a:latin typeface="Arial" pitchFamily="34" charset="0"/>
                <a:ea typeface="Arial" pitchFamily="34" charset="-122"/>
                <a:cs typeface="Arial" pitchFamily="34" charset="-120"/>
              </a:rPr>
              <a:t>So people asked: what if a second AI checked the first one?</a:t>
            </a:r>
            <a:endParaRPr lang="en-US"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EFE9"/>
        </a:solidFill>
        <a:effectLst/>
      </p:bgPr>
    </p:bg>
    <p:spTree>
      <p:nvGrpSpPr>
        <p:cNvPr id="1" name=""/>
        <p:cNvGrpSpPr/>
        <p:nvPr/>
      </p:nvGrpSpPr>
      <p:grpSpPr>
        <a:xfrm>
          <a:off x="0" y="0"/>
          <a:ext cx="0" cy="0"/>
          <a:chOff x="0" y="0"/>
          <a:chExt cx="0" cy="0"/>
        </a:xfrm>
      </p:grpSpPr>
      <p:sp>
        <p:nvSpPr>
          <p:cNvPr id="2" name="Text 0"/>
          <p:cNvSpPr/>
          <p:nvPr/>
        </p:nvSpPr>
        <p:spPr>
          <a:xfrm>
            <a:off x="11430000" y="182880"/>
            <a:ext cx="594360" cy="274320"/>
          </a:xfrm>
          <a:prstGeom prst="rect">
            <a:avLst/>
          </a:prstGeom>
          <a:noFill/>
          <a:ln/>
        </p:spPr>
        <p:txBody>
          <a:bodyPr wrap="square" lIns="0" tIns="0" rIns="0" bIns="0" rtlCol="0" anchor="ctr"/>
          <a:lstStyle/>
          <a:p>
            <a:pPr marL="0" indent="0" algn="r">
              <a:buNone/>
            </a:pPr>
            <a:r>
              <a:rPr lang="en-US" sz="1000" dirty="0">
                <a:solidFill>
                  <a:srgbClr val="111111"/>
                </a:solidFill>
                <a:latin typeface="Courier New" pitchFamily="34" charset="0"/>
                <a:ea typeface="Courier New" pitchFamily="34" charset="-122"/>
                <a:cs typeface="Courier New" pitchFamily="34" charset="-120"/>
              </a:rPr>
              <a:t>08</a:t>
            </a:r>
            <a:endParaRPr lang="en-US" sz="1000" dirty="0"/>
          </a:p>
        </p:txBody>
      </p:sp>
      <p:sp>
        <p:nvSpPr>
          <p:cNvPr id="3" name="Text 1"/>
          <p:cNvSpPr/>
          <p:nvPr/>
        </p:nvSpPr>
        <p:spPr>
          <a:xfrm>
            <a:off x="566928" y="402336"/>
            <a:ext cx="2743200" cy="274320"/>
          </a:xfrm>
          <a:prstGeom prst="rect">
            <a:avLst/>
          </a:prstGeom>
          <a:noFill/>
          <a:ln/>
        </p:spPr>
        <p:txBody>
          <a:bodyPr wrap="square" lIns="0" tIns="0" rIns="0" bIns="0" rtlCol="0" anchor="ctr"/>
          <a:lstStyle/>
          <a:p>
            <a:pPr marL="0" indent="0" algn="l">
              <a:buNone/>
            </a:pPr>
            <a:r>
              <a:rPr lang="en-US" sz="1000" dirty="0">
                <a:solidFill>
                  <a:srgbClr val="111111"/>
                </a:solidFill>
                <a:latin typeface="Courier New" pitchFamily="34" charset="0"/>
                <a:ea typeface="Courier New" pitchFamily="34" charset="-122"/>
                <a:cs typeface="Courier New" pitchFamily="34" charset="-120"/>
              </a:rPr>
              <a:t>STEP 5 OF 6</a:t>
            </a:r>
            <a:endParaRPr lang="en-US" sz="1000" dirty="0"/>
          </a:p>
        </p:txBody>
      </p:sp>
      <p:sp>
        <p:nvSpPr>
          <p:cNvPr id="4" name="Text 2"/>
          <p:cNvSpPr/>
          <p:nvPr/>
        </p:nvSpPr>
        <p:spPr>
          <a:xfrm>
            <a:off x="548640" y="749808"/>
            <a:ext cx="6400800" cy="1051560"/>
          </a:xfrm>
          <a:prstGeom prst="rect">
            <a:avLst/>
          </a:prstGeom>
          <a:noFill/>
          <a:ln/>
        </p:spPr>
        <p:txBody>
          <a:bodyPr wrap="square" lIns="0" tIns="0" rIns="0" bIns="0" rtlCol="0" anchor="t"/>
          <a:lstStyle/>
          <a:p>
            <a:pPr marL="0" indent="0">
              <a:buNone/>
            </a:pPr>
            <a:r>
              <a:rPr lang="en-US" sz="4200" b="1" dirty="0">
                <a:solidFill>
                  <a:srgbClr val="111111"/>
                </a:solidFill>
                <a:latin typeface="Arial" pitchFamily="34" charset="0"/>
                <a:ea typeface="Arial" pitchFamily="34" charset="-122"/>
                <a:cs typeface="Arial" pitchFamily="34" charset="-120"/>
              </a:rPr>
              <a:t>TWO AGENTS</a:t>
            </a:r>
            <a:endParaRPr lang="en-US" sz="4200" dirty="0"/>
          </a:p>
        </p:txBody>
      </p:sp>
      <p:sp>
        <p:nvSpPr>
          <p:cNvPr id="5" name="Text 3"/>
          <p:cNvSpPr/>
          <p:nvPr/>
        </p:nvSpPr>
        <p:spPr>
          <a:xfrm>
            <a:off x="566928" y="1901952"/>
            <a:ext cx="4572000" cy="274320"/>
          </a:xfrm>
          <a:prstGeom prst="rect">
            <a:avLst/>
          </a:prstGeom>
          <a:noFill/>
          <a:ln/>
        </p:spPr>
        <p:txBody>
          <a:bodyPr wrap="square" lIns="0" tIns="0" rIns="0" bIns="0" rtlCol="0" anchor="ctr"/>
          <a:lstStyle/>
          <a:p>
            <a:pPr marL="0" indent="0" algn="l">
              <a:buNone/>
            </a:pPr>
            <a:r>
              <a:rPr lang="en-US" sz="1200" b="1" dirty="0">
                <a:solidFill>
                  <a:srgbClr val="E1462C"/>
                </a:solidFill>
                <a:latin typeface="Courier New" pitchFamily="34" charset="0"/>
                <a:ea typeface="Courier New" pitchFamily="34" charset="-122"/>
                <a:cs typeface="Courier New" pitchFamily="34" charset="-120"/>
              </a:rPr>
              <a:t>2025  ·  MULTI-AGENT</a:t>
            </a:r>
            <a:endParaRPr lang="en-US" sz="1200" dirty="0"/>
          </a:p>
        </p:txBody>
      </p:sp>
      <p:sp>
        <p:nvSpPr>
          <p:cNvPr id="6" name="Text 4"/>
          <p:cNvSpPr/>
          <p:nvPr/>
        </p:nvSpPr>
        <p:spPr>
          <a:xfrm>
            <a:off x="548640" y="2395728"/>
            <a:ext cx="6035040" cy="1463040"/>
          </a:xfrm>
          <a:prstGeom prst="rect">
            <a:avLst/>
          </a:prstGeom>
          <a:noFill/>
          <a:ln/>
        </p:spPr>
        <p:txBody>
          <a:bodyPr wrap="square" lIns="0" tIns="0" rIns="0" bIns="0" rtlCol="0" anchor="t"/>
          <a:lstStyle/>
          <a:p>
            <a:pPr marL="0" indent="0">
              <a:buNone/>
            </a:pPr>
            <a:r>
              <a:rPr lang="en-US" sz="2500" dirty="0">
                <a:solidFill>
                  <a:srgbClr val="111111"/>
                </a:solidFill>
                <a:latin typeface="Arial" pitchFamily="34" charset="0"/>
                <a:ea typeface="Arial" pitchFamily="34" charset="-122"/>
                <a:cs typeface="Arial" pitchFamily="34" charset="-120"/>
              </a:rPr>
              <a:t>One AI writes the code. A second, separate AI reads it and grades it.</a:t>
            </a:r>
            <a:endParaRPr lang="en-US" sz="2500" dirty="0"/>
          </a:p>
        </p:txBody>
      </p:sp>
      <p:sp>
        <p:nvSpPr>
          <p:cNvPr id="7" name="Shape 5"/>
          <p:cNvSpPr/>
          <p:nvPr/>
        </p:nvSpPr>
        <p:spPr>
          <a:xfrm>
            <a:off x="566928" y="4114800"/>
            <a:ext cx="2926080" cy="0"/>
          </a:xfrm>
          <a:prstGeom prst="line">
            <a:avLst/>
          </a:prstGeom>
          <a:noFill/>
          <a:ln w="19050">
            <a:solidFill>
              <a:srgbClr val="111111"/>
            </a:solidFill>
            <a:prstDash val="solid"/>
          </a:ln>
        </p:spPr>
        <p:txBody>
          <a:bodyPr/>
          <a:lstStyle/>
          <a:p>
            <a:endParaRPr lang="en-US"/>
          </a:p>
        </p:txBody>
      </p:sp>
      <p:sp>
        <p:nvSpPr>
          <p:cNvPr id="8" name="Text 6"/>
          <p:cNvSpPr/>
          <p:nvPr/>
        </p:nvSpPr>
        <p:spPr>
          <a:xfrm>
            <a:off x="566928" y="4279392"/>
            <a:ext cx="2743200" cy="274320"/>
          </a:xfrm>
          <a:prstGeom prst="rect">
            <a:avLst/>
          </a:prstGeom>
          <a:noFill/>
          <a:ln/>
        </p:spPr>
        <p:txBody>
          <a:bodyPr wrap="square" lIns="0" tIns="0" rIns="0" bIns="0" rtlCol="0" anchor="ctr"/>
          <a:lstStyle/>
          <a:p>
            <a:pPr marL="0" indent="0" algn="l">
              <a:buNone/>
            </a:pPr>
            <a:r>
              <a:rPr lang="en-US" sz="1000" b="1" dirty="0">
                <a:solidFill>
                  <a:srgbClr val="111111"/>
                </a:solidFill>
                <a:latin typeface="Courier New" pitchFamily="34" charset="0"/>
                <a:ea typeface="Courier New" pitchFamily="34" charset="-122"/>
                <a:cs typeface="Courier New" pitchFamily="34" charset="-120"/>
              </a:rPr>
              <a:t>THE PROBLEM</a:t>
            </a:r>
            <a:endParaRPr lang="en-US" sz="1000" dirty="0"/>
          </a:p>
        </p:txBody>
      </p:sp>
      <p:sp>
        <p:nvSpPr>
          <p:cNvPr id="9" name="Text 7"/>
          <p:cNvSpPr/>
          <p:nvPr/>
        </p:nvSpPr>
        <p:spPr>
          <a:xfrm>
            <a:off x="548640" y="4617720"/>
            <a:ext cx="6035040" cy="1097280"/>
          </a:xfrm>
          <a:prstGeom prst="rect">
            <a:avLst/>
          </a:prstGeom>
          <a:noFill/>
          <a:ln/>
        </p:spPr>
        <p:txBody>
          <a:bodyPr wrap="square" lIns="0" tIns="0" rIns="0" bIns="0" rtlCol="0" anchor="t"/>
          <a:lstStyle/>
          <a:p>
            <a:pPr marL="0" indent="0">
              <a:buNone/>
            </a:pPr>
            <a:r>
              <a:rPr lang="en-US" sz="1900" b="1" dirty="0">
                <a:solidFill>
                  <a:srgbClr val="E1462C"/>
                </a:solidFill>
                <a:latin typeface="Arial" pitchFamily="34" charset="0"/>
                <a:ea typeface="Arial" pitchFamily="34" charset="-122"/>
                <a:cs typeface="Arial" pitchFamily="34" charset="-120"/>
              </a:rPr>
              <a:t>The check happens — but who decides what to do about it?</a:t>
            </a:r>
            <a:endParaRPr lang="en-US" sz="1900" dirty="0"/>
          </a:p>
        </p:txBody>
      </p:sp>
      <p:sp>
        <p:nvSpPr>
          <p:cNvPr id="10" name="Shape 8"/>
          <p:cNvSpPr/>
          <p:nvPr/>
        </p:nvSpPr>
        <p:spPr>
          <a:xfrm>
            <a:off x="7040880" y="2377440"/>
            <a:ext cx="2103120" cy="960120"/>
          </a:xfrm>
          <a:prstGeom prst="rect">
            <a:avLst/>
          </a:prstGeom>
          <a:solidFill>
            <a:srgbClr val="1B3FA0"/>
          </a:solidFill>
          <a:ln w="22225">
            <a:solidFill>
              <a:srgbClr val="111111"/>
            </a:solidFill>
            <a:prstDash val="solid"/>
          </a:ln>
        </p:spPr>
        <p:txBody>
          <a:bodyPr/>
          <a:lstStyle/>
          <a:p>
            <a:endParaRPr lang="en-US"/>
          </a:p>
        </p:txBody>
      </p:sp>
      <p:sp>
        <p:nvSpPr>
          <p:cNvPr id="11" name="Text 9"/>
          <p:cNvSpPr/>
          <p:nvPr/>
        </p:nvSpPr>
        <p:spPr>
          <a:xfrm>
            <a:off x="7040880" y="2377440"/>
            <a:ext cx="2103120" cy="960120"/>
          </a:xfrm>
          <a:prstGeom prst="rect">
            <a:avLst/>
          </a:prstGeom>
          <a:noFill/>
          <a:ln/>
        </p:spPr>
        <p:txBody>
          <a:bodyPr wrap="square" lIns="508" tIns="508" rIns="508" bIns="508" rtlCol="0" anchor="ctr"/>
          <a:lstStyle/>
          <a:p>
            <a:pPr marL="0" indent="0" algn="ctr">
              <a:buNone/>
            </a:pPr>
            <a:r>
              <a:rPr lang="en-US" sz="1400" b="1" dirty="0">
                <a:solidFill>
                  <a:srgbClr val="F2EFE9"/>
                </a:solidFill>
                <a:latin typeface="Arial" pitchFamily="34" charset="0"/>
                <a:ea typeface="Arial" pitchFamily="34" charset="-122"/>
                <a:cs typeface="Arial" pitchFamily="34" charset="-120"/>
              </a:rPr>
              <a:t>AI ONE</a:t>
            </a:r>
            <a:endParaRPr lang="en-US" sz="1400" dirty="0"/>
          </a:p>
          <a:p>
            <a:pPr marL="0" indent="0" algn="ctr">
              <a:buNone/>
            </a:pPr>
            <a:r>
              <a:rPr lang="en-US" sz="1400" b="1" dirty="0">
                <a:solidFill>
                  <a:srgbClr val="F2EFE9"/>
                </a:solidFill>
                <a:latin typeface="Arial" pitchFamily="34" charset="0"/>
                <a:ea typeface="Arial" pitchFamily="34" charset="-122"/>
                <a:cs typeface="Arial" pitchFamily="34" charset="-120"/>
              </a:rPr>
              <a:t>WRITES</a:t>
            </a:r>
            <a:endParaRPr lang="en-US" sz="1400" dirty="0"/>
          </a:p>
        </p:txBody>
      </p:sp>
      <p:sp>
        <p:nvSpPr>
          <p:cNvPr id="12" name="Shape 10"/>
          <p:cNvSpPr/>
          <p:nvPr/>
        </p:nvSpPr>
        <p:spPr>
          <a:xfrm>
            <a:off x="9189720" y="2852928"/>
            <a:ext cx="411480" cy="0"/>
          </a:xfrm>
          <a:prstGeom prst="line">
            <a:avLst/>
          </a:prstGeom>
          <a:noFill/>
          <a:ln w="22225">
            <a:solidFill>
              <a:srgbClr val="111111"/>
            </a:solidFill>
            <a:prstDash val="solid"/>
            <a:tailEnd type="triangle"/>
          </a:ln>
        </p:spPr>
        <p:txBody>
          <a:bodyPr/>
          <a:lstStyle/>
          <a:p>
            <a:endParaRPr lang="en-US"/>
          </a:p>
        </p:txBody>
      </p:sp>
      <p:sp>
        <p:nvSpPr>
          <p:cNvPr id="13" name="Shape 11"/>
          <p:cNvSpPr/>
          <p:nvPr/>
        </p:nvSpPr>
        <p:spPr>
          <a:xfrm>
            <a:off x="9601200" y="2377440"/>
            <a:ext cx="2103120" cy="960120"/>
          </a:xfrm>
          <a:prstGeom prst="rect">
            <a:avLst/>
          </a:prstGeom>
          <a:solidFill>
            <a:srgbClr val="F5C518"/>
          </a:solidFill>
          <a:ln w="22225">
            <a:solidFill>
              <a:srgbClr val="111111"/>
            </a:solidFill>
            <a:prstDash val="solid"/>
          </a:ln>
        </p:spPr>
        <p:txBody>
          <a:bodyPr/>
          <a:lstStyle/>
          <a:p>
            <a:endParaRPr lang="en-US"/>
          </a:p>
        </p:txBody>
      </p:sp>
      <p:sp>
        <p:nvSpPr>
          <p:cNvPr id="14" name="Text 12"/>
          <p:cNvSpPr/>
          <p:nvPr/>
        </p:nvSpPr>
        <p:spPr>
          <a:xfrm>
            <a:off x="9601200" y="2377440"/>
            <a:ext cx="2103120" cy="960120"/>
          </a:xfrm>
          <a:prstGeom prst="rect">
            <a:avLst/>
          </a:prstGeom>
          <a:noFill/>
          <a:ln/>
        </p:spPr>
        <p:txBody>
          <a:bodyPr wrap="square" lIns="508" tIns="508" rIns="508" bIns="508" rtlCol="0" anchor="ctr"/>
          <a:lstStyle/>
          <a:p>
            <a:pPr marL="0" indent="0" algn="ctr">
              <a:buNone/>
            </a:pPr>
            <a:r>
              <a:rPr lang="en-US" sz="1400" b="1" dirty="0">
                <a:solidFill>
                  <a:srgbClr val="111111"/>
                </a:solidFill>
                <a:latin typeface="Arial" pitchFamily="34" charset="0"/>
                <a:ea typeface="Arial" pitchFamily="34" charset="-122"/>
                <a:cs typeface="Arial" pitchFamily="34" charset="-120"/>
              </a:rPr>
              <a:t>AI TWO</a:t>
            </a:r>
            <a:endParaRPr lang="en-US" sz="1400" dirty="0"/>
          </a:p>
          <a:p>
            <a:pPr marL="0" indent="0" algn="ctr">
              <a:buNone/>
            </a:pPr>
            <a:r>
              <a:rPr lang="en-US" sz="1400" b="1" dirty="0">
                <a:solidFill>
                  <a:srgbClr val="111111"/>
                </a:solidFill>
                <a:latin typeface="Arial" pitchFamily="34" charset="0"/>
                <a:ea typeface="Arial" pitchFamily="34" charset="-122"/>
                <a:cs typeface="Arial" pitchFamily="34" charset="-120"/>
              </a:rPr>
              <a:t>CHECKS</a:t>
            </a:r>
            <a:endParaRPr lang="en-US" sz="1400" dirty="0"/>
          </a:p>
        </p:txBody>
      </p:sp>
      <p:sp>
        <p:nvSpPr>
          <p:cNvPr id="15" name="Text 13"/>
          <p:cNvSpPr/>
          <p:nvPr/>
        </p:nvSpPr>
        <p:spPr>
          <a:xfrm>
            <a:off x="7040880" y="3611880"/>
            <a:ext cx="4663440" cy="914400"/>
          </a:xfrm>
          <a:prstGeom prst="rect">
            <a:avLst/>
          </a:prstGeom>
          <a:noFill/>
          <a:ln/>
        </p:spPr>
        <p:txBody>
          <a:bodyPr wrap="square" lIns="0" tIns="0" rIns="0" bIns="0" rtlCol="0" anchor="t"/>
          <a:lstStyle/>
          <a:p>
            <a:pPr marL="0" indent="0">
              <a:buNone/>
            </a:pPr>
            <a:r>
              <a:rPr lang="en-US" sz="1500" dirty="0">
                <a:solidFill>
                  <a:srgbClr val="111111"/>
                </a:solidFill>
                <a:latin typeface="Arial" pitchFamily="34" charset="0"/>
                <a:ea typeface="Arial" pitchFamily="34" charset="-122"/>
                <a:cs typeface="Arial" pitchFamily="34" charset="-120"/>
              </a:rPr>
              <a:t>A grader that did not write the code catches</a:t>
            </a:r>
            <a:endParaRPr lang="en-US" sz="1500" dirty="0"/>
          </a:p>
          <a:p>
            <a:pPr marL="0" indent="0">
              <a:buNone/>
            </a:pPr>
            <a:r>
              <a:rPr lang="en-US" sz="1500" dirty="0">
                <a:solidFill>
                  <a:srgbClr val="111111"/>
                </a:solidFill>
                <a:latin typeface="Arial" pitchFamily="34" charset="0"/>
                <a:ea typeface="Arial" pitchFamily="34" charset="-122"/>
                <a:cs typeface="Arial" pitchFamily="34" charset="-120"/>
              </a:rPr>
              <a:t>what the writer is blind to.</a:t>
            </a:r>
            <a:endParaRPr lang="en-US" sz="1500" dirty="0"/>
          </a:p>
        </p:txBody>
      </p:sp>
      <p:sp>
        <p:nvSpPr>
          <p:cNvPr id="16" name="Text 14"/>
          <p:cNvSpPr/>
          <p:nvPr/>
        </p:nvSpPr>
        <p:spPr>
          <a:xfrm>
            <a:off x="7040880" y="4800600"/>
            <a:ext cx="4754880" cy="274320"/>
          </a:xfrm>
          <a:prstGeom prst="rect">
            <a:avLst/>
          </a:prstGeom>
          <a:noFill/>
          <a:ln/>
        </p:spPr>
        <p:txBody>
          <a:bodyPr wrap="square" lIns="0" tIns="0" rIns="0" bIns="0" rtlCol="0" anchor="ctr"/>
          <a:lstStyle/>
          <a:p>
            <a:pPr marL="0" indent="0" algn="l">
              <a:buNone/>
            </a:pPr>
            <a:r>
              <a:rPr lang="en-US" sz="1100" b="1" dirty="0">
                <a:solidFill>
                  <a:srgbClr val="1B3FA0"/>
                </a:solidFill>
                <a:latin typeface="Courier New" pitchFamily="34" charset="0"/>
                <a:ea typeface="Courier New" pitchFamily="34" charset="-122"/>
                <a:cs typeface="Courier New" pitchFamily="34" charset="-120"/>
              </a:rPr>
              <a:t>WHO CHECKS THE WORK?  THE SECOND AI</a:t>
            </a:r>
            <a:endParaRPr lang="en-US" sz="1100" dirty="0"/>
          </a:p>
        </p:txBody>
      </p:sp>
      <p:sp>
        <p:nvSpPr>
          <p:cNvPr id="17" name="Shape 15"/>
          <p:cNvSpPr/>
          <p:nvPr/>
        </p:nvSpPr>
        <p:spPr>
          <a:xfrm>
            <a:off x="1234440" y="6263640"/>
            <a:ext cx="9720072" cy="0"/>
          </a:xfrm>
          <a:prstGeom prst="line">
            <a:avLst/>
          </a:prstGeom>
          <a:noFill/>
          <a:ln w="19050">
            <a:solidFill>
              <a:srgbClr val="111111"/>
            </a:solidFill>
            <a:prstDash val="solid"/>
          </a:ln>
        </p:spPr>
        <p:txBody>
          <a:bodyPr/>
          <a:lstStyle/>
          <a:p>
            <a:endParaRPr lang="en-US"/>
          </a:p>
        </p:txBody>
      </p:sp>
      <p:sp>
        <p:nvSpPr>
          <p:cNvPr id="18" name="Shape 16"/>
          <p:cNvSpPr/>
          <p:nvPr/>
        </p:nvSpPr>
        <p:spPr>
          <a:xfrm>
            <a:off x="1152144" y="6181344"/>
            <a:ext cx="164592" cy="164592"/>
          </a:xfrm>
          <a:prstGeom prst="rect">
            <a:avLst/>
          </a:prstGeom>
          <a:solidFill>
            <a:srgbClr val="111111"/>
          </a:solidFill>
          <a:ln w="19050">
            <a:solidFill>
              <a:srgbClr val="111111"/>
            </a:solidFill>
            <a:prstDash val="solid"/>
          </a:ln>
        </p:spPr>
        <p:txBody>
          <a:bodyPr/>
          <a:lstStyle/>
          <a:p>
            <a:endParaRPr lang="en-US"/>
          </a:p>
        </p:txBody>
      </p:sp>
      <p:sp>
        <p:nvSpPr>
          <p:cNvPr id="19" name="Text 17"/>
          <p:cNvSpPr/>
          <p:nvPr/>
        </p:nvSpPr>
        <p:spPr>
          <a:xfrm>
            <a:off x="320040" y="6446520"/>
            <a:ext cx="1828800" cy="256032"/>
          </a:xfrm>
          <a:prstGeom prst="rect">
            <a:avLst/>
          </a:prstGeom>
          <a:noFill/>
          <a:ln/>
        </p:spPr>
        <p:txBody>
          <a:bodyPr wrap="square" lIns="0" tIns="0" rIns="0" bIns="0" rtlCol="0" anchor="ctr"/>
          <a:lstStyle/>
          <a:p>
            <a:pPr marL="0" indent="0" algn="ctr">
              <a:buNone/>
            </a:pPr>
            <a:r>
              <a:rPr lang="en-US" sz="900" dirty="0">
                <a:solidFill>
                  <a:srgbClr val="111111"/>
                </a:solidFill>
                <a:latin typeface="Courier New" pitchFamily="34" charset="0"/>
                <a:ea typeface="Courier New" pitchFamily="34" charset="-122"/>
                <a:cs typeface="Courier New" pitchFamily="34" charset="-120"/>
              </a:rPr>
              <a:t>1 AUTOCOMPLETE</a:t>
            </a:r>
            <a:endParaRPr lang="en-US" sz="900" dirty="0"/>
          </a:p>
        </p:txBody>
      </p:sp>
      <p:sp>
        <p:nvSpPr>
          <p:cNvPr id="20" name="Shape 18"/>
          <p:cNvSpPr/>
          <p:nvPr/>
        </p:nvSpPr>
        <p:spPr>
          <a:xfrm>
            <a:off x="3096158" y="6181344"/>
            <a:ext cx="164592" cy="164592"/>
          </a:xfrm>
          <a:prstGeom prst="rect">
            <a:avLst/>
          </a:prstGeom>
          <a:solidFill>
            <a:srgbClr val="111111"/>
          </a:solidFill>
          <a:ln w="19050">
            <a:solidFill>
              <a:srgbClr val="111111"/>
            </a:solidFill>
            <a:prstDash val="solid"/>
          </a:ln>
        </p:spPr>
        <p:txBody>
          <a:bodyPr/>
          <a:lstStyle/>
          <a:p>
            <a:endParaRPr lang="en-US"/>
          </a:p>
        </p:txBody>
      </p:sp>
      <p:sp>
        <p:nvSpPr>
          <p:cNvPr id="21" name="Text 19"/>
          <p:cNvSpPr/>
          <p:nvPr/>
        </p:nvSpPr>
        <p:spPr>
          <a:xfrm>
            <a:off x="2264054" y="6446520"/>
            <a:ext cx="1828800" cy="256032"/>
          </a:xfrm>
          <a:prstGeom prst="rect">
            <a:avLst/>
          </a:prstGeom>
          <a:noFill/>
          <a:ln/>
        </p:spPr>
        <p:txBody>
          <a:bodyPr wrap="square" lIns="0" tIns="0" rIns="0" bIns="0" rtlCol="0" anchor="ctr"/>
          <a:lstStyle/>
          <a:p>
            <a:pPr marL="0" indent="0" algn="ctr">
              <a:buNone/>
            </a:pPr>
            <a:r>
              <a:rPr lang="en-US" sz="900" dirty="0">
                <a:solidFill>
                  <a:srgbClr val="111111"/>
                </a:solidFill>
                <a:latin typeface="Courier New" pitchFamily="34" charset="0"/>
                <a:ea typeface="Courier New" pitchFamily="34" charset="-122"/>
                <a:cs typeface="Courier New" pitchFamily="34" charset="-120"/>
              </a:rPr>
              <a:t>2 COPILOT</a:t>
            </a:r>
            <a:endParaRPr lang="en-US" sz="900" dirty="0"/>
          </a:p>
        </p:txBody>
      </p:sp>
      <p:sp>
        <p:nvSpPr>
          <p:cNvPr id="22" name="Shape 20"/>
          <p:cNvSpPr/>
          <p:nvPr/>
        </p:nvSpPr>
        <p:spPr>
          <a:xfrm>
            <a:off x="5040173" y="6181344"/>
            <a:ext cx="164592" cy="164592"/>
          </a:xfrm>
          <a:prstGeom prst="rect">
            <a:avLst/>
          </a:prstGeom>
          <a:solidFill>
            <a:srgbClr val="111111"/>
          </a:solidFill>
          <a:ln w="19050">
            <a:solidFill>
              <a:srgbClr val="111111"/>
            </a:solidFill>
            <a:prstDash val="solid"/>
          </a:ln>
        </p:spPr>
        <p:txBody>
          <a:bodyPr/>
          <a:lstStyle/>
          <a:p>
            <a:endParaRPr lang="en-US"/>
          </a:p>
        </p:txBody>
      </p:sp>
      <p:sp>
        <p:nvSpPr>
          <p:cNvPr id="23" name="Text 21"/>
          <p:cNvSpPr/>
          <p:nvPr/>
        </p:nvSpPr>
        <p:spPr>
          <a:xfrm>
            <a:off x="4208069" y="6446520"/>
            <a:ext cx="1828800" cy="256032"/>
          </a:xfrm>
          <a:prstGeom prst="rect">
            <a:avLst/>
          </a:prstGeom>
          <a:noFill/>
          <a:ln/>
        </p:spPr>
        <p:txBody>
          <a:bodyPr wrap="square" lIns="0" tIns="0" rIns="0" bIns="0" rtlCol="0" anchor="ctr"/>
          <a:lstStyle/>
          <a:p>
            <a:pPr marL="0" indent="0" algn="ctr">
              <a:buNone/>
            </a:pPr>
            <a:r>
              <a:rPr lang="en-US" sz="900" dirty="0">
                <a:solidFill>
                  <a:srgbClr val="111111"/>
                </a:solidFill>
                <a:latin typeface="Courier New" pitchFamily="34" charset="0"/>
                <a:ea typeface="Courier New" pitchFamily="34" charset="-122"/>
                <a:cs typeface="Courier New" pitchFamily="34" charset="-120"/>
              </a:rPr>
              <a:t>3 CHAT</a:t>
            </a:r>
            <a:endParaRPr lang="en-US" sz="900" dirty="0"/>
          </a:p>
        </p:txBody>
      </p:sp>
      <p:sp>
        <p:nvSpPr>
          <p:cNvPr id="24" name="Shape 22"/>
          <p:cNvSpPr/>
          <p:nvPr/>
        </p:nvSpPr>
        <p:spPr>
          <a:xfrm>
            <a:off x="6984187" y="6181344"/>
            <a:ext cx="164592" cy="164592"/>
          </a:xfrm>
          <a:prstGeom prst="rect">
            <a:avLst/>
          </a:prstGeom>
          <a:solidFill>
            <a:srgbClr val="111111"/>
          </a:solidFill>
          <a:ln w="19050">
            <a:solidFill>
              <a:srgbClr val="111111"/>
            </a:solidFill>
            <a:prstDash val="solid"/>
          </a:ln>
        </p:spPr>
        <p:txBody>
          <a:bodyPr/>
          <a:lstStyle/>
          <a:p>
            <a:endParaRPr lang="en-US"/>
          </a:p>
        </p:txBody>
      </p:sp>
      <p:sp>
        <p:nvSpPr>
          <p:cNvPr id="25" name="Text 23"/>
          <p:cNvSpPr/>
          <p:nvPr/>
        </p:nvSpPr>
        <p:spPr>
          <a:xfrm>
            <a:off x="6152083" y="6446520"/>
            <a:ext cx="1828800" cy="256032"/>
          </a:xfrm>
          <a:prstGeom prst="rect">
            <a:avLst/>
          </a:prstGeom>
          <a:noFill/>
          <a:ln/>
        </p:spPr>
        <p:txBody>
          <a:bodyPr wrap="square" lIns="0" tIns="0" rIns="0" bIns="0" rtlCol="0" anchor="ctr"/>
          <a:lstStyle/>
          <a:p>
            <a:pPr marL="0" indent="0" algn="ctr">
              <a:buNone/>
            </a:pPr>
            <a:r>
              <a:rPr lang="en-US" sz="900" dirty="0">
                <a:solidFill>
                  <a:srgbClr val="111111"/>
                </a:solidFill>
                <a:latin typeface="Courier New" pitchFamily="34" charset="0"/>
                <a:ea typeface="Courier New" pitchFamily="34" charset="-122"/>
                <a:cs typeface="Courier New" pitchFamily="34" charset="-120"/>
              </a:rPr>
              <a:t>4 VIBE CODING</a:t>
            </a:r>
            <a:endParaRPr lang="en-US" sz="900" dirty="0"/>
          </a:p>
        </p:txBody>
      </p:sp>
      <p:sp>
        <p:nvSpPr>
          <p:cNvPr id="26" name="Shape 24"/>
          <p:cNvSpPr/>
          <p:nvPr/>
        </p:nvSpPr>
        <p:spPr>
          <a:xfrm>
            <a:off x="8873338" y="6126480"/>
            <a:ext cx="274320" cy="274320"/>
          </a:xfrm>
          <a:prstGeom prst="rect">
            <a:avLst/>
          </a:prstGeom>
          <a:solidFill>
            <a:srgbClr val="E1462C"/>
          </a:solidFill>
          <a:ln w="19050">
            <a:solidFill>
              <a:srgbClr val="111111"/>
            </a:solidFill>
            <a:prstDash val="solid"/>
          </a:ln>
        </p:spPr>
        <p:txBody>
          <a:bodyPr/>
          <a:lstStyle/>
          <a:p>
            <a:endParaRPr lang="en-US"/>
          </a:p>
        </p:txBody>
      </p:sp>
      <p:sp>
        <p:nvSpPr>
          <p:cNvPr id="27" name="Text 25"/>
          <p:cNvSpPr/>
          <p:nvPr/>
        </p:nvSpPr>
        <p:spPr>
          <a:xfrm>
            <a:off x="8096098" y="6446520"/>
            <a:ext cx="1828800" cy="256032"/>
          </a:xfrm>
          <a:prstGeom prst="rect">
            <a:avLst/>
          </a:prstGeom>
          <a:noFill/>
          <a:ln/>
        </p:spPr>
        <p:txBody>
          <a:bodyPr wrap="square" lIns="0" tIns="0" rIns="0" bIns="0" rtlCol="0" anchor="ctr"/>
          <a:lstStyle/>
          <a:p>
            <a:pPr marL="0" indent="0" algn="ctr">
              <a:buNone/>
            </a:pPr>
            <a:r>
              <a:rPr lang="en-US" sz="900" b="1" dirty="0">
                <a:solidFill>
                  <a:srgbClr val="111111"/>
                </a:solidFill>
                <a:latin typeface="Courier New" pitchFamily="34" charset="0"/>
                <a:ea typeface="Courier New" pitchFamily="34" charset="-122"/>
                <a:cs typeface="Courier New" pitchFamily="34" charset="-120"/>
              </a:rPr>
              <a:t>5 TWO AGENTS</a:t>
            </a:r>
            <a:endParaRPr lang="en-US" sz="900" dirty="0"/>
          </a:p>
        </p:txBody>
      </p:sp>
      <p:sp>
        <p:nvSpPr>
          <p:cNvPr id="28" name="Shape 26"/>
          <p:cNvSpPr/>
          <p:nvPr/>
        </p:nvSpPr>
        <p:spPr>
          <a:xfrm>
            <a:off x="10872216" y="6181344"/>
            <a:ext cx="164592" cy="164592"/>
          </a:xfrm>
          <a:prstGeom prst="rect">
            <a:avLst/>
          </a:prstGeom>
          <a:noFill/>
          <a:ln w="19050">
            <a:solidFill>
              <a:srgbClr val="111111"/>
            </a:solidFill>
            <a:prstDash val="solid"/>
          </a:ln>
        </p:spPr>
        <p:txBody>
          <a:bodyPr/>
          <a:lstStyle/>
          <a:p>
            <a:endParaRPr lang="en-US"/>
          </a:p>
        </p:txBody>
      </p:sp>
      <p:sp>
        <p:nvSpPr>
          <p:cNvPr id="29" name="Text 27"/>
          <p:cNvSpPr/>
          <p:nvPr/>
        </p:nvSpPr>
        <p:spPr>
          <a:xfrm>
            <a:off x="10040112" y="6446520"/>
            <a:ext cx="1828800" cy="256032"/>
          </a:xfrm>
          <a:prstGeom prst="rect">
            <a:avLst/>
          </a:prstGeom>
          <a:noFill/>
          <a:ln/>
        </p:spPr>
        <p:txBody>
          <a:bodyPr wrap="square" lIns="0" tIns="0" rIns="0" bIns="0" rtlCol="0" anchor="ctr"/>
          <a:lstStyle/>
          <a:p>
            <a:pPr marL="0" indent="0" algn="ctr">
              <a:buNone/>
            </a:pPr>
            <a:r>
              <a:rPr lang="en-US" sz="900" dirty="0">
                <a:solidFill>
                  <a:srgbClr val="111111"/>
                </a:solidFill>
                <a:latin typeface="Courier New" pitchFamily="34" charset="0"/>
                <a:ea typeface="Courier New" pitchFamily="34" charset="-122"/>
                <a:cs typeface="Courier New" pitchFamily="34" charset="-120"/>
              </a:rPr>
              <a:t>6 LOOPS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EFE9"/>
        </a:solidFill>
        <a:effectLst/>
      </p:bgPr>
    </p:bg>
    <p:spTree>
      <p:nvGrpSpPr>
        <p:cNvPr id="1" name=""/>
        <p:cNvGrpSpPr/>
        <p:nvPr/>
      </p:nvGrpSpPr>
      <p:grpSpPr>
        <a:xfrm>
          <a:off x="0" y="0"/>
          <a:ext cx="0" cy="0"/>
          <a:chOff x="0" y="0"/>
          <a:chExt cx="0" cy="0"/>
        </a:xfrm>
      </p:grpSpPr>
      <p:sp>
        <p:nvSpPr>
          <p:cNvPr id="2" name="Text 0"/>
          <p:cNvSpPr/>
          <p:nvPr/>
        </p:nvSpPr>
        <p:spPr>
          <a:xfrm>
            <a:off x="11430000" y="182880"/>
            <a:ext cx="594360" cy="274320"/>
          </a:xfrm>
          <a:prstGeom prst="rect">
            <a:avLst/>
          </a:prstGeom>
          <a:noFill/>
          <a:ln/>
        </p:spPr>
        <p:txBody>
          <a:bodyPr wrap="square" lIns="0" tIns="0" rIns="0" bIns="0" rtlCol="0" anchor="ctr"/>
          <a:lstStyle/>
          <a:p>
            <a:pPr marL="0" indent="0" algn="r">
              <a:buNone/>
            </a:pPr>
            <a:r>
              <a:rPr lang="en-US" sz="1000" dirty="0">
                <a:solidFill>
                  <a:srgbClr val="111111"/>
                </a:solidFill>
                <a:latin typeface="Courier New" pitchFamily="34" charset="0"/>
                <a:ea typeface="Courier New" pitchFamily="34" charset="-122"/>
                <a:cs typeface="Courier New" pitchFamily="34" charset="-120"/>
              </a:rPr>
              <a:t>09</a:t>
            </a:r>
            <a:endParaRPr lang="en-US" sz="1000" dirty="0"/>
          </a:p>
        </p:txBody>
      </p:sp>
      <p:sp>
        <p:nvSpPr>
          <p:cNvPr id="3" name="Text 1"/>
          <p:cNvSpPr/>
          <p:nvPr/>
        </p:nvSpPr>
        <p:spPr>
          <a:xfrm>
            <a:off x="566928" y="402336"/>
            <a:ext cx="2743200" cy="274320"/>
          </a:xfrm>
          <a:prstGeom prst="rect">
            <a:avLst/>
          </a:prstGeom>
          <a:noFill/>
          <a:ln/>
        </p:spPr>
        <p:txBody>
          <a:bodyPr wrap="square" lIns="0" tIns="0" rIns="0" bIns="0" rtlCol="0" anchor="ctr"/>
          <a:lstStyle/>
          <a:p>
            <a:pPr marL="0" indent="0" algn="l">
              <a:buNone/>
            </a:pPr>
            <a:r>
              <a:rPr lang="en-US" sz="1000" dirty="0">
                <a:solidFill>
                  <a:srgbClr val="111111"/>
                </a:solidFill>
                <a:latin typeface="Courier New" pitchFamily="34" charset="0"/>
                <a:ea typeface="Courier New" pitchFamily="34" charset="-122"/>
                <a:cs typeface="Courier New" pitchFamily="34" charset="-120"/>
              </a:rPr>
              <a:t>STEP 6 OF 6</a:t>
            </a:r>
            <a:endParaRPr lang="en-US" sz="1000" dirty="0"/>
          </a:p>
        </p:txBody>
      </p:sp>
      <p:sp>
        <p:nvSpPr>
          <p:cNvPr id="4" name="Text 2"/>
          <p:cNvSpPr/>
          <p:nvPr/>
        </p:nvSpPr>
        <p:spPr>
          <a:xfrm>
            <a:off x="548640" y="749808"/>
            <a:ext cx="6400800" cy="1051560"/>
          </a:xfrm>
          <a:prstGeom prst="rect">
            <a:avLst/>
          </a:prstGeom>
          <a:noFill/>
          <a:ln/>
        </p:spPr>
        <p:txBody>
          <a:bodyPr wrap="square" lIns="0" tIns="0" rIns="0" bIns="0" rtlCol="0" anchor="t"/>
          <a:lstStyle/>
          <a:p>
            <a:pPr marL="0" indent="0">
              <a:buNone/>
            </a:pPr>
            <a:r>
              <a:rPr lang="en-US" sz="4200" b="1" dirty="0">
                <a:solidFill>
                  <a:srgbClr val="111111"/>
                </a:solidFill>
                <a:latin typeface="Arial" pitchFamily="34" charset="0"/>
                <a:ea typeface="Arial" pitchFamily="34" charset="-122"/>
                <a:cs typeface="Arial" pitchFamily="34" charset="-120"/>
              </a:rPr>
              <a:t>LOOP ENGINEERING</a:t>
            </a:r>
            <a:endParaRPr lang="en-US" sz="4200" dirty="0"/>
          </a:p>
        </p:txBody>
      </p:sp>
      <p:sp>
        <p:nvSpPr>
          <p:cNvPr id="5" name="Text 3"/>
          <p:cNvSpPr/>
          <p:nvPr/>
        </p:nvSpPr>
        <p:spPr>
          <a:xfrm>
            <a:off x="566928" y="1901952"/>
            <a:ext cx="4572000" cy="274320"/>
          </a:xfrm>
          <a:prstGeom prst="rect">
            <a:avLst/>
          </a:prstGeom>
          <a:noFill/>
          <a:ln/>
        </p:spPr>
        <p:txBody>
          <a:bodyPr wrap="square" lIns="0" tIns="0" rIns="0" bIns="0" rtlCol="0" anchor="ctr"/>
          <a:lstStyle/>
          <a:p>
            <a:pPr marL="0" indent="0" algn="l">
              <a:buNone/>
            </a:pPr>
            <a:r>
              <a:rPr lang="en-US" sz="1200" b="1" dirty="0">
                <a:solidFill>
                  <a:srgbClr val="E1462C"/>
                </a:solidFill>
                <a:latin typeface="Courier New" pitchFamily="34" charset="0"/>
                <a:ea typeface="Courier New" pitchFamily="34" charset="-122"/>
                <a:cs typeface="Courier New" pitchFamily="34" charset="-120"/>
              </a:rPr>
              <a:t>NOW</a:t>
            </a:r>
            <a:endParaRPr lang="en-US" sz="1200" dirty="0"/>
          </a:p>
        </p:txBody>
      </p:sp>
      <p:sp>
        <p:nvSpPr>
          <p:cNvPr id="6" name="Text 4"/>
          <p:cNvSpPr/>
          <p:nvPr/>
        </p:nvSpPr>
        <p:spPr>
          <a:xfrm>
            <a:off x="548640" y="2395728"/>
            <a:ext cx="6035040" cy="1463040"/>
          </a:xfrm>
          <a:prstGeom prst="rect">
            <a:avLst/>
          </a:prstGeom>
          <a:noFill/>
          <a:ln/>
        </p:spPr>
        <p:txBody>
          <a:bodyPr wrap="square" lIns="0" tIns="0" rIns="0" bIns="0" rtlCol="0" anchor="t"/>
          <a:lstStyle/>
          <a:p>
            <a:pPr marL="0" indent="0">
              <a:buNone/>
            </a:pPr>
            <a:r>
              <a:rPr lang="en-US" sz="2500" dirty="0">
                <a:solidFill>
                  <a:srgbClr val="111111"/>
                </a:solidFill>
                <a:latin typeface="Arial" pitchFamily="34" charset="0"/>
                <a:ea typeface="Arial" pitchFamily="34" charset="-122"/>
                <a:cs typeface="Arial" pitchFamily="34" charset="-120"/>
              </a:rPr>
              <a:t>The failed checks are fed straight back in as the next round's to-do list. Automatically. Until it passes.</a:t>
            </a:r>
            <a:endParaRPr lang="en-US" sz="2500" dirty="0"/>
          </a:p>
        </p:txBody>
      </p:sp>
      <p:sp>
        <p:nvSpPr>
          <p:cNvPr id="7" name="Shape 5"/>
          <p:cNvSpPr/>
          <p:nvPr/>
        </p:nvSpPr>
        <p:spPr>
          <a:xfrm>
            <a:off x="566928" y="4114800"/>
            <a:ext cx="2926080" cy="0"/>
          </a:xfrm>
          <a:prstGeom prst="line">
            <a:avLst/>
          </a:prstGeom>
          <a:noFill/>
          <a:ln w="19050">
            <a:solidFill>
              <a:srgbClr val="111111"/>
            </a:solidFill>
            <a:prstDash val="solid"/>
          </a:ln>
        </p:spPr>
        <p:txBody>
          <a:bodyPr/>
          <a:lstStyle/>
          <a:p>
            <a:endParaRPr lang="en-US"/>
          </a:p>
        </p:txBody>
      </p:sp>
      <p:sp>
        <p:nvSpPr>
          <p:cNvPr id="8" name="Text 6"/>
          <p:cNvSpPr/>
          <p:nvPr/>
        </p:nvSpPr>
        <p:spPr>
          <a:xfrm>
            <a:off x="566928" y="4279392"/>
            <a:ext cx="2743200" cy="274320"/>
          </a:xfrm>
          <a:prstGeom prst="rect">
            <a:avLst/>
          </a:prstGeom>
          <a:noFill/>
          <a:ln/>
        </p:spPr>
        <p:txBody>
          <a:bodyPr wrap="square" lIns="0" tIns="0" rIns="0" bIns="0" rtlCol="0" anchor="ctr"/>
          <a:lstStyle/>
          <a:p>
            <a:pPr marL="0" indent="0" algn="l">
              <a:buNone/>
            </a:pPr>
            <a:r>
              <a:rPr lang="en-US" sz="1000" b="1" dirty="0">
                <a:solidFill>
                  <a:srgbClr val="111111"/>
                </a:solidFill>
                <a:latin typeface="Courier New" pitchFamily="34" charset="0"/>
                <a:ea typeface="Courier New" pitchFamily="34" charset="-122"/>
                <a:cs typeface="Courier New" pitchFamily="34" charset="-120"/>
              </a:rPr>
              <a:t>THE PROBLEM</a:t>
            </a:r>
            <a:endParaRPr lang="en-US" sz="1000" dirty="0"/>
          </a:p>
        </p:txBody>
      </p:sp>
      <p:sp>
        <p:nvSpPr>
          <p:cNvPr id="9" name="Text 7"/>
          <p:cNvSpPr/>
          <p:nvPr/>
        </p:nvSpPr>
        <p:spPr>
          <a:xfrm>
            <a:off x="548640" y="4617720"/>
            <a:ext cx="6035040" cy="1097280"/>
          </a:xfrm>
          <a:prstGeom prst="rect">
            <a:avLst/>
          </a:prstGeom>
          <a:noFill/>
          <a:ln/>
        </p:spPr>
        <p:txBody>
          <a:bodyPr wrap="square" lIns="0" tIns="0" rIns="0" bIns="0" rtlCol="0" anchor="t"/>
          <a:lstStyle/>
          <a:p>
            <a:pPr marL="0" indent="0">
              <a:buNone/>
            </a:pPr>
            <a:r>
              <a:rPr lang="en-US" sz="1900" b="1" dirty="0">
                <a:solidFill>
                  <a:srgbClr val="E1462C"/>
                </a:solidFill>
                <a:latin typeface="Arial" pitchFamily="34" charset="0"/>
                <a:ea typeface="Arial" pitchFamily="34" charset="-122"/>
                <a:cs typeface="Arial" pitchFamily="34" charset="-120"/>
              </a:rPr>
              <a:t>Nothing. This is where we are — and it is your job now.</a:t>
            </a:r>
            <a:endParaRPr lang="en-US" sz="1900" dirty="0"/>
          </a:p>
        </p:txBody>
      </p:sp>
      <p:sp>
        <p:nvSpPr>
          <p:cNvPr id="10" name="Shape 8"/>
          <p:cNvSpPr/>
          <p:nvPr/>
        </p:nvSpPr>
        <p:spPr>
          <a:xfrm>
            <a:off x="8092440" y="1965960"/>
            <a:ext cx="2560320" cy="2560320"/>
          </a:xfrm>
          <a:prstGeom prst="ellipse">
            <a:avLst/>
          </a:prstGeom>
          <a:noFill/>
          <a:ln w="31750">
            <a:solidFill>
              <a:srgbClr val="111111"/>
            </a:solidFill>
            <a:prstDash val="solid"/>
          </a:ln>
        </p:spPr>
        <p:txBody>
          <a:bodyPr/>
          <a:lstStyle/>
          <a:p>
            <a:endParaRPr lang="en-US"/>
          </a:p>
        </p:txBody>
      </p:sp>
      <p:sp>
        <p:nvSpPr>
          <p:cNvPr id="11" name="Shape 9"/>
          <p:cNvSpPr/>
          <p:nvPr/>
        </p:nvSpPr>
        <p:spPr>
          <a:xfrm>
            <a:off x="9006840" y="1600200"/>
            <a:ext cx="731520" cy="731520"/>
          </a:xfrm>
          <a:prstGeom prst="ellipse">
            <a:avLst/>
          </a:prstGeom>
          <a:solidFill>
            <a:srgbClr val="1B3FA0"/>
          </a:solidFill>
          <a:ln w="25400">
            <a:solidFill>
              <a:srgbClr val="111111"/>
            </a:solidFill>
            <a:prstDash val="solid"/>
          </a:ln>
        </p:spPr>
        <p:txBody>
          <a:bodyPr/>
          <a:lstStyle/>
          <a:p>
            <a:endParaRPr lang="en-US"/>
          </a:p>
        </p:txBody>
      </p:sp>
      <p:sp>
        <p:nvSpPr>
          <p:cNvPr id="12" name="Shape 10"/>
          <p:cNvSpPr/>
          <p:nvPr/>
        </p:nvSpPr>
        <p:spPr>
          <a:xfrm>
            <a:off x="10115459" y="3520440"/>
            <a:ext cx="731520" cy="731520"/>
          </a:xfrm>
          <a:prstGeom prst="ellipse">
            <a:avLst/>
          </a:prstGeom>
          <a:solidFill>
            <a:srgbClr val="F5C518"/>
          </a:solidFill>
          <a:ln w="25400">
            <a:solidFill>
              <a:srgbClr val="111111"/>
            </a:solidFill>
            <a:prstDash val="solid"/>
          </a:ln>
        </p:spPr>
        <p:txBody>
          <a:bodyPr/>
          <a:lstStyle/>
          <a:p>
            <a:endParaRPr lang="en-US"/>
          </a:p>
        </p:txBody>
      </p:sp>
      <p:sp>
        <p:nvSpPr>
          <p:cNvPr id="13" name="Shape 11"/>
          <p:cNvSpPr/>
          <p:nvPr/>
        </p:nvSpPr>
        <p:spPr>
          <a:xfrm>
            <a:off x="7898221" y="3520440"/>
            <a:ext cx="731520" cy="731520"/>
          </a:xfrm>
          <a:prstGeom prst="ellipse">
            <a:avLst/>
          </a:prstGeom>
          <a:solidFill>
            <a:srgbClr val="E1462C"/>
          </a:solidFill>
          <a:ln w="25400">
            <a:solidFill>
              <a:srgbClr val="111111"/>
            </a:solidFill>
            <a:prstDash val="solid"/>
          </a:ln>
        </p:spPr>
        <p:txBody>
          <a:bodyPr/>
          <a:lstStyle/>
          <a:p>
            <a:endParaRPr lang="en-US"/>
          </a:p>
        </p:txBody>
      </p:sp>
      <p:sp>
        <p:nvSpPr>
          <p:cNvPr id="14" name="Text 12"/>
          <p:cNvSpPr/>
          <p:nvPr/>
        </p:nvSpPr>
        <p:spPr>
          <a:xfrm>
            <a:off x="8823960" y="1399032"/>
            <a:ext cx="1097280" cy="274320"/>
          </a:xfrm>
          <a:prstGeom prst="rect">
            <a:avLst/>
          </a:prstGeom>
          <a:noFill/>
          <a:ln/>
        </p:spPr>
        <p:txBody>
          <a:bodyPr wrap="square" lIns="0" tIns="0" rIns="0" bIns="0" rtlCol="0" anchor="ctr"/>
          <a:lstStyle/>
          <a:p>
            <a:pPr marL="0" indent="0" algn="ctr">
              <a:buNone/>
            </a:pPr>
            <a:r>
              <a:rPr lang="en-US" sz="1100" b="1" dirty="0">
                <a:solidFill>
                  <a:srgbClr val="111111"/>
                </a:solidFill>
                <a:latin typeface="Courier New" pitchFamily="34" charset="0"/>
                <a:ea typeface="Courier New" pitchFamily="34" charset="-122"/>
                <a:cs typeface="Courier New" pitchFamily="34" charset="-120"/>
              </a:rPr>
              <a:t>DO</a:t>
            </a:r>
            <a:endParaRPr lang="en-US" sz="1100" dirty="0"/>
          </a:p>
        </p:txBody>
      </p:sp>
      <p:sp>
        <p:nvSpPr>
          <p:cNvPr id="15" name="Text 13"/>
          <p:cNvSpPr/>
          <p:nvPr/>
        </p:nvSpPr>
        <p:spPr>
          <a:xfrm>
            <a:off x="9749699" y="4416552"/>
            <a:ext cx="1463040" cy="274320"/>
          </a:xfrm>
          <a:prstGeom prst="rect">
            <a:avLst/>
          </a:prstGeom>
          <a:noFill/>
          <a:ln/>
        </p:spPr>
        <p:txBody>
          <a:bodyPr wrap="square" lIns="0" tIns="0" rIns="0" bIns="0" rtlCol="0" anchor="ctr"/>
          <a:lstStyle/>
          <a:p>
            <a:pPr marL="0" indent="0" algn="ctr">
              <a:buNone/>
            </a:pPr>
            <a:r>
              <a:rPr lang="en-US" sz="1100" b="1" dirty="0">
                <a:solidFill>
                  <a:srgbClr val="111111"/>
                </a:solidFill>
                <a:latin typeface="Courier New" pitchFamily="34" charset="0"/>
                <a:ea typeface="Courier New" pitchFamily="34" charset="-122"/>
                <a:cs typeface="Courier New" pitchFamily="34" charset="-120"/>
              </a:rPr>
              <a:t>CHECK</a:t>
            </a:r>
            <a:endParaRPr lang="en-US" sz="1100" dirty="0"/>
          </a:p>
        </p:txBody>
      </p:sp>
      <p:sp>
        <p:nvSpPr>
          <p:cNvPr id="16" name="Text 14"/>
          <p:cNvSpPr/>
          <p:nvPr/>
        </p:nvSpPr>
        <p:spPr>
          <a:xfrm>
            <a:off x="7532461" y="4416552"/>
            <a:ext cx="1463040" cy="274320"/>
          </a:xfrm>
          <a:prstGeom prst="rect">
            <a:avLst/>
          </a:prstGeom>
          <a:noFill/>
          <a:ln/>
        </p:spPr>
        <p:txBody>
          <a:bodyPr wrap="square" lIns="0" tIns="0" rIns="0" bIns="0" rtlCol="0" anchor="ctr"/>
          <a:lstStyle/>
          <a:p>
            <a:pPr marL="0" indent="0" algn="ctr">
              <a:buNone/>
            </a:pPr>
            <a:r>
              <a:rPr lang="en-US" sz="1100" b="1" dirty="0">
                <a:solidFill>
                  <a:srgbClr val="111111"/>
                </a:solidFill>
                <a:latin typeface="Courier New" pitchFamily="34" charset="0"/>
                <a:ea typeface="Courier New" pitchFamily="34" charset="-122"/>
                <a:cs typeface="Courier New" pitchFamily="34" charset="-120"/>
              </a:rPr>
              <a:t>DECIDE</a:t>
            </a:r>
            <a:endParaRPr lang="en-US" sz="1100" dirty="0"/>
          </a:p>
        </p:txBody>
      </p:sp>
      <p:sp>
        <p:nvSpPr>
          <p:cNvPr id="17" name="Shape 15"/>
          <p:cNvSpPr/>
          <p:nvPr/>
        </p:nvSpPr>
        <p:spPr>
          <a:xfrm rot="8100000">
            <a:off x="10166299" y="2145182"/>
            <a:ext cx="292608" cy="292608"/>
          </a:xfrm>
          <a:prstGeom prst="triangle">
            <a:avLst/>
          </a:prstGeom>
          <a:solidFill>
            <a:srgbClr val="111111"/>
          </a:solidFill>
          <a:ln w="12700">
            <a:solidFill>
              <a:srgbClr val="111111"/>
            </a:solidFill>
            <a:prstDash val="solid"/>
          </a:ln>
        </p:spPr>
        <p:txBody>
          <a:bodyPr/>
          <a:lstStyle/>
          <a:p>
            <a:endParaRPr lang="en-US"/>
          </a:p>
        </p:txBody>
      </p:sp>
      <p:sp>
        <p:nvSpPr>
          <p:cNvPr id="18" name="Text 16"/>
          <p:cNvSpPr/>
          <p:nvPr/>
        </p:nvSpPr>
        <p:spPr>
          <a:xfrm>
            <a:off x="7040880" y="5029200"/>
            <a:ext cx="4846320" cy="274320"/>
          </a:xfrm>
          <a:prstGeom prst="rect">
            <a:avLst/>
          </a:prstGeom>
          <a:noFill/>
          <a:ln/>
        </p:spPr>
        <p:txBody>
          <a:bodyPr wrap="square" lIns="0" tIns="0" rIns="0" bIns="0" rtlCol="0" anchor="ctr"/>
          <a:lstStyle/>
          <a:p>
            <a:pPr marL="0" indent="0" algn="l">
              <a:buNone/>
            </a:pPr>
            <a:r>
              <a:rPr lang="en-US" sz="1100" b="1" dirty="0">
                <a:solidFill>
                  <a:srgbClr val="E1462C"/>
                </a:solidFill>
                <a:latin typeface="Courier New" pitchFamily="34" charset="0"/>
                <a:ea typeface="Courier New" pitchFamily="34" charset="-122"/>
                <a:cs typeface="Courier New" pitchFamily="34" charset="-120"/>
              </a:rPr>
              <a:t>WHO CHECKS THE WORK?  THE LOOP DOES</a:t>
            </a:r>
            <a:endParaRPr lang="en-US" sz="1100" dirty="0"/>
          </a:p>
        </p:txBody>
      </p:sp>
      <p:sp>
        <p:nvSpPr>
          <p:cNvPr id="19" name="Shape 17"/>
          <p:cNvSpPr/>
          <p:nvPr/>
        </p:nvSpPr>
        <p:spPr>
          <a:xfrm>
            <a:off x="1234440" y="6263640"/>
            <a:ext cx="9720072" cy="0"/>
          </a:xfrm>
          <a:prstGeom prst="line">
            <a:avLst/>
          </a:prstGeom>
          <a:noFill/>
          <a:ln w="19050">
            <a:solidFill>
              <a:srgbClr val="111111"/>
            </a:solidFill>
            <a:prstDash val="solid"/>
          </a:ln>
        </p:spPr>
        <p:txBody>
          <a:bodyPr/>
          <a:lstStyle/>
          <a:p>
            <a:endParaRPr lang="en-US"/>
          </a:p>
        </p:txBody>
      </p:sp>
      <p:sp>
        <p:nvSpPr>
          <p:cNvPr id="20" name="Shape 18"/>
          <p:cNvSpPr/>
          <p:nvPr/>
        </p:nvSpPr>
        <p:spPr>
          <a:xfrm>
            <a:off x="1152144" y="6181344"/>
            <a:ext cx="164592" cy="164592"/>
          </a:xfrm>
          <a:prstGeom prst="rect">
            <a:avLst/>
          </a:prstGeom>
          <a:solidFill>
            <a:srgbClr val="111111"/>
          </a:solidFill>
          <a:ln w="19050">
            <a:solidFill>
              <a:srgbClr val="111111"/>
            </a:solidFill>
            <a:prstDash val="solid"/>
          </a:ln>
        </p:spPr>
        <p:txBody>
          <a:bodyPr/>
          <a:lstStyle/>
          <a:p>
            <a:endParaRPr lang="en-US"/>
          </a:p>
        </p:txBody>
      </p:sp>
      <p:sp>
        <p:nvSpPr>
          <p:cNvPr id="21" name="Text 19"/>
          <p:cNvSpPr/>
          <p:nvPr/>
        </p:nvSpPr>
        <p:spPr>
          <a:xfrm>
            <a:off x="320040" y="6446520"/>
            <a:ext cx="1828800" cy="256032"/>
          </a:xfrm>
          <a:prstGeom prst="rect">
            <a:avLst/>
          </a:prstGeom>
          <a:noFill/>
          <a:ln/>
        </p:spPr>
        <p:txBody>
          <a:bodyPr wrap="square" lIns="0" tIns="0" rIns="0" bIns="0" rtlCol="0" anchor="ctr"/>
          <a:lstStyle/>
          <a:p>
            <a:pPr marL="0" indent="0" algn="ctr">
              <a:buNone/>
            </a:pPr>
            <a:r>
              <a:rPr lang="en-US" sz="900" dirty="0">
                <a:solidFill>
                  <a:srgbClr val="111111"/>
                </a:solidFill>
                <a:latin typeface="Courier New" pitchFamily="34" charset="0"/>
                <a:ea typeface="Courier New" pitchFamily="34" charset="-122"/>
                <a:cs typeface="Courier New" pitchFamily="34" charset="-120"/>
              </a:rPr>
              <a:t>1 AUTOCOMPLETE</a:t>
            </a:r>
            <a:endParaRPr lang="en-US" sz="900" dirty="0"/>
          </a:p>
        </p:txBody>
      </p:sp>
      <p:sp>
        <p:nvSpPr>
          <p:cNvPr id="22" name="Shape 20"/>
          <p:cNvSpPr/>
          <p:nvPr/>
        </p:nvSpPr>
        <p:spPr>
          <a:xfrm>
            <a:off x="3096158" y="6181344"/>
            <a:ext cx="164592" cy="164592"/>
          </a:xfrm>
          <a:prstGeom prst="rect">
            <a:avLst/>
          </a:prstGeom>
          <a:solidFill>
            <a:srgbClr val="111111"/>
          </a:solidFill>
          <a:ln w="19050">
            <a:solidFill>
              <a:srgbClr val="111111"/>
            </a:solidFill>
            <a:prstDash val="solid"/>
          </a:ln>
        </p:spPr>
        <p:txBody>
          <a:bodyPr/>
          <a:lstStyle/>
          <a:p>
            <a:endParaRPr lang="en-US"/>
          </a:p>
        </p:txBody>
      </p:sp>
      <p:sp>
        <p:nvSpPr>
          <p:cNvPr id="23" name="Text 21"/>
          <p:cNvSpPr/>
          <p:nvPr/>
        </p:nvSpPr>
        <p:spPr>
          <a:xfrm>
            <a:off x="2264054" y="6446520"/>
            <a:ext cx="1828800" cy="256032"/>
          </a:xfrm>
          <a:prstGeom prst="rect">
            <a:avLst/>
          </a:prstGeom>
          <a:noFill/>
          <a:ln/>
        </p:spPr>
        <p:txBody>
          <a:bodyPr wrap="square" lIns="0" tIns="0" rIns="0" bIns="0" rtlCol="0" anchor="ctr"/>
          <a:lstStyle/>
          <a:p>
            <a:pPr marL="0" indent="0" algn="ctr">
              <a:buNone/>
            </a:pPr>
            <a:r>
              <a:rPr lang="en-US" sz="900" dirty="0">
                <a:solidFill>
                  <a:srgbClr val="111111"/>
                </a:solidFill>
                <a:latin typeface="Courier New" pitchFamily="34" charset="0"/>
                <a:ea typeface="Courier New" pitchFamily="34" charset="-122"/>
                <a:cs typeface="Courier New" pitchFamily="34" charset="-120"/>
              </a:rPr>
              <a:t>2 COPILOT</a:t>
            </a:r>
            <a:endParaRPr lang="en-US" sz="900" dirty="0"/>
          </a:p>
        </p:txBody>
      </p:sp>
      <p:sp>
        <p:nvSpPr>
          <p:cNvPr id="24" name="Shape 22"/>
          <p:cNvSpPr/>
          <p:nvPr/>
        </p:nvSpPr>
        <p:spPr>
          <a:xfrm>
            <a:off x="5040173" y="6181344"/>
            <a:ext cx="164592" cy="164592"/>
          </a:xfrm>
          <a:prstGeom prst="rect">
            <a:avLst/>
          </a:prstGeom>
          <a:solidFill>
            <a:srgbClr val="111111"/>
          </a:solidFill>
          <a:ln w="19050">
            <a:solidFill>
              <a:srgbClr val="111111"/>
            </a:solidFill>
            <a:prstDash val="solid"/>
          </a:ln>
        </p:spPr>
        <p:txBody>
          <a:bodyPr/>
          <a:lstStyle/>
          <a:p>
            <a:endParaRPr lang="en-US"/>
          </a:p>
        </p:txBody>
      </p:sp>
      <p:sp>
        <p:nvSpPr>
          <p:cNvPr id="25" name="Text 23"/>
          <p:cNvSpPr/>
          <p:nvPr/>
        </p:nvSpPr>
        <p:spPr>
          <a:xfrm>
            <a:off x="4208069" y="6446520"/>
            <a:ext cx="1828800" cy="256032"/>
          </a:xfrm>
          <a:prstGeom prst="rect">
            <a:avLst/>
          </a:prstGeom>
          <a:noFill/>
          <a:ln/>
        </p:spPr>
        <p:txBody>
          <a:bodyPr wrap="square" lIns="0" tIns="0" rIns="0" bIns="0" rtlCol="0" anchor="ctr"/>
          <a:lstStyle/>
          <a:p>
            <a:pPr marL="0" indent="0" algn="ctr">
              <a:buNone/>
            </a:pPr>
            <a:r>
              <a:rPr lang="en-US" sz="900" dirty="0">
                <a:solidFill>
                  <a:srgbClr val="111111"/>
                </a:solidFill>
                <a:latin typeface="Courier New" pitchFamily="34" charset="0"/>
                <a:ea typeface="Courier New" pitchFamily="34" charset="-122"/>
                <a:cs typeface="Courier New" pitchFamily="34" charset="-120"/>
              </a:rPr>
              <a:t>3 CHAT</a:t>
            </a:r>
            <a:endParaRPr lang="en-US" sz="900" dirty="0"/>
          </a:p>
        </p:txBody>
      </p:sp>
      <p:sp>
        <p:nvSpPr>
          <p:cNvPr id="26" name="Shape 24"/>
          <p:cNvSpPr/>
          <p:nvPr/>
        </p:nvSpPr>
        <p:spPr>
          <a:xfrm>
            <a:off x="6984187" y="6181344"/>
            <a:ext cx="164592" cy="164592"/>
          </a:xfrm>
          <a:prstGeom prst="rect">
            <a:avLst/>
          </a:prstGeom>
          <a:solidFill>
            <a:srgbClr val="111111"/>
          </a:solidFill>
          <a:ln w="19050">
            <a:solidFill>
              <a:srgbClr val="111111"/>
            </a:solidFill>
            <a:prstDash val="solid"/>
          </a:ln>
        </p:spPr>
        <p:txBody>
          <a:bodyPr/>
          <a:lstStyle/>
          <a:p>
            <a:endParaRPr lang="en-US"/>
          </a:p>
        </p:txBody>
      </p:sp>
      <p:sp>
        <p:nvSpPr>
          <p:cNvPr id="27" name="Text 25"/>
          <p:cNvSpPr/>
          <p:nvPr/>
        </p:nvSpPr>
        <p:spPr>
          <a:xfrm>
            <a:off x="6152083" y="6446520"/>
            <a:ext cx="1828800" cy="256032"/>
          </a:xfrm>
          <a:prstGeom prst="rect">
            <a:avLst/>
          </a:prstGeom>
          <a:noFill/>
          <a:ln/>
        </p:spPr>
        <p:txBody>
          <a:bodyPr wrap="square" lIns="0" tIns="0" rIns="0" bIns="0" rtlCol="0" anchor="ctr"/>
          <a:lstStyle/>
          <a:p>
            <a:pPr marL="0" indent="0" algn="ctr">
              <a:buNone/>
            </a:pPr>
            <a:r>
              <a:rPr lang="en-US" sz="900" dirty="0">
                <a:solidFill>
                  <a:srgbClr val="111111"/>
                </a:solidFill>
                <a:latin typeface="Courier New" pitchFamily="34" charset="0"/>
                <a:ea typeface="Courier New" pitchFamily="34" charset="-122"/>
                <a:cs typeface="Courier New" pitchFamily="34" charset="-120"/>
              </a:rPr>
              <a:t>4 VIBE CODING</a:t>
            </a:r>
            <a:endParaRPr lang="en-US" sz="900" dirty="0"/>
          </a:p>
        </p:txBody>
      </p:sp>
      <p:sp>
        <p:nvSpPr>
          <p:cNvPr id="28" name="Shape 26"/>
          <p:cNvSpPr/>
          <p:nvPr/>
        </p:nvSpPr>
        <p:spPr>
          <a:xfrm>
            <a:off x="8928202" y="6181344"/>
            <a:ext cx="164592" cy="164592"/>
          </a:xfrm>
          <a:prstGeom prst="rect">
            <a:avLst/>
          </a:prstGeom>
          <a:solidFill>
            <a:srgbClr val="111111"/>
          </a:solidFill>
          <a:ln w="19050">
            <a:solidFill>
              <a:srgbClr val="111111"/>
            </a:solidFill>
            <a:prstDash val="solid"/>
          </a:ln>
        </p:spPr>
        <p:txBody>
          <a:bodyPr/>
          <a:lstStyle/>
          <a:p>
            <a:endParaRPr lang="en-US"/>
          </a:p>
        </p:txBody>
      </p:sp>
      <p:sp>
        <p:nvSpPr>
          <p:cNvPr id="29" name="Text 27"/>
          <p:cNvSpPr/>
          <p:nvPr/>
        </p:nvSpPr>
        <p:spPr>
          <a:xfrm>
            <a:off x="8096098" y="6446520"/>
            <a:ext cx="1828800" cy="256032"/>
          </a:xfrm>
          <a:prstGeom prst="rect">
            <a:avLst/>
          </a:prstGeom>
          <a:noFill/>
          <a:ln/>
        </p:spPr>
        <p:txBody>
          <a:bodyPr wrap="square" lIns="0" tIns="0" rIns="0" bIns="0" rtlCol="0" anchor="ctr"/>
          <a:lstStyle/>
          <a:p>
            <a:pPr marL="0" indent="0" algn="ctr">
              <a:buNone/>
            </a:pPr>
            <a:r>
              <a:rPr lang="en-US" sz="900" dirty="0">
                <a:solidFill>
                  <a:srgbClr val="111111"/>
                </a:solidFill>
                <a:latin typeface="Courier New" pitchFamily="34" charset="0"/>
                <a:ea typeface="Courier New" pitchFamily="34" charset="-122"/>
                <a:cs typeface="Courier New" pitchFamily="34" charset="-120"/>
              </a:rPr>
              <a:t>5 TWO AGENTS</a:t>
            </a:r>
            <a:endParaRPr lang="en-US" sz="900" dirty="0"/>
          </a:p>
        </p:txBody>
      </p:sp>
      <p:sp>
        <p:nvSpPr>
          <p:cNvPr id="30" name="Shape 28"/>
          <p:cNvSpPr/>
          <p:nvPr/>
        </p:nvSpPr>
        <p:spPr>
          <a:xfrm>
            <a:off x="10817352" y="6126480"/>
            <a:ext cx="274320" cy="274320"/>
          </a:xfrm>
          <a:prstGeom prst="rect">
            <a:avLst/>
          </a:prstGeom>
          <a:solidFill>
            <a:srgbClr val="E1462C"/>
          </a:solidFill>
          <a:ln w="19050">
            <a:solidFill>
              <a:srgbClr val="111111"/>
            </a:solidFill>
            <a:prstDash val="solid"/>
          </a:ln>
        </p:spPr>
        <p:txBody>
          <a:bodyPr/>
          <a:lstStyle/>
          <a:p>
            <a:endParaRPr lang="en-US"/>
          </a:p>
        </p:txBody>
      </p:sp>
      <p:sp>
        <p:nvSpPr>
          <p:cNvPr id="31" name="Text 29"/>
          <p:cNvSpPr/>
          <p:nvPr/>
        </p:nvSpPr>
        <p:spPr>
          <a:xfrm>
            <a:off x="10040112" y="6446520"/>
            <a:ext cx="1828800" cy="256032"/>
          </a:xfrm>
          <a:prstGeom prst="rect">
            <a:avLst/>
          </a:prstGeom>
          <a:noFill/>
          <a:ln/>
        </p:spPr>
        <p:txBody>
          <a:bodyPr wrap="square" lIns="0" tIns="0" rIns="0" bIns="0" rtlCol="0" anchor="ctr"/>
          <a:lstStyle/>
          <a:p>
            <a:pPr marL="0" indent="0" algn="ctr">
              <a:buNone/>
            </a:pPr>
            <a:r>
              <a:rPr lang="en-US" sz="900" b="1" dirty="0">
                <a:solidFill>
                  <a:srgbClr val="111111"/>
                </a:solidFill>
                <a:latin typeface="Courier New" pitchFamily="34" charset="0"/>
                <a:ea typeface="Courier New" pitchFamily="34" charset="-122"/>
                <a:cs typeface="Courier New" pitchFamily="34" charset="-120"/>
              </a:rPr>
              <a:t>6 LOOPS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EFE9"/>
        </a:solidFill>
        <a:effectLst/>
      </p:bgPr>
    </p:bg>
    <p:spTree>
      <p:nvGrpSpPr>
        <p:cNvPr id="1" name=""/>
        <p:cNvGrpSpPr/>
        <p:nvPr/>
      </p:nvGrpSpPr>
      <p:grpSpPr>
        <a:xfrm>
          <a:off x="0" y="0"/>
          <a:ext cx="0" cy="0"/>
          <a:chOff x="0" y="0"/>
          <a:chExt cx="0" cy="0"/>
        </a:xfrm>
      </p:grpSpPr>
      <p:sp>
        <p:nvSpPr>
          <p:cNvPr id="2" name="Text 0"/>
          <p:cNvSpPr/>
          <p:nvPr/>
        </p:nvSpPr>
        <p:spPr>
          <a:xfrm>
            <a:off x="11430000" y="182880"/>
            <a:ext cx="594360" cy="274320"/>
          </a:xfrm>
          <a:prstGeom prst="rect">
            <a:avLst/>
          </a:prstGeom>
          <a:noFill/>
          <a:ln/>
        </p:spPr>
        <p:txBody>
          <a:bodyPr wrap="square" lIns="0" tIns="0" rIns="0" bIns="0" rtlCol="0" anchor="ctr"/>
          <a:lstStyle/>
          <a:p>
            <a:pPr marL="0" indent="0" algn="r">
              <a:buNone/>
            </a:pPr>
            <a:r>
              <a:rPr lang="en-US" sz="1000" dirty="0">
                <a:solidFill>
                  <a:srgbClr val="111111"/>
                </a:solidFill>
                <a:latin typeface="Courier New" pitchFamily="34" charset="0"/>
                <a:ea typeface="Courier New" pitchFamily="34" charset="-122"/>
                <a:cs typeface="Courier New" pitchFamily="34" charset="-120"/>
              </a:rPr>
              <a:t>10</a:t>
            </a:r>
            <a:endParaRPr lang="en-US" sz="1000" dirty="0"/>
          </a:p>
        </p:txBody>
      </p:sp>
      <p:sp>
        <p:nvSpPr>
          <p:cNvPr id="3" name="Text 1"/>
          <p:cNvSpPr/>
          <p:nvPr/>
        </p:nvSpPr>
        <p:spPr>
          <a:xfrm>
            <a:off x="548640" y="548640"/>
            <a:ext cx="10515600" cy="1051560"/>
          </a:xfrm>
          <a:prstGeom prst="rect">
            <a:avLst/>
          </a:prstGeom>
          <a:noFill/>
          <a:ln/>
        </p:spPr>
        <p:txBody>
          <a:bodyPr wrap="square" lIns="0" tIns="0" rIns="0" bIns="0" rtlCol="0" anchor="t"/>
          <a:lstStyle/>
          <a:p>
            <a:pPr marL="0" indent="0">
              <a:buNone/>
            </a:pPr>
            <a:r>
              <a:rPr lang="en-US" sz="4400" b="1" dirty="0">
                <a:solidFill>
                  <a:srgbClr val="111111"/>
                </a:solidFill>
                <a:latin typeface="Arial" pitchFamily="34" charset="0"/>
                <a:ea typeface="Arial" pitchFamily="34" charset="-122"/>
                <a:cs typeface="Arial" pitchFamily="34" charset="-120"/>
              </a:rPr>
              <a:t>A LOOP IS THREE STEPS</a:t>
            </a:r>
            <a:endParaRPr lang="en-US" sz="4400" dirty="0"/>
          </a:p>
        </p:txBody>
      </p:sp>
      <p:sp>
        <p:nvSpPr>
          <p:cNvPr id="4" name="Shape 2"/>
          <p:cNvSpPr/>
          <p:nvPr/>
        </p:nvSpPr>
        <p:spPr>
          <a:xfrm>
            <a:off x="566928" y="2148840"/>
            <a:ext cx="3200400" cy="1371600"/>
          </a:xfrm>
          <a:prstGeom prst="rect">
            <a:avLst/>
          </a:prstGeom>
          <a:solidFill>
            <a:srgbClr val="1B3FA0"/>
          </a:solidFill>
          <a:ln w="22225">
            <a:solidFill>
              <a:srgbClr val="111111"/>
            </a:solidFill>
            <a:prstDash val="solid"/>
          </a:ln>
        </p:spPr>
        <p:txBody>
          <a:bodyPr/>
          <a:lstStyle/>
          <a:p>
            <a:endParaRPr lang="en-US"/>
          </a:p>
        </p:txBody>
      </p:sp>
      <p:sp>
        <p:nvSpPr>
          <p:cNvPr id="5" name="Text 3"/>
          <p:cNvSpPr/>
          <p:nvPr/>
        </p:nvSpPr>
        <p:spPr>
          <a:xfrm>
            <a:off x="566928" y="2148840"/>
            <a:ext cx="3200400" cy="1371600"/>
          </a:xfrm>
          <a:prstGeom prst="rect">
            <a:avLst/>
          </a:prstGeom>
          <a:noFill/>
          <a:ln/>
        </p:spPr>
        <p:txBody>
          <a:bodyPr wrap="square" lIns="508" tIns="508" rIns="508" bIns="508" rtlCol="0" anchor="ctr"/>
          <a:lstStyle/>
          <a:p>
            <a:pPr marL="0" indent="0" algn="ctr">
              <a:buNone/>
            </a:pPr>
            <a:r>
              <a:rPr lang="en-US" sz="4000" b="1" dirty="0">
                <a:solidFill>
                  <a:srgbClr val="F2EFE9"/>
                </a:solidFill>
                <a:latin typeface="Arial" pitchFamily="34" charset="0"/>
                <a:ea typeface="Arial" pitchFamily="34" charset="-122"/>
                <a:cs typeface="Arial" pitchFamily="34" charset="-120"/>
              </a:rPr>
              <a:t>DO</a:t>
            </a:r>
            <a:endParaRPr lang="en-US" sz="4000" dirty="0"/>
          </a:p>
        </p:txBody>
      </p:sp>
      <p:sp>
        <p:nvSpPr>
          <p:cNvPr id="6" name="Shape 4"/>
          <p:cNvSpPr/>
          <p:nvPr/>
        </p:nvSpPr>
        <p:spPr>
          <a:xfrm>
            <a:off x="4498848" y="2148840"/>
            <a:ext cx="3200400" cy="1371600"/>
          </a:xfrm>
          <a:prstGeom prst="rect">
            <a:avLst/>
          </a:prstGeom>
          <a:solidFill>
            <a:srgbClr val="F5C518"/>
          </a:solidFill>
          <a:ln w="22225">
            <a:solidFill>
              <a:srgbClr val="111111"/>
            </a:solidFill>
            <a:prstDash val="solid"/>
          </a:ln>
        </p:spPr>
        <p:txBody>
          <a:bodyPr/>
          <a:lstStyle/>
          <a:p>
            <a:endParaRPr lang="en-US"/>
          </a:p>
        </p:txBody>
      </p:sp>
      <p:sp>
        <p:nvSpPr>
          <p:cNvPr id="7" name="Text 5"/>
          <p:cNvSpPr/>
          <p:nvPr/>
        </p:nvSpPr>
        <p:spPr>
          <a:xfrm>
            <a:off x="4498848" y="2148840"/>
            <a:ext cx="3200400" cy="1371600"/>
          </a:xfrm>
          <a:prstGeom prst="rect">
            <a:avLst/>
          </a:prstGeom>
          <a:noFill/>
          <a:ln/>
        </p:spPr>
        <p:txBody>
          <a:bodyPr wrap="square" lIns="508" tIns="508" rIns="508" bIns="508" rtlCol="0" anchor="ctr"/>
          <a:lstStyle/>
          <a:p>
            <a:pPr marL="0" indent="0" algn="ctr">
              <a:buNone/>
            </a:pPr>
            <a:r>
              <a:rPr lang="en-US" sz="4000" b="1" dirty="0">
                <a:solidFill>
                  <a:srgbClr val="111111"/>
                </a:solidFill>
                <a:latin typeface="Arial" pitchFamily="34" charset="0"/>
                <a:ea typeface="Arial" pitchFamily="34" charset="-122"/>
                <a:cs typeface="Arial" pitchFamily="34" charset="-120"/>
              </a:rPr>
              <a:t>CHECK</a:t>
            </a:r>
            <a:endParaRPr lang="en-US" sz="4000" dirty="0"/>
          </a:p>
        </p:txBody>
      </p:sp>
      <p:sp>
        <p:nvSpPr>
          <p:cNvPr id="8" name="Shape 6"/>
          <p:cNvSpPr/>
          <p:nvPr/>
        </p:nvSpPr>
        <p:spPr>
          <a:xfrm>
            <a:off x="8430768" y="2148840"/>
            <a:ext cx="3200400" cy="1371600"/>
          </a:xfrm>
          <a:prstGeom prst="rect">
            <a:avLst/>
          </a:prstGeom>
          <a:solidFill>
            <a:srgbClr val="E1462C"/>
          </a:solidFill>
          <a:ln w="22225">
            <a:solidFill>
              <a:srgbClr val="111111"/>
            </a:solidFill>
            <a:prstDash val="solid"/>
          </a:ln>
        </p:spPr>
        <p:txBody>
          <a:bodyPr/>
          <a:lstStyle/>
          <a:p>
            <a:endParaRPr lang="en-US"/>
          </a:p>
        </p:txBody>
      </p:sp>
      <p:sp>
        <p:nvSpPr>
          <p:cNvPr id="9" name="Text 7"/>
          <p:cNvSpPr/>
          <p:nvPr/>
        </p:nvSpPr>
        <p:spPr>
          <a:xfrm>
            <a:off x="8430768" y="2148840"/>
            <a:ext cx="3200400" cy="1371600"/>
          </a:xfrm>
          <a:prstGeom prst="rect">
            <a:avLst/>
          </a:prstGeom>
          <a:noFill/>
          <a:ln/>
        </p:spPr>
        <p:txBody>
          <a:bodyPr wrap="square" lIns="508" tIns="508" rIns="508" bIns="508" rtlCol="0" anchor="ctr"/>
          <a:lstStyle/>
          <a:p>
            <a:pPr marL="0" indent="0" algn="ctr">
              <a:buNone/>
            </a:pPr>
            <a:r>
              <a:rPr lang="en-US" sz="4000" b="1" dirty="0">
                <a:solidFill>
                  <a:srgbClr val="F2EFE9"/>
                </a:solidFill>
                <a:latin typeface="Arial" pitchFamily="34" charset="0"/>
                <a:ea typeface="Arial" pitchFamily="34" charset="-122"/>
                <a:cs typeface="Arial" pitchFamily="34" charset="-120"/>
              </a:rPr>
              <a:t>DECIDE</a:t>
            </a:r>
            <a:endParaRPr lang="en-US" sz="4000" dirty="0"/>
          </a:p>
        </p:txBody>
      </p:sp>
      <p:sp>
        <p:nvSpPr>
          <p:cNvPr id="10" name="Shape 8"/>
          <p:cNvSpPr/>
          <p:nvPr/>
        </p:nvSpPr>
        <p:spPr>
          <a:xfrm>
            <a:off x="3794760" y="2834640"/>
            <a:ext cx="658368" cy="0"/>
          </a:xfrm>
          <a:prstGeom prst="line">
            <a:avLst/>
          </a:prstGeom>
          <a:noFill/>
          <a:ln w="22225">
            <a:solidFill>
              <a:srgbClr val="111111"/>
            </a:solidFill>
            <a:prstDash val="solid"/>
            <a:tailEnd type="triangle"/>
          </a:ln>
        </p:spPr>
        <p:txBody>
          <a:bodyPr/>
          <a:lstStyle/>
          <a:p>
            <a:endParaRPr lang="en-US"/>
          </a:p>
        </p:txBody>
      </p:sp>
      <p:sp>
        <p:nvSpPr>
          <p:cNvPr id="11" name="Shape 9"/>
          <p:cNvSpPr/>
          <p:nvPr/>
        </p:nvSpPr>
        <p:spPr>
          <a:xfrm>
            <a:off x="7726680" y="2834640"/>
            <a:ext cx="658368" cy="0"/>
          </a:xfrm>
          <a:prstGeom prst="line">
            <a:avLst/>
          </a:prstGeom>
          <a:noFill/>
          <a:ln w="22225">
            <a:solidFill>
              <a:srgbClr val="111111"/>
            </a:solidFill>
            <a:prstDash val="solid"/>
            <a:tailEnd type="triangle"/>
          </a:ln>
        </p:spPr>
        <p:txBody>
          <a:bodyPr/>
          <a:lstStyle/>
          <a:p>
            <a:endParaRPr lang="en-US"/>
          </a:p>
        </p:txBody>
      </p:sp>
      <p:sp>
        <p:nvSpPr>
          <p:cNvPr id="12" name="Text 10"/>
          <p:cNvSpPr/>
          <p:nvPr/>
        </p:nvSpPr>
        <p:spPr>
          <a:xfrm>
            <a:off x="566928" y="3721608"/>
            <a:ext cx="3200400" cy="777240"/>
          </a:xfrm>
          <a:prstGeom prst="rect">
            <a:avLst/>
          </a:prstGeom>
          <a:noFill/>
          <a:ln/>
        </p:spPr>
        <p:txBody>
          <a:bodyPr wrap="square" lIns="0" tIns="0" rIns="0" bIns="0" rtlCol="0" anchor="t"/>
          <a:lstStyle/>
          <a:p>
            <a:pPr marL="0" indent="0">
              <a:buNone/>
            </a:pPr>
            <a:r>
              <a:rPr lang="en-US" sz="1700" dirty="0">
                <a:solidFill>
                  <a:srgbClr val="111111"/>
                </a:solidFill>
                <a:latin typeface="Arial" pitchFamily="34" charset="0"/>
                <a:ea typeface="Arial" pitchFamily="34" charset="-122"/>
                <a:cs typeface="Arial" pitchFamily="34" charset="-120"/>
              </a:rPr>
              <a:t>The AI does the work.</a:t>
            </a:r>
            <a:endParaRPr lang="en-US" sz="1700" dirty="0"/>
          </a:p>
        </p:txBody>
      </p:sp>
      <p:sp>
        <p:nvSpPr>
          <p:cNvPr id="13" name="Text 11"/>
          <p:cNvSpPr/>
          <p:nvPr/>
        </p:nvSpPr>
        <p:spPr>
          <a:xfrm>
            <a:off x="566928" y="4572000"/>
            <a:ext cx="3200400" cy="274320"/>
          </a:xfrm>
          <a:prstGeom prst="rect">
            <a:avLst/>
          </a:prstGeom>
          <a:noFill/>
          <a:ln/>
        </p:spPr>
        <p:txBody>
          <a:bodyPr wrap="square" lIns="0" tIns="0" rIns="0" bIns="0" rtlCol="0" anchor="ctr"/>
          <a:lstStyle/>
          <a:p>
            <a:pPr marL="0" indent="0" algn="l">
              <a:buNone/>
            </a:pPr>
            <a:r>
              <a:rPr lang="en-US" sz="1000" dirty="0">
                <a:solidFill>
                  <a:srgbClr val="E1462C"/>
                </a:solidFill>
                <a:latin typeface="Courier New" pitchFamily="34" charset="0"/>
                <a:ea typeface="Courier New" pitchFamily="34" charset="-122"/>
                <a:cs typeface="Courier New" pitchFamily="34" charset="-120"/>
              </a:rPr>
              <a:t>one call</a:t>
            </a:r>
            <a:endParaRPr lang="en-US" sz="1000" dirty="0"/>
          </a:p>
        </p:txBody>
      </p:sp>
      <p:sp>
        <p:nvSpPr>
          <p:cNvPr id="14" name="Text 12"/>
          <p:cNvSpPr/>
          <p:nvPr/>
        </p:nvSpPr>
        <p:spPr>
          <a:xfrm>
            <a:off x="4498848" y="3721608"/>
            <a:ext cx="3200400" cy="777240"/>
          </a:xfrm>
          <a:prstGeom prst="rect">
            <a:avLst/>
          </a:prstGeom>
          <a:noFill/>
          <a:ln/>
        </p:spPr>
        <p:txBody>
          <a:bodyPr wrap="square" lIns="0" tIns="0" rIns="0" bIns="0" rtlCol="0" anchor="t"/>
          <a:lstStyle/>
          <a:p>
            <a:pPr marL="0" indent="0">
              <a:buNone/>
            </a:pPr>
            <a:r>
              <a:rPr lang="en-US" sz="1700" dirty="0">
                <a:solidFill>
                  <a:srgbClr val="111111"/>
                </a:solidFill>
                <a:latin typeface="Arial" pitchFamily="34" charset="0"/>
                <a:ea typeface="Arial" pitchFamily="34" charset="-122"/>
                <a:cs typeface="Arial" pitchFamily="34" charset="-120"/>
              </a:rPr>
              <a:t>A different AI grades it</a:t>
            </a:r>
            <a:endParaRPr lang="en-US" sz="1700" dirty="0"/>
          </a:p>
          <a:p>
            <a:pPr marL="0" indent="0">
              <a:buNone/>
            </a:pPr>
            <a:r>
              <a:rPr lang="en-US" sz="1700" dirty="0">
                <a:solidFill>
                  <a:srgbClr val="111111"/>
                </a:solidFill>
                <a:latin typeface="Arial" pitchFamily="34" charset="0"/>
                <a:ea typeface="Arial" pitchFamily="34" charset="-122"/>
                <a:cs typeface="Arial" pitchFamily="34" charset="-120"/>
              </a:rPr>
              <a:t>against your list.</a:t>
            </a:r>
            <a:endParaRPr lang="en-US" sz="1700" dirty="0"/>
          </a:p>
        </p:txBody>
      </p:sp>
      <p:sp>
        <p:nvSpPr>
          <p:cNvPr id="15" name="Text 13"/>
          <p:cNvSpPr/>
          <p:nvPr/>
        </p:nvSpPr>
        <p:spPr>
          <a:xfrm>
            <a:off x="4498848" y="4572000"/>
            <a:ext cx="3200400" cy="274320"/>
          </a:xfrm>
          <a:prstGeom prst="rect">
            <a:avLst/>
          </a:prstGeom>
          <a:noFill/>
          <a:ln/>
        </p:spPr>
        <p:txBody>
          <a:bodyPr wrap="square" lIns="0" tIns="0" rIns="0" bIns="0" rtlCol="0" anchor="ctr"/>
          <a:lstStyle/>
          <a:p>
            <a:pPr marL="0" indent="0" algn="l">
              <a:buNone/>
            </a:pPr>
            <a:r>
              <a:rPr lang="en-US" sz="1000" dirty="0">
                <a:solidFill>
                  <a:srgbClr val="E1462C"/>
                </a:solidFill>
                <a:latin typeface="Courier New" pitchFamily="34" charset="0"/>
                <a:ea typeface="Courier New" pitchFamily="34" charset="-122"/>
                <a:cs typeface="Courier New" pitchFamily="34" charset="-120"/>
              </a:rPr>
              <a:t>a second call</a:t>
            </a:r>
            <a:endParaRPr lang="en-US" sz="1000" dirty="0"/>
          </a:p>
        </p:txBody>
      </p:sp>
      <p:sp>
        <p:nvSpPr>
          <p:cNvPr id="16" name="Text 14"/>
          <p:cNvSpPr/>
          <p:nvPr/>
        </p:nvSpPr>
        <p:spPr>
          <a:xfrm>
            <a:off x="8430768" y="3721608"/>
            <a:ext cx="3200400" cy="777240"/>
          </a:xfrm>
          <a:prstGeom prst="rect">
            <a:avLst/>
          </a:prstGeom>
          <a:noFill/>
          <a:ln/>
        </p:spPr>
        <p:txBody>
          <a:bodyPr wrap="square" lIns="0" tIns="0" rIns="0" bIns="0" rtlCol="0" anchor="t"/>
          <a:lstStyle/>
          <a:p>
            <a:pPr marL="0" indent="0">
              <a:buNone/>
            </a:pPr>
            <a:r>
              <a:rPr lang="en-US" sz="1700" dirty="0">
                <a:solidFill>
                  <a:srgbClr val="111111"/>
                </a:solidFill>
                <a:latin typeface="Arial" pitchFamily="34" charset="0"/>
                <a:ea typeface="Arial" pitchFamily="34" charset="-122"/>
                <a:cs typeface="Arial" pitchFamily="34" charset="-120"/>
              </a:rPr>
              <a:t>Plain code asks:</a:t>
            </a:r>
            <a:endParaRPr lang="en-US" sz="1700" dirty="0"/>
          </a:p>
          <a:p>
            <a:pPr marL="0" indent="0">
              <a:buNone/>
            </a:pPr>
            <a:r>
              <a:rPr lang="en-US" sz="1700" dirty="0">
                <a:solidFill>
                  <a:srgbClr val="111111"/>
                </a:solidFill>
                <a:latin typeface="Arial" pitchFamily="34" charset="0"/>
                <a:ea typeface="Arial" pitchFamily="34" charset="-122"/>
                <a:cs typeface="Arial" pitchFamily="34" charset="-120"/>
              </a:rPr>
              <a:t>good enough, or go again?</a:t>
            </a:r>
            <a:endParaRPr lang="en-US" sz="1700" dirty="0"/>
          </a:p>
        </p:txBody>
      </p:sp>
      <p:sp>
        <p:nvSpPr>
          <p:cNvPr id="17" name="Text 15"/>
          <p:cNvSpPr/>
          <p:nvPr/>
        </p:nvSpPr>
        <p:spPr>
          <a:xfrm>
            <a:off x="8430768" y="4572000"/>
            <a:ext cx="3200400" cy="274320"/>
          </a:xfrm>
          <a:prstGeom prst="rect">
            <a:avLst/>
          </a:prstGeom>
          <a:noFill/>
          <a:ln/>
        </p:spPr>
        <p:txBody>
          <a:bodyPr wrap="square" lIns="0" tIns="0" rIns="0" bIns="0" rtlCol="0" anchor="ctr"/>
          <a:lstStyle/>
          <a:p>
            <a:pPr marL="0" indent="0" algn="l">
              <a:buNone/>
            </a:pPr>
            <a:r>
              <a:rPr lang="en-US" sz="1000" dirty="0">
                <a:solidFill>
                  <a:srgbClr val="E1462C"/>
                </a:solidFill>
                <a:latin typeface="Courier New" pitchFamily="34" charset="0"/>
                <a:ea typeface="Courier New" pitchFamily="34" charset="-122"/>
                <a:cs typeface="Courier New" pitchFamily="34" charset="-120"/>
              </a:rPr>
              <a:t>no AI at all</a:t>
            </a:r>
            <a:endParaRPr lang="en-US" sz="1000" dirty="0"/>
          </a:p>
        </p:txBody>
      </p:sp>
      <p:sp>
        <p:nvSpPr>
          <p:cNvPr id="18" name="Shape 16"/>
          <p:cNvSpPr/>
          <p:nvPr/>
        </p:nvSpPr>
        <p:spPr>
          <a:xfrm>
            <a:off x="10030968" y="5001768"/>
            <a:ext cx="0" cy="621792"/>
          </a:xfrm>
          <a:prstGeom prst="line">
            <a:avLst/>
          </a:prstGeom>
          <a:noFill/>
          <a:ln w="19050">
            <a:solidFill>
              <a:srgbClr val="111111"/>
            </a:solidFill>
            <a:prstDash val="solid"/>
          </a:ln>
        </p:spPr>
        <p:txBody>
          <a:bodyPr/>
          <a:lstStyle/>
          <a:p>
            <a:endParaRPr lang="en-US"/>
          </a:p>
        </p:txBody>
      </p:sp>
      <p:sp>
        <p:nvSpPr>
          <p:cNvPr id="19" name="Shape 17"/>
          <p:cNvSpPr/>
          <p:nvPr/>
        </p:nvSpPr>
        <p:spPr>
          <a:xfrm>
            <a:off x="274320" y="5623560"/>
            <a:ext cx="9756648" cy="0"/>
          </a:xfrm>
          <a:prstGeom prst="line">
            <a:avLst/>
          </a:prstGeom>
          <a:noFill/>
          <a:ln w="19050">
            <a:solidFill>
              <a:srgbClr val="111111"/>
            </a:solidFill>
            <a:prstDash val="solid"/>
          </a:ln>
        </p:spPr>
        <p:txBody>
          <a:bodyPr/>
          <a:lstStyle/>
          <a:p>
            <a:endParaRPr lang="en-US"/>
          </a:p>
        </p:txBody>
      </p:sp>
      <p:sp>
        <p:nvSpPr>
          <p:cNvPr id="20" name="Shape 18"/>
          <p:cNvSpPr/>
          <p:nvPr/>
        </p:nvSpPr>
        <p:spPr>
          <a:xfrm>
            <a:off x="274320" y="2834640"/>
            <a:ext cx="0" cy="2788920"/>
          </a:xfrm>
          <a:prstGeom prst="line">
            <a:avLst/>
          </a:prstGeom>
          <a:noFill/>
          <a:ln w="19050">
            <a:solidFill>
              <a:srgbClr val="111111"/>
            </a:solidFill>
            <a:prstDash val="solid"/>
          </a:ln>
        </p:spPr>
        <p:txBody>
          <a:bodyPr/>
          <a:lstStyle/>
          <a:p>
            <a:endParaRPr lang="en-US"/>
          </a:p>
        </p:txBody>
      </p:sp>
      <p:sp>
        <p:nvSpPr>
          <p:cNvPr id="21" name="Shape 19"/>
          <p:cNvSpPr/>
          <p:nvPr/>
        </p:nvSpPr>
        <p:spPr>
          <a:xfrm>
            <a:off x="274320" y="2834640"/>
            <a:ext cx="292608" cy="0"/>
          </a:xfrm>
          <a:prstGeom prst="line">
            <a:avLst/>
          </a:prstGeom>
          <a:noFill/>
          <a:ln w="22225">
            <a:solidFill>
              <a:srgbClr val="111111"/>
            </a:solidFill>
            <a:prstDash val="solid"/>
            <a:tailEnd type="triangle"/>
          </a:ln>
        </p:spPr>
        <p:txBody>
          <a:bodyPr/>
          <a:lstStyle/>
          <a:p>
            <a:endParaRPr lang="en-US"/>
          </a:p>
        </p:txBody>
      </p:sp>
      <p:sp>
        <p:nvSpPr>
          <p:cNvPr id="22" name="Text 20"/>
          <p:cNvSpPr/>
          <p:nvPr/>
        </p:nvSpPr>
        <p:spPr>
          <a:xfrm>
            <a:off x="1280160" y="5303520"/>
            <a:ext cx="8595360" cy="274320"/>
          </a:xfrm>
          <a:prstGeom prst="rect">
            <a:avLst/>
          </a:prstGeom>
          <a:noFill/>
          <a:ln/>
        </p:spPr>
        <p:txBody>
          <a:bodyPr wrap="square" lIns="0" tIns="0" rIns="0" bIns="0" rtlCol="0" anchor="ctr"/>
          <a:lstStyle/>
          <a:p>
            <a:pPr marL="0" indent="0" algn="ctr">
              <a:buNone/>
            </a:pPr>
            <a:r>
              <a:rPr lang="en-US" sz="1100" b="1" dirty="0">
                <a:solidFill>
                  <a:srgbClr val="111111"/>
                </a:solidFill>
                <a:latin typeface="Courier New" pitchFamily="34" charset="0"/>
                <a:ea typeface="Courier New" pitchFamily="34" charset="-122"/>
                <a:cs typeface="Courier New" pitchFamily="34" charset="-120"/>
              </a:rPr>
              <a:t>IF NOT GOOD ENOUGH, GO AGAIN — WITH THE FAILURES AS THE NEW TO-DO LIST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EFE9"/>
        </a:solidFill>
        <a:effectLst/>
      </p:bgPr>
    </p:bg>
    <p:spTree>
      <p:nvGrpSpPr>
        <p:cNvPr id="1" name=""/>
        <p:cNvGrpSpPr/>
        <p:nvPr/>
      </p:nvGrpSpPr>
      <p:grpSpPr>
        <a:xfrm>
          <a:off x="0" y="0"/>
          <a:ext cx="0" cy="0"/>
          <a:chOff x="0" y="0"/>
          <a:chExt cx="0" cy="0"/>
        </a:xfrm>
      </p:grpSpPr>
      <p:sp>
        <p:nvSpPr>
          <p:cNvPr id="2" name="Text 0"/>
          <p:cNvSpPr/>
          <p:nvPr/>
        </p:nvSpPr>
        <p:spPr>
          <a:xfrm>
            <a:off x="11430000" y="182880"/>
            <a:ext cx="594360" cy="274320"/>
          </a:xfrm>
          <a:prstGeom prst="rect">
            <a:avLst/>
          </a:prstGeom>
          <a:noFill/>
          <a:ln/>
        </p:spPr>
        <p:txBody>
          <a:bodyPr wrap="square" lIns="0" tIns="0" rIns="0" bIns="0" rtlCol="0" anchor="ctr"/>
          <a:lstStyle/>
          <a:p>
            <a:pPr marL="0" indent="0" algn="r">
              <a:buNone/>
            </a:pPr>
            <a:r>
              <a:rPr lang="en-US" sz="1000" dirty="0">
                <a:solidFill>
                  <a:srgbClr val="111111"/>
                </a:solidFill>
                <a:latin typeface="Courier New" pitchFamily="34" charset="0"/>
                <a:ea typeface="Courier New" pitchFamily="34" charset="-122"/>
                <a:cs typeface="Courier New" pitchFamily="34" charset="-120"/>
              </a:rPr>
              <a:t>11</a:t>
            </a:r>
            <a:endParaRPr lang="en-US" sz="1000" dirty="0"/>
          </a:p>
        </p:txBody>
      </p:sp>
      <p:sp>
        <p:nvSpPr>
          <p:cNvPr id="3" name="Text 1"/>
          <p:cNvSpPr/>
          <p:nvPr/>
        </p:nvSpPr>
        <p:spPr>
          <a:xfrm>
            <a:off x="548640" y="548640"/>
            <a:ext cx="8686800" cy="1051560"/>
          </a:xfrm>
          <a:prstGeom prst="rect">
            <a:avLst/>
          </a:prstGeom>
          <a:noFill/>
          <a:ln/>
        </p:spPr>
        <p:txBody>
          <a:bodyPr wrap="square" lIns="0" tIns="0" rIns="0" bIns="0" rtlCol="0" anchor="t"/>
          <a:lstStyle/>
          <a:p>
            <a:pPr marL="0" indent="0">
              <a:buNone/>
            </a:pPr>
            <a:r>
              <a:rPr lang="en-US" sz="4000" b="1" dirty="0">
                <a:solidFill>
                  <a:srgbClr val="111111"/>
                </a:solidFill>
                <a:latin typeface="Arial" pitchFamily="34" charset="0"/>
                <a:ea typeface="Arial" pitchFamily="34" charset="-122"/>
                <a:cs typeface="Arial" pitchFamily="34" charset="-120"/>
              </a:rPr>
              <a:t>ONE LAP, IN PLAIN ENGLISH</a:t>
            </a:r>
            <a:endParaRPr lang="en-US" sz="4000" dirty="0"/>
          </a:p>
        </p:txBody>
      </p:sp>
      <p:sp>
        <p:nvSpPr>
          <p:cNvPr id="4" name="Text 2"/>
          <p:cNvSpPr/>
          <p:nvPr/>
        </p:nvSpPr>
        <p:spPr>
          <a:xfrm>
            <a:off x="594360" y="1536192"/>
            <a:ext cx="5486400" cy="274320"/>
          </a:xfrm>
          <a:prstGeom prst="rect">
            <a:avLst/>
          </a:prstGeom>
          <a:noFill/>
          <a:ln/>
        </p:spPr>
        <p:txBody>
          <a:bodyPr wrap="square" lIns="0" tIns="0" rIns="0" bIns="0" rtlCol="0" anchor="ctr"/>
          <a:lstStyle/>
          <a:p>
            <a:pPr marL="0" indent="0" algn="l">
              <a:buNone/>
            </a:pPr>
            <a:r>
              <a:rPr lang="en-US" sz="1100" b="1" dirty="0">
                <a:solidFill>
                  <a:srgbClr val="111111"/>
                </a:solidFill>
                <a:latin typeface="Courier New" pitchFamily="34" charset="0"/>
                <a:ea typeface="Courier New" pitchFamily="34" charset="-122"/>
                <a:cs typeface="Courier New" pitchFamily="34" charset="-120"/>
              </a:rPr>
              <a:t>TAILORING A RESUME TO A JOB AD</a:t>
            </a:r>
            <a:endParaRPr lang="en-US" sz="1100" dirty="0"/>
          </a:p>
        </p:txBody>
      </p:sp>
      <p:sp>
        <p:nvSpPr>
          <p:cNvPr id="5" name="Shape 3"/>
          <p:cNvSpPr/>
          <p:nvPr/>
        </p:nvSpPr>
        <p:spPr>
          <a:xfrm>
            <a:off x="594360" y="2139696"/>
            <a:ext cx="457200" cy="457200"/>
          </a:xfrm>
          <a:prstGeom prst="rect">
            <a:avLst/>
          </a:prstGeom>
          <a:solidFill>
            <a:srgbClr val="1B3FA0"/>
          </a:solidFill>
          <a:ln w="19050">
            <a:solidFill>
              <a:srgbClr val="111111"/>
            </a:solidFill>
            <a:prstDash val="solid"/>
          </a:ln>
        </p:spPr>
        <p:txBody>
          <a:bodyPr/>
          <a:lstStyle/>
          <a:p>
            <a:endParaRPr lang="en-US"/>
          </a:p>
        </p:txBody>
      </p:sp>
      <p:sp>
        <p:nvSpPr>
          <p:cNvPr id="6" name="Text 4"/>
          <p:cNvSpPr/>
          <p:nvPr/>
        </p:nvSpPr>
        <p:spPr>
          <a:xfrm>
            <a:off x="1234440" y="2084832"/>
            <a:ext cx="1463040" cy="457200"/>
          </a:xfrm>
          <a:prstGeom prst="rect">
            <a:avLst/>
          </a:prstGeom>
          <a:noFill/>
          <a:ln/>
        </p:spPr>
        <p:txBody>
          <a:bodyPr wrap="square" lIns="0" tIns="0" rIns="0" bIns="0" rtlCol="0" anchor="ctr"/>
          <a:lstStyle/>
          <a:p>
            <a:pPr marL="0" indent="0">
              <a:buNone/>
            </a:pPr>
            <a:r>
              <a:rPr lang="en-US" sz="2100" b="1" dirty="0">
                <a:solidFill>
                  <a:srgbClr val="111111"/>
                </a:solidFill>
                <a:latin typeface="Arial" pitchFamily="34" charset="0"/>
                <a:ea typeface="Arial" pitchFamily="34" charset="-122"/>
                <a:cs typeface="Arial" pitchFamily="34" charset="-120"/>
              </a:rPr>
              <a:t>DO</a:t>
            </a:r>
            <a:endParaRPr lang="en-US" sz="2100" dirty="0"/>
          </a:p>
        </p:txBody>
      </p:sp>
      <p:sp>
        <p:nvSpPr>
          <p:cNvPr id="7" name="Text 5"/>
          <p:cNvSpPr/>
          <p:nvPr/>
        </p:nvSpPr>
        <p:spPr>
          <a:xfrm>
            <a:off x="2788920" y="2121408"/>
            <a:ext cx="5120640" cy="502920"/>
          </a:xfrm>
          <a:prstGeom prst="rect">
            <a:avLst/>
          </a:prstGeom>
          <a:noFill/>
          <a:ln/>
        </p:spPr>
        <p:txBody>
          <a:bodyPr wrap="square" lIns="0" tIns="0" rIns="0" bIns="0" rtlCol="0" anchor="ctr"/>
          <a:lstStyle/>
          <a:p>
            <a:pPr marL="0" indent="0">
              <a:buNone/>
            </a:pPr>
            <a:r>
              <a:rPr lang="en-US" sz="1700" dirty="0">
                <a:solidFill>
                  <a:srgbClr val="111111"/>
                </a:solidFill>
                <a:latin typeface="Arial" pitchFamily="34" charset="0"/>
                <a:ea typeface="Arial" pitchFamily="34" charset="-122"/>
                <a:cs typeface="Arial" pitchFamily="34" charset="-120"/>
              </a:rPr>
              <a:t>The AI rewrites the resume for this job.</a:t>
            </a:r>
            <a:endParaRPr lang="en-US" sz="1700" dirty="0"/>
          </a:p>
        </p:txBody>
      </p:sp>
      <p:sp>
        <p:nvSpPr>
          <p:cNvPr id="8" name="Shape 6"/>
          <p:cNvSpPr/>
          <p:nvPr/>
        </p:nvSpPr>
        <p:spPr>
          <a:xfrm>
            <a:off x="594360" y="2980944"/>
            <a:ext cx="457200" cy="457200"/>
          </a:xfrm>
          <a:prstGeom prst="rect">
            <a:avLst/>
          </a:prstGeom>
          <a:solidFill>
            <a:srgbClr val="F5C518"/>
          </a:solidFill>
          <a:ln w="19050">
            <a:solidFill>
              <a:srgbClr val="111111"/>
            </a:solidFill>
            <a:prstDash val="solid"/>
          </a:ln>
        </p:spPr>
        <p:txBody>
          <a:bodyPr/>
          <a:lstStyle/>
          <a:p>
            <a:endParaRPr lang="en-US"/>
          </a:p>
        </p:txBody>
      </p:sp>
      <p:sp>
        <p:nvSpPr>
          <p:cNvPr id="9" name="Text 7"/>
          <p:cNvSpPr/>
          <p:nvPr/>
        </p:nvSpPr>
        <p:spPr>
          <a:xfrm>
            <a:off x="1234440" y="2926080"/>
            <a:ext cx="1463040" cy="457200"/>
          </a:xfrm>
          <a:prstGeom prst="rect">
            <a:avLst/>
          </a:prstGeom>
          <a:noFill/>
          <a:ln/>
        </p:spPr>
        <p:txBody>
          <a:bodyPr wrap="square" lIns="0" tIns="0" rIns="0" bIns="0" rtlCol="0" anchor="ctr"/>
          <a:lstStyle/>
          <a:p>
            <a:pPr marL="0" indent="0">
              <a:buNone/>
            </a:pPr>
            <a:r>
              <a:rPr lang="en-US" sz="2100" b="1" dirty="0">
                <a:solidFill>
                  <a:srgbClr val="111111"/>
                </a:solidFill>
                <a:latin typeface="Arial" pitchFamily="34" charset="0"/>
                <a:ea typeface="Arial" pitchFamily="34" charset="-122"/>
                <a:cs typeface="Arial" pitchFamily="34" charset="-120"/>
              </a:rPr>
              <a:t>CHECK</a:t>
            </a:r>
            <a:endParaRPr lang="en-US" sz="2100" dirty="0"/>
          </a:p>
        </p:txBody>
      </p:sp>
      <p:sp>
        <p:nvSpPr>
          <p:cNvPr id="10" name="Text 8"/>
          <p:cNvSpPr/>
          <p:nvPr/>
        </p:nvSpPr>
        <p:spPr>
          <a:xfrm>
            <a:off x="2788920" y="2962656"/>
            <a:ext cx="5120640" cy="502920"/>
          </a:xfrm>
          <a:prstGeom prst="rect">
            <a:avLst/>
          </a:prstGeom>
          <a:noFill/>
          <a:ln/>
        </p:spPr>
        <p:txBody>
          <a:bodyPr wrap="square" lIns="0" tIns="0" rIns="0" bIns="0" rtlCol="0" anchor="ctr"/>
          <a:lstStyle/>
          <a:p>
            <a:pPr marL="0" indent="0">
              <a:buNone/>
            </a:pPr>
            <a:r>
              <a:rPr lang="en-US" sz="1700" dirty="0">
                <a:solidFill>
                  <a:srgbClr val="111111"/>
                </a:solidFill>
                <a:latin typeface="Arial" pitchFamily="34" charset="0"/>
                <a:ea typeface="Arial" pitchFamily="34" charset="-122"/>
                <a:cs typeface="Arial" pitchFamily="34" charset="-120"/>
              </a:rPr>
              <a:t>Nine checks run. Six pass. Three fail.</a:t>
            </a:r>
            <a:endParaRPr lang="en-US" sz="1700" dirty="0"/>
          </a:p>
        </p:txBody>
      </p:sp>
      <p:sp>
        <p:nvSpPr>
          <p:cNvPr id="11" name="Shape 9"/>
          <p:cNvSpPr/>
          <p:nvPr/>
        </p:nvSpPr>
        <p:spPr>
          <a:xfrm>
            <a:off x="594360" y="3822192"/>
            <a:ext cx="457200" cy="457200"/>
          </a:xfrm>
          <a:prstGeom prst="rect">
            <a:avLst/>
          </a:prstGeom>
          <a:solidFill>
            <a:srgbClr val="E1462C"/>
          </a:solidFill>
          <a:ln w="19050">
            <a:solidFill>
              <a:srgbClr val="111111"/>
            </a:solidFill>
            <a:prstDash val="solid"/>
          </a:ln>
        </p:spPr>
        <p:txBody>
          <a:bodyPr/>
          <a:lstStyle/>
          <a:p>
            <a:endParaRPr lang="en-US"/>
          </a:p>
        </p:txBody>
      </p:sp>
      <p:sp>
        <p:nvSpPr>
          <p:cNvPr id="12" name="Text 10"/>
          <p:cNvSpPr/>
          <p:nvPr/>
        </p:nvSpPr>
        <p:spPr>
          <a:xfrm>
            <a:off x="1234440" y="3767328"/>
            <a:ext cx="1463040" cy="457200"/>
          </a:xfrm>
          <a:prstGeom prst="rect">
            <a:avLst/>
          </a:prstGeom>
          <a:noFill/>
          <a:ln/>
        </p:spPr>
        <p:txBody>
          <a:bodyPr wrap="square" lIns="0" tIns="0" rIns="0" bIns="0" rtlCol="0" anchor="ctr"/>
          <a:lstStyle/>
          <a:p>
            <a:pPr marL="0" indent="0">
              <a:buNone/>
            </a:pPr>
            <a:r>
              <a:rPr lang="en-US" sz="2100" b="1" dirty="0">
                <a:solidFill>
                  <a:srgbClr val="111111"/>
                </a:solidFill>
                <a:latin typeface="Arial" pitchFamily="34" charset="0"/>
                <a:ea typeface="Arial" pitchFamily="34" charset="-122"/>
                <a:cs typeface="Arial" pitchFamily="34" charset="-120"/>
              </a:rPr>
              <a:t>DECIDE</a:t>
            </a:r>
            <a:endParaRPr lang="en-US" sz="2100" dirty="0"/>
          </a:p>
        </p:txBody>
      </p:sp>
      <p:sp>
        <p:nvSpPr>
          <p:cNvPr id="13" name="Text 11"/>
          <p:cNvSpPr/>
          <p:nvPr/>
        </p:nvSpPr>
        <p:spPr>
          <a:xfrm>
            <a:off x="2788920" y="3803904"/>
            <a:ext cx="5120640" cy="502920"/>
          </a:xfrm>
          <a:prstGeom prst="rect">
            <a:avLst/>
          </a:prstGeom>
          <a:noFill/>
          <a:ln/>
        </p:spPr>
        <p:txBody>
          <a:bodyPr wrap="square" lIns="0" tIns="0" rIns="0" bIns="0" rtlCol="0" anchor="ctr"/>
          <a:lstStyle/>
          <a:p>
            <a:pPr marL="0" indent="0">
              <a:buNone/>
            </a:pPr>
            <a:r>
              <a:rPr lang="en-US" sz="1700" dirty="0">
                <a:solidFill>
                  <a:srgbClr val="111111"/>
                </a:solidFill>
                <a:latin typeface="Arial" pitchFamily="34" charset="0"/>
                <a:ea typeface="Arial" pitchFamily="34" charset="-122"/>
                <a:cs typeface="Arial" pitchFamily="34" charset="-120"/>
              </a:rPr>
              <a:t>Score is 58, target is 85. Not done — go again.</a:t>
            </a:r>
            <a:endParaRPr lang="en-US" sz="1700" dirty="0"/>
          </a:p>
        </p:txBody>
      </p:sp>
      <p:sp>
        <p:nvSpPr>
          <p:cNvPr id="14" name="Shape 12"/>
          <p:cNvSpPr/>
          <p:nvPr/>
        </p:nvSpPr>
        <p:spPr>
          <a:xfrm>
            <a:off x="594360" y="4709160"/>
            <a:ext cx="7315200" cy="0"/>
          </a:xfrm>
          <a:prstGeom prst="line">
            <a:avLst/>
          </a:prstGeom>
          <a:noFill/>
          <a:ln w="19050">
            <a:solidFill>
              <a:srgbClr val="111111"/>
            </a:solidFill>
            <a:prstDash val="solid"/>
          </a:ln>
        </p:spPr>
        <p:txBody>
          <a:bodyPr/>
          <a:lstStyle/>
          <a:p>
            <a:endParaRPr lang="en-US"/>
          </a:p>
        </p:txBody>
      </p:sp>
      <p:sp>
        <p:nvSpPr>
          <p:cNvPr id="15" name="Text 13"/>
          <p:cNvSpPr/>
          <p:nvPr/>
        </p:nvSpPr>
        <p:spPr>
          <a:xfrm>
            <a:off x="566928" y="4937760"/>
            <a:ext cx="7498080" cy="548640"/>
          </a:xfrm>
          <a:prstGeom prst="rect">
            <a:avLst/>
          </a:prstGeom>
          <a:noFill/>
          <a:ln/>
        </p:spPr>
        <p:txBody>
          <a:bodyPr wrap="square" lIns="0" tIns="0" rIns="0" bIns="0" rtlCol="0" anchor="ctr"/>
          <a:lstStyle/>
          <a:p>
            <a:pPr marL="0" indent="0">
              <a:buNone/>
            </a:pPr>
            <a:r>
              <a:rPr lang="en-US" sz="2100" b="1" dirty="0">
                <a:solidFill>
                  <a:srgbClr val="E1462C"/>
                </a:solidFill>
                <a:latin typeface="Arial" pitchFamily="34" charset="0"/>
                <a:ea typeface="Arial" pitchFamily="34" charset="-122"/>
                <a:cs typeface="Arial" pitchFamily="34" charset="-120"/>
              </a:rPr>
              <a:t>The three failures become lap 2's instructions.</a:t>
            </a:r>
            <a:endParaRPr lang="en-US" sz="2100" dirty="0"/>
          </a:p>
        </p:txBody>
      </p:sp>
      <p:sp>
        <p:nvSpPr>
          <p:cNvPr id="16" name="Text 14"/>
          <p:cNvSpPr/>
          <p:nvPr/>
        </p:nvSpPr>
        <p:spPr>
          <a:xfrm>
            <a:off x="566928" y="5486400"/>
            <a:ext cx="7498080" cy="457200"/>
          </a:xfrm>
          <a:prstGeom prst="rect">
            <a:avLst/>
          </a:prstGeom>
          <a:noFill/>
          <a:ln/>
        </p:spPr>
        <p:txBody>
          <a:bodyPr wrap="square" lIns="0" tIns="0" rIns="0" bIns="0" rtlCol="0" anchor="ctr"/>
          <a:lstStyle/>
          <a:p>
            <a:pPr marL="0" indent="0">
              <a:buNone/>
            </a:pPr>
            <a:r>
              <a:rPr lang="en-US" sz="1700" dirty="0">
                <a:solidFill>
                  <a:srgbClr val="111111"/>
                </a:solidFill>
                <a:latin typeface="Arial" pitchFamily="34" charset="0"/>
                <a:ea typeface="Arial" pitchFamily="34" charset="-122"/>
                <a:cs typeface="Arial" pitchFamily="34" charset="-120"/>
              </a:rPr>
              <a:t>Nobody wrote a new prompt. The loop did it.</a:t>
            </a:r>
            <a:endParaRPr lang="en-US" sz="1700" dirty="0"/>
          </a:p>
        </p:txBody>
      </p:sp>
      <p:sp>
        <p:nvSpPr>
          <p:cNvPr id="17" name="Shape 15"/>
          <p:cNvSpPr/>
          <p:nvPr/>
        </p:nvSpPr>
        <p:spPr>
          <a:xfrm>
            <a:off x="8641080" y="1481328"/>
            <a:ext cx="3017520" cy="4480560"/>
          </a:xfrm>
          <a:prstGeom prst="rect">
            <a:avLst/>
          </a:prstGeom>
          <a:noFill/>
          <a:ln w="25400">
            <a:solidFill>
              <a:srgbClr val="111111"/>
            </a:solidFill>
            <a:prstDash val="solid"/>
          </a:ln>
        </p:spPr>
        <p:txBody>
          <a:bodyPr/>
          <a:lstStyle/>
          <a:p>
            <a:endParaRPr lang="en-US"/>
          </a:p>
        </p:txBody>
      </p:sp>
      <p:sp>
        <p:nvSpPr>
          <p:cNvPr id="18" name="Text 16"/>
          <p:cNvSpPr/>
          <p:nvPr/>
        </p:nvSpPr>
        <p:spPr>
          <a:xfrm>
            <a:off x="8915400" y="1691640"/>
            <a:ext cx="2560320" cy="274320"/>
          </a:xfrm>
          <a:prstGeom prst="rect">
            <a:avLst/>
          </a:prstGeom>
          <a:noFill/>
          <a:ln/>
        </p:spPr>
        <p:txBody>
          <a:bodyPr wrap="square" lIns="0" tIns="0" rIns="0" bIns="0" rtlCol="0" anchor="ctr"/>
          <a:lstStyle/>
          <a:p>
            <a:pPr marL="0" indent="0" algn="l">
              <a:buNone/>
            </a:pPr>
            <a:r>
              <a:rPr lang="en-US" sz="1000" b="1" dirty="0">
                <a:solidFill>
                  <a:srgbClr val="111111"/>
                </a:solidFill>
                <a:latin typeface="Courier New" pitchFamily="34" charset="0"/>
                <a:ea typeface="Courier New" pitchFamily="34" charset="-122"/>
                <a:cs typeface="Courier New" pitchFamily="34" charset="-120"/>
              </a:rPr>
              <a:t>THE SCORE</a:t>
            </a:r>
            <a:endParaRPr lang="en-US" sz="1000" dirty="0"/>
          </a:p>
        </p:txBody>
      </p:sp>
      <p:sp>
        <p:nvSpPr>
          <p:cNvPr id="19" name="Text 17"/>
          <p:cNvSpPr/>
          <p:nvPr/>
        </p:nvSpPr>
        <p:spPr>
          <a:xfrm>
            <a:off x="8915400" y="2468880"/>
            <a:ext cx="1188720" cy="274320"/>
          </a:xfrm>
          <a:prstGeom prst="rect">
            <a:avLst/>
          </a:prstGeom>
          <a:noFill/>
          <a:ln/>
        </p:spPr>
        <p:txBody>
          <a:bodyPr wrap="square" lIns="0" tIns="0" rIns="0" bIns="0" rtlCol="0" anchor="ctr"/>
          <a:lstStyle/>
          <a:p>
            <a:pPr marL="0" indent="0" algn="l">
              <a:buNone/>
            </a:pPr>
            <a:r>
              <a:rPr lang="en-US" sz="1100" b="1" dirty="0">
                <a:solidFill>
                  <a:srgbClr val="111111"/>
                </a:solidFill>
                <a:latin typeface="Courier New" pitchFamily="34" charset="0"/>
                <a:ea typeface="Courier New" pitchFamily="34" charset="-122"/>
                <a:cs typeface="Courier New" pitchFamily="34" charset="-120"/>
              </a:rPr>
              <a:t>LAP 1</a:t>
            </a:r>
            <a:endParaRPr lang="en-US" sz="1100" dirty="0"/>
          </a:p>
        </p:txBody>
      </p:sp>
      <p:sp>
        <p:nvSpPr>
          <p:cNvPr id="20" name="Text 18"/>
          <p:cNvSpPr/>
          <p:nvPr/>
        </p:nvSpPr>
        <p:spPr>
          <a:xfrm>
            <a:off x="9921240" y="2148840"/>
            <a:ext cx="1554480" cy="914400"/>
          </a:xfrm>
          <a:prstGeom prst="rect">
            <a:avLst/>
          </a:prstGeom>
          <a:noFill/>
          <a:ln/>
        </p:spPr>
        <p:txBody>
          <a:bodyPr wrap="square" lIns="0" tIns="0" rIns="0" bIns="0" rtlCol="0" anchor="ctr"/>
          <a:lstStyle/>
          <a:p>
            <a:pPr marL="0" indent="0" algn="r">
              <a:buNone/>
            </a:pPr>
            <a:r>
              <a:rPr lang="en-US" sz="4400" b="1" dirty="0">
                <a:solidFill>
                  <a:srgbClr val="E1462C"/>
                </a:solidFill>
                <a:latin typeface="Courier New" pitchFamily="34" charset="0"/>
                <a:ea typeface="Courier New" pitchFamily="34" charset="-122"/>
                <a:cs typeface="Courier New" pitchFamily="34" charset="-120"/>
              </a:rPr>
              <a:t>58</a:t>
            </a:r>
            <a:endParaRPr lang="en-US" sz="4400" dirty="0"/>
          </a:p>
        </p:txBody>
      </p:sp>
      <p:sp>
        <p:nvSpPr>
          <p:cNvPr id="21" name="Text 19"/>
          <p:cNvSpPr/>
          <p:nvPr/>
        </p:nvSpPr>
        <p:spPr>
          <a:xfrm>
            <a:off x="8915400" y="3675888"/>
            <a:ext cx="1188720" cy="274320"/>
          </a:xfrm>
          <a:prstGeom prst="rect">
            <a:avLst/>
          </a:prstGeom>
          <a:noFill/>
          <a:ln/>
        </p:spPr>
        <p:txBody>
          <a:bodyPr wrap="square" lIns="0" tIns="0" rIns="0" bIns="0" rtlCol="0" anchor="ctr"/>
          <a:lstStyle/>
          <a:p>
            <a:pPr marL="0" indent="0" algn="l">
              <a:buNone/>
            </a:pPr>
            <a:r>
              <a:rPr lang="en-US" sz="1100" b="1" dirty="0">
                <a:solidFill>
                  <a:srgbClr val="111111"/>
                </a:solidFill>
                <a:latin typeface="Courier New" pitchFamily="34" charset="0"/>
                <a:ea typeface="Courier New" pitchFamily="34" charset="-122"/>
                <a:cs typeface="Courier New" pitchFamily="34" charset="-120"/>
              </a:rPr>
              <a:t>LAP 2</a:t>
            </a:r>
            <a:endParaRPr lang="en-US" sz="1100" dirty="0"/>
          </a:p>
        </p:txBody>
      </p:sp>
      <p:sp>
        <p:nvSpPr>
          <p:cNvPr id="22" name="Text 20"/>
          <p:cNvSpPr/>
          <p:nvPr/>
        </p:nvSpPr>
        <p:spPr>
          <a:xfrm>
            <a:off x="9921240" y="3355848"/>
            <a:ext cx="1554480" cy="914400"/>
          </a:xfrm>
          <a:prstGeom prst="rect">
            <a:avLst/>
          </a:prstGeom>
          <a:noFill/>
          <a:ln/>
        </p:spPr>
        <p:txBody>
          <a:bodyPr wrap="square" lIns="0" tIns="0" rIns="0" bIns="0" rtlCol="0" anchor="ctr"/>
          <a:lstStyle/>
          <a:p>
            <a:pPr marL="0" indent="0" algn="r">
              <a:buNone/>
            </a:pPr>
            <a:r>
              <a:rPr lang="en-US" sz="4400" b="1" dirty="0">
                <a:solidFill>
                  <a:srgbClr val="E1462C"/>
                </a:solidFill>
                <a:latin typeface="Courier New" pitchFamily="34" charset="0"/>
                <a:ea typeface="Courier New" pitchFamily="34" charset="-122"/>
                <a:cs typeface="Courier New" pitchFamily="34" charset="-120"/>
              </a:rPr>
              <a:t>74</a:t>
            </a:r>
            <a:endParaRPr lang="en-US" sz="4400" dirty="0"/>
          </a:p>
        </p:txBody>
      </p:sp>
      <p:sp>
        <p:nvSpPr>
          <p:cNvPr id="23" name="Text 21"/>
          <p:cNvSpPr/>
          <p:nvPr/>
        </p:nvSpPr>
        <p:spPr>
          <a:xfrm>
            <a:off x="8915400" y="4882896"/>
            <a:ext cx="1188720" cy="274320"/>
          </a:xfrm>
          <a:prstGeom prst="rect">
            <a:avLst/>
          </a:prstGeom>
          <a:noFill/>
          <a:ln/>
        </p:spPr>
        <p:txBody>
          <a:bodyPr wrap="square" lIns="0" tIns="0" rIns="0" bIns="0" rtlCol="0" anchor="ctr"/>
          <a:lstStyle/>
          <a:p>
            <a:pPr marL="0" indent="0" algn="l">
              <a:buNone/>
            </a:pPr>
            <a:r>
              <a:rPr lang="en-US" sz="1100" b="1" dirty="0">
                <a:solidFill>
                  <a:srgbClr val="111111"/>
                </a:solidFill>
                <a:latin typeface="Courier New" pitchFamily="34" charset="0"/>
                <a:ea typeface="Courier New" pitchFamily="34" charset="-122"/>
                <a:cs typeface="Courier New" pitchFamily="34" charset="-120"/>
              </a:rPr>
              <a:t>LAP 3</a:t>
            </a:r>
            <a:endParaRPr lang="en-US" sz="1100" dirty="0"/>
          </a:p>
        </p:txBody>
      </p:sp>
      <p:sp>
        <p:nvSpPr>
          <p:cNvPr id="24" name="Text 22"/>
          <p:cNvSpPr/>
          <p:nvPr/>
        </p:nvSpPr>
        <p:spPr>
          <a:xfrm>
            <a:off x="9921240" y="4562856"/>
            <a:ext cx="1554480" cy="914400"/>
          </a:xfrm>
          <a:prstGeom prst="rect">
            <a:avLst/>
          </a:prstGeom>
          <a:noFill/>
          <a:ln/>
        </p:spPr>
        <p:txBody>
          <a:bodyPr wrap="square" lIns="0" tIns="0" rIns="0" bIns="0" rtlCol="0" anchor="ctr"/>
          <a:lstStyle/>
          <a:p>
            <a:pPr marL="0" indent="0" algn="r">
              <a:buNone/>
            </a:pPr>
            <a:r>
              <a:rPr lang="en-US" sz="4400" b="1" dirty="0">
                <a:solidFill>
                  <a:srgbClr val="111111"/>
                </a:solidFill>
                <a:latin typeface="Courier New" pitchFamily="34" charset="0"/>
                <a:ea typeface="Courier New" pitchFamily="34" charset="-122"/>
                <a:cs typeface="Courier New" pitchFamily="34" charset="-120"/>
              </a:rPr>
              <a:t>87</a:t>
            </a:r>
            <a:endParaRPr lang="en-US" sz="4400" dirty="0"/>
          </a:p>
        </p:txBody>
      </p:sp>
      <p:sp>
        <p:nvSpPr>
          <p:cNvPr id="25" name="Text 23"/>
          <p:cNvSpPr/>
          <p:nvPr/>
        </p:nvSpPr>
        <p:spPr>
          <a:xfrm>
            <a:off x="8915400" y="5623560"/>
            <a:ext cx="2743200" cy="274320"/>
          </a:xfrm>
          <a:prstGeom prst="rect">
            <a:avLst/>
          </a:prstGeom>
          <a:noFill/>
          <a:ln/>
        </p:spPr>
        <p:txBody>
          <a:bodyPr wrap="square" lIns="0" tIns="0" rIns="0" bIns="0" rtlCol="0" anchor="ctr"/>
          <a:lstStyle/>
          <a:p>
            <a:pPr marL="0" indent="0" algn="l">
              <a:buNone/>
            </a:pPr>
            <a:r>
              <a:rPr lang="en-US" sz="1000" b="1" dirty="0">
                <a:solidFill>
                  <a:srgbClr val="111111"/>
                </a:solidFill>
                <a:latin typeface="Courier New" pitchFamily="34" charset="0"/>
                <a:ea typeface="Courier New" pitchFamily="34" charset="-122"/>
                <a:cs typeface="Courier New" pitchFamily="34" charset="-120"/>
              </a:rPr>
              <a:t>ALL NINE PASS — STOP</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EFE9"/>
        </a:solidFill>
        <a:effectLst/>
      </p:bgPr>
    </p:bg>
    <p:spTree>
      <p:nvGrpSpPr>
        <p:cNvPr id="1" name=""/>
        <p:cNvGrpSpPr/>
        <p:nvPr/>
      </p:nvGrpSpPr>
      <p:grpSpPr>
        <a:xfrm>
          <a:off x="0" y="0"/>
          <a:ext cx="0" cy="0"/>
          <a:chOff x="0" y="0"/>
          <a:chExt cx="0" cy="0"/>
        </a:xfrm>
      </p:grpSpPr>
      <p:sp>
        <p:nvSpPr>
          <p:cNvPr id="2" name="Text 0"/>
          <p:cNvSpPr/>
          <p:nvPr/>
        </p:nvSpPr>
        <p:spPr>
          <a:xfrm>
            <a:off x="11430000" y="182880"/>
            <a:ext cx="594360" cy="274320"/>
          </a:xfrm>
          <a:prstGeom prst="rect">
            <a:avLst/>
          </a:prstGeom>
          <a:noFill/>
          <a:ln/>
        </p:spPr>
        <p:txBody>
          <a:bodyPr wrap="square" lIns="0" tIns="0" rIns="0" bIns="0" rtlCol="0" anchor="ctr"/>
          <a:lstStyle/>
          <a:p>
            <a:pPr marL="0" indent="0" algn="r">
              <a:buNone/>
            </a:pPr>
            <a:r>
              <a:rPr lang="en-US" sz="1000" dirty="0">
                <a:solidFill>
                  <a:srgbClr val="111111"/>
                </a:solidFill>
                <a:latin typeface="Courier New" pitchFamily="34" charset="0"/>
                <a:ea typeface="Courier New" pitchFamily="34" charset="-122"/>
                <a:cs typeface="Courier New" pitchFamily="34" charset="-120"/>
              </a:rPr>
              <a:t>12</a:t>
            </a:r>
            <a:endParaRPr lang="en-US" sz="1000" dirty="0"/>
          </a:p>
        </p:txBody>
      </p:sp>
      <p:sp>
        <p:nvSpPr>
          <p:cNvPr id="3" name="Text 1"/>
          <p:cNvSpPr/>
          <p:nvPr/>
        </p:nvSpPr>
        <p:spPr>
          <a:xfrm>
            <a:off x="548640" y="548640"/>
            <a:ext cx="10515600" cy="1051560"/>
          </a:xfrm>
          <a:prstGeom prst="rect">
            <a:avLst/>
          </a:prstGeom>
          <a:noFill/>
          <a:ln/>
        </p:spPr>
        <p:txBody>
          <a:bodyPr wrap="square" lIns="0" tIns="0" rIns="0" bIns="0" rtlCol="0" anchor="t"/>
          <a:lstStyle/>
          <a:p>
            <a:pPr marL="0" indent="0">
              <a:buNone/>
            </a:pPr>
            <a:r>
              <a:rPr lang="en-US" sz="4400" b="1" dirty="0">
                <a:solidFill>
                  <a:srgbClr val="111111"/>
                </a:solidFill>
                <a:latin typeface="Arial" pitchFamily="34" charset="0"/>
                <a:ea typeface="Arial" pitchFamily="34" charset="-122"/>
                <a:cs typeface="Arial" pitchFamily="34" charset="-120"/>
              </a:rPr>
              <a:t>WHEN DOES IT STOP?</a:t>
            </a:r>
            <a:endParaRPr lang="en-US" sz="4400" dirty="0"/>
          </a:p>
        </p:txBody>
      </p:sp>
      <p:sp>
        <p:nvSpPr>
          <p:cNvPr id="4" name="Text 2"/>
          <p:cNvSpPr/>
          <p:nvPr/>
        </p:nvSpPr>
        <p:spPr>
          <a:xfrm>
            <a:off x="566928" y="1600200"/>
            <a:ext cx="10058400" cy="457200"/>
          </a:xfrm>
          <a:prstGeom prst="rect">
            <a:avLst/>
          </a:prstGeom>
          <a:noFill/>
          <a:ln/>
        </p:spPr>
        <p:txBody>
          <a:bodyPr wrap="square" lIns="0" tIns="0" rIns="0" bIns="0" rtlCol="0" anchor="ctr"/>
          <a:lstStyle/>
          <a:p>
            <a:pPr marL="0" indent="0">
              <a:buNone/>
            </a:pPr>
            <a:r>
              <a:rPr lang="en-US" sz="2000" dirty="0">
                <a:solidFill>
                  <a:srgbClr val="111111"/>
                </a:solidFill>
                <a:latin typeface="Arial" pitchFamily="34" charset="0"/>
                <a:ea typeface="Arial" pitchFamily="34" charset="-122"/>
                <a:cs typeface="Arial" pitchFamily="34" charset="-120"/>
              </a:rPr>
              <a:t>A loop needs a way out. You write it — three of them.</a:t>
            </a:r>
            <a:endParaRPr lang="en-US" sz="2000" dirty="0"/>
          </a:p>
        </p:txBody>
      </p:sp>
      <p:sp>
        <p:nvSpPr>
          <p:cNvPr id="5" name="Shape 3"/>
          <p:cNvSpPr/>
          <p:nvPr/>
        </p:nvSpPr>
        <p:spPr>
          <a:xfrm>
            <a:off x="566928" y="2468880"/>
            <a:ext cx="3566160" cy="822960"/>
          </a:xfrm>
          <a:prstGeom prst="rect">
            <a:avLst/>
          </a:prstGeom>
          <a:solidFill>
            <a:srgbClr val="111111"/>
          </a:solidFill>
          <a:ln w="22225">
            <a:solidFill>
              <a:srgbClr val="111111"/>
            </a:solidFill>
            <a:prstDash val="solid"/>
          </a:ln>
        </p:spPr>
        <p:txBody>
          <a:bodyPr/>
          <a:lstStyle/>
          <a:p>
            <a:endParaRPr lang="en-US"/>
          </a:p>
        </p:txBody>
      </p:sp>
      <p:sp>
        <p:nvSpPr>
          <p:cNvPr id="6" name="Text 4"/>
          <p:cNvSpPr/>
          <p:nvPr/>
        </p:nvSpPr>
        <p:spPr>
          <a:xfrm>
            <a:off x="566928" y="2468880"/>
            <a:ext cx="3566160" cy="822960"/>
          </a:xfrm>
          <a:prstGeom prst="rect">
            <a:avLst/>
          </a:prstGeom>
          <a:noFill/>
          <a:ln/>
        </p:spPr>
        <p:txBody>
          <a:bodyPr wrap="square" lIns="508" tIns="508" rIns="508" bIns="508" rtlCol="0" anchor="ctr"/>
          <a:lstStyle/>
          <a:p>
            <a:pPr marL="0" indent="0" algn="ctr">
              <a:buNone/>
            </a:pPr>
            <a:r>
              <a:rPr lang="en-US" sz="1900" b="1" dirty="0">
                <a:solidFill>
                  <a:srgbClr val="F2EFE9"/>
                </a:solidFill>
                <a:latin typeface="Arial" pitchFamily="34" charset="0"/>
                <a:ea typeface="Arial" pitchFamily="34" charset="-122"/>
                <a:cs typeface="Arial" pitchFamily="34" charset="-120"/>
              </a:rPr>
              <a:t>GOOD ENOUGH</a:t>
            </a:r>
            <a:endParaRPr lang="en-US" sz="1900" dirty="0"/>
          </a:p>
        </p:txBody>
      </p:sp>
      <p:sp>
        <p:nvSpPr>
          <p:cNvPr id="7" name="Text 5"/>
          <p:cNvSpPr/>
          <p:nvPr/>
        </p:nvSpPr>
        <p:spPr>
          <a:xfrm>
            <a:off x="612648" y="3456432"/>
            <a:ext cx="3474720" cy="1051560"/>
          </a:xfrm>
          <a:prstGeom prst="rect">
            <a:avLst/>
          </a:prstGeom>
          <a:noFill/>
          <a:ln/>
        </p:spPr>
        <p:txBody>
          <a:bodyPr wrap="square" lIns="0" tIns="0" rIns="0" bIns="0" rtlCol="0" anchor="t"/>
          <a:lstStyle/>
          <a:p>
            <a:pPr marL="0" indent="0">
              <a:buNone/>
            </a:pPr>
            <a:r>
              <a:rPr lang="en-US" sz="1700" dirty="0">
                <a:solidFill>
                  <a:srgbClr val="111111"/>
                </a:solidFill>
                <a:latin typeface="Arial" pitchFamily="34" charset="0"/>
                <a:ea typeface="Arial" pitchFamily="34" charset="-122"/>
                <a:cs typeface="Arial" pitchFamily="34" charset="-120"/>
              </a:rPr>
              <a:t>Every check passed, or the score hit your target.</a:t>
            </a:r>
            <a:endParaRPr lang="en-US" sz="1700" dirty="0"/>
          </a:p>
        </p:txBody>
      </p:sp>
      <p:sp>
        <p:nvSpPr>
          <p:cNvPr id="8" name="Text 6"/>
          <p:cNvSpPr/>
          <p:nvPr/>
        </p:nvSpPr>
        <p:spPr>
          <a:xfrm>
            <a:off x="612648" y="4315968"/>
            <a:ext cx="3474720" cy="274320"/>
          </a:xfrm>
          <a:prstGeom prst="rect">
            <a:avLst/>
          </a:prstGeom>
          <a:noFill/>
          <a:ln/>
        </p:spPr>
        <p:txBody>
          <a:bodyPr wrap="square" lIns="0" tIns="0" rIns="0" bIns="0" rtlCol="0" anchor="ctr"/>
          <a:lstStyle/>
          <a:p>
            <a:pPr marL="0" indent="0" algn="l">
              <a:buNone/>
            </a:pPr>
            <a:r>
              <a:rPr lang="en-US" sz="1000" dirty="0">
                <a:solidFill>
                  <a:srgbClr val="E1462C"/>
                </a:solidFill>
                <a:latin typeface="Courier New" pitchFamily="34" charset="0"/>
                <a:ea typeface="Courier New" pitchFamily="34" charset="-122"/>
                <a:cs typeface="Courier New" pitchFamily="34" charset="-120"/>
              </a:rPr>
              <a:t>the happy ending</a:t>
            </a:r>
            <a:endParaRPr lang="en-US" sz="1000" dirty="0"/>
          </a:p>
        </p:txBody>
      </p:sp>
      <p:sp>
        <p:nvSpPr>
          <p:cNvPr id="9" name="Shape 7"/>
          <p:cNvSpPr/>
          <p:nvPr/>
        </p:nvSpPr>
        <p:spPr>
          <a:xfrm>
            <a:off x="4498848" y="2468880"/>
            <a:ext cx="3566160" cy="822960"/>
          </a:xfrm>
          <a:prstGeom prst="rect">
            <a:avLst/>
          </a:prstGeom>
          <a:solidFill>
            <a:srgbClr val="F5C518"/>
          </a:solidFill>
          <a:ln w="22225">
            <a:solidFill>
              <a:srgbClr val="111111"/>
            </a:solidFill>
            <a:prstDash val="solid"/>
          </a:ln>
        </p:spPr>
        <p:txBody>
          <a:bodyPr/>
          <a:lstStyle/>
          <a:p>
            <a:endParaRPr lang="en-US"/>
          </a:p>
        </p:txBody>
      </p:sp>
      <p:sp>
        <p:nvSpPr>
          <p:cNvPr id="10" name="Text 8"/>
          <p:cNvSpPr/>
          <p:nvPr/>
        </p:nvSpPr>
        <p:spPr>
          <a:xfrm>
            <a:off x="4498848" y="2468880"/>
            <a:ext cx="3566160" cy="822960"/>
          </a:xfrm>
          <a:prstGeom prst="rect">
            <a:avLst/>
          </a:prstGeom>
          <a:noFill/>
          <a:ln/>
        </p:spPr>
        <p:txBody>
          <a:bodyPr wrap="square" lIns="508" tIns="508" rIns="508" bIns="508" rtlCol="0" anchor="ctr"/>
          <a:lstStyle/>
          <a:p>
            <a:pPr marL="0" indent="0" algn="ctr">
              <a:buNone/>
            </a:pPr>
            <a:r>
              <a:rPr lang="en-US" sz="1900" b="1" dirty="0">
                <a:solidFill>
                  <a:srgbClr val="111111"/>
                </a:solidFill>
                <a:latin typeface="Arial" pitchFamily="34" charset="0"/>
                <a:ea typeface="Arial" pitchFamily="34" charset="-122"/>
                <a:cs typeface="Arial" pitchFamily="34" charset="-120"/>
              </a:rPr>
              <a:t>OUT OF BUDGET</a:t>
            </a:r>
            <a:endParaRPr lang="en-US" sz="1900" dirty="0"/>
          </a:p>
        </p:txBody>
      </p:sp>
      <p:sp>
        <p:nvSpPr>
          <p:cNvPr id="11" name="Text 9"/>
          <p:cNvSpPr/>
          <p:nvPr/>
        </p:nvSpPr>
        <p:spPr>
          <a:xfrm>
            <a:off x="4544568" y="3456432"/>
            <a:ext cx="3474720" cy="1051560"/>
          </a:xfrm>
          <a:prstGeom prst="rect">
            <a:avLst/>
          </a:prstGeom>
          <a:noFill/>
          <a:ln/>
        </p:spPr>
        <p:txBody>
          <a:bodyPr wrap="square" lIns="0" tIns="0" rIns="0" bIns="0" rtlCol="0" anchor="t"/>
          <a:lstStyle/>
          <a:p>
            <a:pPr marL="0" indent="0">
              <a:buNone/>
            </a:pPr>
            <a:r>
              <a:rPr lang="en-US" sz="1700" dirty="0">
                <a:solidFill>
                  <a:srgbClr val="111111"/>
                </a:solidFill>
                <a:latin typeface="Arial" pitchFamily="34" charset="0"/>
                <a:ea typeface="Arial" pitchFamily="34" charset="-122"/>
                <a:cs typeface="Arial" pitchFamily="34" charset="-120"/>
              </a:rPr>
              <a:t>You said five laps maximum. This is lap five.</a:t>
            </a:r>
            <a:endParaRPr lang="en-US" sz="1700" dirty="0"/>
          </a:p>
        </p:txBody>
      </p:sp>
      <p:sp>
        <p:nvSpPr>
          <p:cNvPr id="12" name="Text 10"/>
          <p:cNvSpPr/>
          <p:nvPr/>
        </p:nvSpPr>
        <p:spPr>
          <a:xfrm>
            <a:off x="4544568" y="4315968"/>
            <a:ext cx="3474720" cy="274320"/>
          </a:xfrm>
          <a:prstGeom prst="rect">
            <a:avLst/>
          </a:prstGeom>
          <a:noFill/>
          <a:ln/>
        </p:spPr>
        <p:txBody>
          <a:bodyPr wrap="square" lIns="0" tIns="0" rIns="0" bIns="0" rtlCol="0" anchor="ctr"/>
          <a:lstStyle/>
          <a:p>
            <a:pPr marL="0" indent="0" algn="l">
              <a:buNone/>
            </a:pPr>
            <a:r>
              <a:rPr lang="en-US" sz="1000" dirty="0">
                <a:solidFill>
                  <a:srgbClr val="E1462C"/>
                </a:solidFill>
                <a:latin typeface="Courier New" pitchFamily="34" charset="0"/>
                <a:ea typeface="Courier New" pitchFamily="34" charset="-122"/>
                <a:cs typeface="Courier New" pitchFamily="34" charset="-120"/>
              </a:rPr>
              <a:t>the wallet saver</a:t>
            </a:r>
            <a:endParaRPr lang="en-US" sz="1000" dirty="0"/>
          </a:p>
        </p:txBody>
      </p:sp>
      <p:sp>
        <p:nvSpPr>
          <p:cNvPr id="13" name="Shape 11"/>
          <p:cNvSpPr/>
          <p:nvPr/>
        </p:nvSpPr>
        <p:spPr>
          <a:xfrm>
            <a:off x="8430768" y="2468880"/>
            <a:ext cx="3566160" cy="822960"/>
          </a:xfrm>
          <a:prstGeom prst="rect">
            <a:avLst/>
          </a:prstGeom>
          <a:solidFill>
            <a:srgbClr val="E1462C"/>
          </a:solidFill>
          <a:ln w="22225">
            <a:solidFill>
              <a:srgbClr val="111111"/>
            </a:solidFill>
            <a:prstDash val="solid"/>
          </a:ln>
        </p:spPr>
        <p:txBody>
          <a:bodyPr/>
          <a:lstStyle/>
          <a:p>
            <a:endParaRPr lang="en-US"/>
          </a:p>
        </p:txBody>
      </p:sp>
      <p:sp>
        <p:nvSpPr>
          <p:cNvPr id="14" name="Text 12"/>
          <p:cNvSpPr/>
          <p:nvPr/>
        </p:nvSpPr>
        <p:spPr>
          <a:xfrm>
            <a:off x="8430768" y="2468880"/>
            <a:ext cx="3566160" cy="822960"/>
          </a:xfrm>
          <a:prstGeom prst="rect">
            <a:avLst/>
          </a:prstGeom>
          <a:noFill/>
          <a:ln/>
        </p:spPr>
        <p:txBody>
          <a:bodyPr wrap="square" lIns="508" tIns="508" rIns="508" bIns="508" rtlCol="0" anchor="ctr"/>
          <a:lstStyle/>
          <a:p>
            <a:pPr marL="0" indent="0" algn="ctr">
              <a:buNone/>
            </a:pPr>
            <a:r>
              <a:rPr lang="en-US" sz="1900" b="1" dirty="0">
                <a:solidFill>
                  <a:srgbClr val="F2EFE9"/>
                </a:solidFill>
                <a:latin typeface="Arial" pitchFamily="34" charset="0"/>
                <a:ea typeface="Arial" pitchFamily="34" charset="-122"/>
                <a:cs typeface="Arial" pitchFamily="34" charset="-120"/>
              </a:rPr>
              <a:t>NOT IMPROVING</a:t>
            </a:r>
            <a:endParaRPr lang="en-US" sz="1900" dirty="0"/>
          </a:p>
        </p:txBody>
      </p:sp>
      <p:sp>
        <p:nvSpPr>
          <p:cNvPr id="15" name="Text 13"/>
          <p:cNvSpPr/>
          <p:nvPr/>
        </p:nvSpPr>
        <p:spPr>
          <a:xfrm>
            <a:off x="8476488" y="3456432"/>
            <a:ext cx="3474720" cy="1051560"/>
          </a:xfrm>
          <a:prstGeom prst="rect">
            <a:avLst/>
          </a:prstGeom>
          <a:noFill/>
          <a:ln/>
        </p:spPr>
        <p:txBody>
          <a:bodyPr wrap="square" lIns="0" tIns="0" rIns="0" bIns="0" rtlCol="0" anchor="t"/>
          <a:lstStyle/>
          <a:p>
            <a:pPr marL="0" indent="0">
              <a:buNone/>
            </a:pPr>
            <a:r>
              <a:rPr lang="en-US" sz="1700" dirty="0">
                <a:solidFill>
                  <a:srgbClr val="111111"/>
                </a:solidFill>
                <a:latin typeface="Arial" pitchFamily="34" charset="0"/>
                <a:ea typeface="Arial" pitchFamily="34" charset="-122"/>
                <a:cs typeface="Arial" pitchFamily="34" charset="-120"/>
              </a:rPr>
              <a:t>The score barely moved. Trying again won't help.</a:t>
            </a:r>
            <a:endParaRPr lang="en-US" sz="1700" dirty="0"/>
          </a:p>
        </p:txBody>
      </p:sp>
      <p:sp>
        <p:nvSpPr>
          <p:cNvPr id="16" name="Text 14"/>
          <p:cNvSpPr/>
          <p:nvPr/>
        </p:nvSpPr>
        <p:spPr>
          <a:xfrm>
            <a:off x="8476488" y="4315968"/>
            <a:ext cx="3474720" cy="274320"/>
          </a:xfrm>
          <a:prstGeom prst="rect">
            <a:avLst/>
          </a:prstGeom>
          <a:noFill/>
          <a:ln/>
        </p:spPr>
        <p:txBody>
          <a:bodyPr wrap="square" lIns="0" tIns="0" rIns="0" bIns="0" rtlCol="0" anchor="ctr"/>
          <a:lstStyle/>
          <a:p>
            <a:pPr marL="0" indent="0" algn="l">
              <a:buNone/>
            </a:pPr>
            <a:r>
              <a:rPr lang="en-US" sz="1000" dirty="0">
                <a:solidFill>
                  <a:srgbClr val="E1462C"/>
                </a:solidFill>
                <a:latin typeface="Courier New" pitchFamily="34" charset="0"/>
                <a:ea typeface="Courier New" pitchFamily="34" charset="-122"/>
                <a:cs typeface="Courier New" pitchFamily="34" charset="-120"/>
              </a:rPr>
              <a:t>the plateau</a:t>
            </a:r>
            <a:endParaRPr lang="en-US" sz="1000" dirty="0"/>
          </a:p>
        </p:txBody>
      </p:sp>
      <p:sp>
        <p:nvSpPr>
          <p:cNvPr id="17" name="Shape 15"/>
          <p:cNvSpPr/>
          <p:nvPr/>
        </p:nvSpPr>
        <p:spPr>
          <a:xfrm>
            <a:off x="566928" y="5285232"/>
            <a:ext cx="11064240" cy="914400"/>
          </a:xfrm>
          <a:prstGeom prst="rect">
            <a:avLst/>
          </a:prstGeom>
          <a:solidFill>
            <a:srgbClr val="111111"/>
          </a:solidFill>
          <a:ln w="22225">
            <a:solidFill>
              <a:srgbClr val="111111"/>
            </a:solidFill>
            <a:prstDash val="solid"/>
          </a:ln>
        </p:spPr>
        <p:txBody>
          <a:bodyPr/>
          <a:lstStyle/>
          <a:p>
            <a:endParaRPr lang="en-US"/>
          </a:p>
        </p:txBody>
      </p:sp>
      <p:sp>
        <p:nvSpPr>
          <p:cNvPr id="18" name="Text 16"/>
          <p:cNvSpPr/>
          <p:nvPr/>
        </p:nvSpPr>
        <p:spPr>
          <a:xfrm>
            <a:off x="566928" y="5285232"/>
            <a:ext cx="11064240" cy="914400"/>
          </a:xfrm>
          <a:prstGeom prst="rect">
            <a:avLst/>
          </a:prstGeom>
          <a:noFill/>
          <a:ln/>
        </p:spPr>
        <p:txBody>
          <a:bodyPr wrap="square" lIns="508" tIns="508" rIns="508" bIns="508" rtlCol="0" anchor="ctr"/>
          <a:lstStyle/>
          <a:p>
            <a:pPr marL="0" indent="0" algn="ctr">
              <a:buNone/>
            </a:pPr>
            <a:r>
              <a:rPr lang="en-US" sz="2200" b="1" dirty="0">
                <a:solidFill>
                  <a:srgbClr val="F2EFE9"/>
                </a:solidFill>
                <a:latin typeface="Arial" pitchFamily="34" charset="0"/>
                <a:ea typeface="Arial" pitchFamily="34" charset="-122"/>
                <a:cs typeface="Arial" pitchFamily="34" charset="-120"/>
              </a:rPr>
              <a:t>A LOOP WITH NO WAY OUT IS A BUG, NOT A FEATURE</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EFE9"/>
        </a:solidFill>
        <a:effectLst/>
      </p:bgPr>
    </p:bg>
    <p:spTree>
      <p:nvGrpSpPr>
        <p:cNvPr id="1" name=""/>
        <p:cNvGrpSpPr/>
        <p:nvPr/>
      </p:nvGrpSpPr>
      <p:grpSpPr>
        <a:xfrm>
          <a:off x="0" y="0"/>
          <a:ext cx="0" cy="0"/>
          <a:chOff x="0" y="0"/>
          <a:chExt cx="0" cy="0"/>
        </a:xfrm>
      </p:grpSpPr>
      <p:sp>
        <p:nvSpPr>
          <p:cNvPr id="2" name="Text 0"/>
          <p:cNvSpPr/>
          <p:nvPr/>
        </p:nvSpPr>
        <p:spPr>
          <a:xfrm>
            <a:off x="11430000" y="182880"/>
            <a:ext cx="594360" cy="274320"/>
          </a:xfrm>
          <a:prstGeom prst="rect">
            <a:avLst/>
          </a:prstGeom>
          <a:noFill/>
          <a:ln/>
        </p:spPr>
        <p:txBody>
          <a:bodyPr wrap="square" lIns="0" tIns="0" rIns="0" bIns="0" rtlCol="0" anchor="ctr"/>
          <a:lstStyle/>
          <a:p>
            <a:pPr marL="0" indent="0" algn="r">
              <a:buNone/>
            </a:pPr>
            <a:r>
              <a:rPr lang="en-US" sz="1000" dirty="0">
                <a:solidFill>
                  <a:srgbClr val="111111"/>
                </a:solidFill>
                <a:latin typeface="Courier New" pitchFamily="34" charset="0"/>
                <a:ea typeface="Courier New" pitchFamily="34" charset="-122"/>
                <a:cs typeface="Courier New" pitchFamily="34" charset="-120"/>
              </a:rPr>
              <a:t>13</a:t>
            </a:r>
            <a:endParaRPr lang="en-US" sz="1000" dirty="0"/>
          </a:p>
        </p:txBody>
      </p:sp>
      <p:sp>
        <p:nvSpPr>
          <p:cNvPr id="3" name="Text 1"/>
          <p:cNvSpPr/>
          <p:nvPr/>
        </p:nvSpPr>
        <p:spPr>
          <a:xfrm>
            <a:off x="548640" y="457200"/>
            <a:ext cx="10515600" cy="1051560"/>
          </a:xfrm>
          <a:prstGeom prst="rect">
            <a:avLst/>
          </a:prstGeom>
          <a:noFill/>
          <a:ln/>
        </p:spPr>
        <p:txBody>
          <a:bodyPr wrap="square" lIns="0" tIns="0" rIns="0" bIns="0" rtlCol="0" anchor="t"/>
          <a:lstStyle/>
          <a:p>
            <a:pPr marL="0" indent="0">
              <a:buNone/>
            </a:pPr>
            <a:r>
              <a:rPr lang="en-US" sz="4000" b="1" dirty="0">
                <a:solidFill>
                  <a:srgbClr val="111111"/>
                </a:solidFill>
                <a:latin typeface="Arial" pitchFamily="34" charset="0"/>
                <a:ea typeface="Arial" pitchFamily="34" charset="-122"/>
                <a:cs typeface="Arial" pitchFamily="34" charset="-120"/>
              </a:rPr>
              <a:t>IT'S JUST A WHILE LOOP</a:t>
            </a:r>
            <a:endParaRPr lang="en-US" sz="4000" dirty="0"/>
          </a:p>
        </p:txBody>
      </p:sp>
      <p:sp>
        <p:nvSpPr>
          <p:cNvPr id="4" name="Shape 2"/>
          <p:cNvSpPr/>
          <p:nvPr/>
        </p:nvSpPr>
        <p:spPr>
          <a:xfrm>
            <a:off x="566928" y="1645920"/>
            <a:ext cx="11064240" cy="3154680"/>
          </a:xfrm>
          <a:prstGeom prst="rect">
            <a:avLst/>
          </a:prstGeom>
          <a:solidFill>
            <a:srgbClr val="111111"/>
          </a:solidFill>
          <a:ln w="12700">
            <a:solidFill>
              <a:srgbClr val="111111"/>
            </a:solidFill>
            <a:prstDash val="solid"/>
          </a:ln>
        </p:spPr>
        <p:txBody>
          <a:bodyPr/>
          <a:lstStyle/>
          <a:p>
            <a:endParaRPr lang="en-US"/>
          </a:p>
        </p:txBody>
      </p:sp>
      <p:sp>
        <p:nvSpPr>
          <p:cNvPr id="5" name="Text 3"/>
          <p:cNvSpPr/>
          <p:nvPr/>
        </p:nvSpPr>
        <p:spPr>
          <a:xfrm>
            <a:off x="1005840" y="1874520"/>
            <a:ext cx="10332720" cy="2743200"/>
          </a:xfrm>
          <a:prstGeom prst="rect">
            <a:avLst/>
          </a:prstGeom>
          <a:noFill/>
          <a:ln/>
        </p:spPr>
        <p:txBody>
          <a:bodyPr wrap="square" lIns="0" tIns="0" rIns="0" bIns="0" rtlCol="0" anchor="t"/>
          <a:lstStyle/>
          <a:p>
            <a:pPr marL="0" indent="0">
              <a:lnSpc>
                <a:spcPts val="2600"/>
              </a:lnSpc>
              <a:buNone/>
            </a:pPr>
            <a:r>
              <a:rPr lang="en-US" sz="1500" dirty="0">
                <a:solidFill>
                  <a:srgbClr val="F2EFE9"/>
                </a:solidFill>
                <a:latin typeface="Courier New" pitchFamily="34" charset="0"/>
                <a:ea typeface="Courier New" pitchFamily="34" charset="-122"/>
                <a:cs typeface="Courier New" pitchFamily="34" charset="-120"/>
              </a:rPr>
              <a:t>let lap = 1;</a:t>
            </a:r>
            <a:endParaRPr lang="en-US" sz="1500" dirty="0"/>
          </a:p>
          <a:p>
            <a:pPr marL="0" indent="0">
              <a:lnSpc>
                <a:spcPts val="2600"/>
              </a:lnSpc>
              <a:buNone/>
            </a:pPr>
            <a:r>
              <a:rPr lang="en-US" sz="1500" dirty="0">
                <a:solidFill>
                  <a:srgbClr val="F2EFE9"/>
                </a:solidFill>
                <a:latin typeface="Courier New" pitchFamily="34" charset="0"/>
                <a:ea typeface="Courier New" pitchFamily="34" charset="-122"/>
                <a:cs typeface="Courier New" pitchFamily="34" charset="-120"/>
              </a:rPr>
              <a:t>while (lap &lt;= 5) {</a:t>
            </a:r>
            <a:endParaRPr lang="en-US" sz="1500" dirty="0"/>
          </a:p>
          <a:p>
            <a:pPr marL="0" indent="0">
              <a:lnSpc>
                <a:spcPts val="2600"/>
              </a:lnSpc>
              <a:buNone/>
            </a:pPr>
            <a:r>
              <a:rPr lang="en-US" sz="1500" dirty="0">
                <a:solidFill>
                  <a:srgbClr val="F2EFE9"/>
                </a:solidFill>
                <a:latin typeface="Courier New" pitchFamily="34" charset="0"/>
                <a:ea typeface="Courier New" pitchFamily="34" charset="-122"/>
                <a:cs typeface="Courier New" pitchFamily="34" charset="-120"/>
              </a:rPr>
              <a:t>  work    = await askAI(fixThese(resume, todo));</a:t>
            </a:r>
            <a:r>
              <a:rPr lang="en-US" sz="1500" b="1" dirty="0">
                <a:solidFill>
                  <a:srgbClr val="F5C518"/>
                </a:solidFill>
                <a:latin typeface="Courier New" pitchFamily="34" charset="0"/>
                <a:ea typeface="Courier New" pitchFamily="34" charset="-122"/>
                <a:cs typeface="Courier New" pitchFamily="34" charset="-120"/>
              </a:rPr>
              <a:t>   // DO</a:t>
            </a:r>
            <a:endParaRPr lang="en-US" sz="1500" dirty="0"/>
          </a:p>
          <a:p>
            <a:pPr marL="0" indent="0">
              <a:lnSpc>
                <a:spcPts val="2600"/>
              </a:lnSpc>
              <a:buNone/>
            </a:pPr>
            <a:r>
              <a:rPr lang="en-US" sz="1500" dirty="0">
                <a:solidFill>
                  <a:srgbClr val="F2EFE9"/>
                </a:solidFill>
                <a:latin typeface="Courier New" pitchFamily="34" charset="0"/>
                <a:ea typeface="Courier New" pitchFamily="34" charset="-122"/>
                <a:cs typeface="Courier New" pitchFamily="34" charset="-120"/>
              </a:rPr>
              <a:t>  grades  = await askAI(checkIt(work, jobAd));</a:t>
            </a:r>
            <a:r>
              <a:rPr lang="en-US" sz="1500" b="1" dirty="0">
                <a:solidFill>
                  <a:srgbClr val="F5C518"/>
                </a:solidFill>
                <a:latin typeface="Courier New" pitchFamily="34" charset="0"/>
                <a:ea typeface="Courier New" pitchFamily="34" charset="-122"/>
                <a:cs typeface="Courier New" pitchFamily="34" charset="-120"/>
              </a:rPr>
              <a:t>   // CHECK</a:t>
            </a:r>
            <a:endParaRPr lang="en-US" sz="1500" dirty="0"/>
          </a:p>
          <a:p>
            <a:pPr marL="0" indent="0">
              <a:lnSpc>
                <a:spcPts val="2600"/>
              </a:lnSpc>
              <a:buNone/>
            </a:pPr>
            <a:r>
              <a:rPr lang="en-US" sz="1500" dirty="0">
                <a:solidFill>
                  <a:srgbClr val="F2EFE9"/>
                </a:solidFill>
                <a:latin typeface="Courier New" pitchFamily="34" charset="0"/>
                <a:ea typeface="Courier New" pitchFamily="34" charset="-122"/>
                <a:cs typeface="Courier New" pitchFamily="34" charset="-120"/>
              </a:rPr>
              <a:t>  if (allPassed(grades)) break;</a:t>
            </a:r>
            <a:r>
              <a:rPr lang="en-US" sz="1500" b="1" dirty="0">
                <a:solidFill>
                  <a:srgbClr val="F5C518"/>
                </a:solidFill>
                <a:latin typeface="Courier New" pitchFamily="34" charset="0"/>
                <a:ea typeface="Courier New" pitchFamily="34" charset="-122"/>
                <a:cs typeface="Courier New" pitchFamily="34" charset="-120"/>
              </a:rPr>
              <a:t>   // DECIDE</a:t>
            </a:r>
            <a:endParaRPr lang="en-US" sz="1500" dirty="0"/>
          </a:p>
          <a:p>
            <a:pPr marL="0" indent="0">
              <a:lnSpc>
                <a:spcPts val="2600"/>
              </a:lnSpc>
              <a:buNone/>
            </a:pPr>
            <a:r>
              <a:rPr lang="en-US" sz="1500" dirty="0">
                <a:solidFill>
                  <a:srgbClr val="F2EFE9"/>
                </a:solidFill>
                <a:latin typeface="Courier New" pitchFamily="34" charset="0"/>
                <a:ea typeface="Courier New" pitchFamily="34" charset="-122"/>
                <a:cs typeface="Courier New" pitchFamily="34" charset="-120"/>
              </a:rPr>
              <a:t>  todo = grades.failed;</a:t>
            </a:r>
            <a:r>
              <a:rPr lang="en-US" sz="1500" b="1" dirty="0">
                <a:solidFill>
                  <a:srgbClr val="F5C518"/>
                </a:solidFill>
                <a:latin typeface="Courier New" pitchFamily="34" charset="0"/>
                <a:ea typeface="Courier New" pitchFamily="34" charset="-122"/>
                <a:cs typeface="Courier New" pitchFamily="34" charset="-120"/>
              </a:rPr>
              <a:t>   // the new to-do list</a:t>
            </a:r>
            <a:endParaRPr lang="en-US" sz="1500" dirty="0"/>
          </a:p>
          <a:p>
            <a:pPr marL="0" indent="0">
              <a:lnSpc>
                <a:spcPts val="2600"/>
              </a:lnSpc>
              <a:buNone/>
            </a:pPr>
            <a:r>
              <a:rPr lang="en-US" sz="1500" dirty="0">
                <a:solidFill>
                  <a:srgbClr val="F2EFE9"/>
                </a:solidFill>
                <a:latin typeface="Courier New" pitchFamily="34" charset="0"/>
                <a:ea typeface="Courier New" pitchFamily="34" charset="-122"/>
                <a:cs typeface="Courier New" pitchFamily="34" charset="-120"/>
              </a:rPr>
              <a:t>  lap++;</a:t>
            </a:r>
            <a:endParaRPr lang="en-US" sz="1500" dirty="0"/>
          </a:p>
          <a:p>
            <a:pPr marL="0" indent="0">
              <a:lnSpc>
                <a:spcPts val="2600"/>
              </a:lnSpc>
              <a:buNone/>
            </a:pPr>
            <a:r>
              <a:rPr lang="en-US" sz="1500" dirty="0">
                <a:solidFill>
                  <a:srgbClr val="F2EFE9"/>
                </a:solidFill>
                <a:latin typeface="Courier New" pitchFamily="34" charset="0"/>
                <a:ea typeface="Courier New" pitchFamily="34" charset="-122"/>
                <a:cs typeface="Courier New" pitchFamily="34" charset="-120"/>
              </a:rPr>
              <a:t>}</a:t>
            </a:r>
            <a:endParaRPr lang="en-US" sz="1500" dirty="0"/>
          </a:p>
        </p:txBody>
      </p:sp>
      <p:sp>
        <p:nvSpPr>
          <p:cNvPr id="6" name="Text 4"/>
          <p:cNvSpPr/>
          <p:nvPr/>
        </p:nvSpPr>
        <p:spPr>
          <a:xfrm>
            <a:off x="566928" y="5230368"/>
            <a:ext cx="10972800" cy="548640"/>
          </a:xfrm>
          <a:prstGeom prst="rect">
            <a:avLst/>
          </a:prstGeom>
          <a:noFill/>
          <a:ln/>
        </p:spPr>
        <p:txBody>
          <a:bodyPr wrap="square" lIns="0" tIns="0" rIns="0" bIns="0" rtlCol="0" anchor="ctr"/>
          <a:lstStyle/>
          <a:p>
            <a:pPr marL="0" indent="0">
              <a:buNone/>
            </a:pPr>
            <a:r>
              <a:rPr lang="en-US" sz="2200" b="1" dirty="0">
                <a:solidFill>
                  <a:srgbClr val="111111"/>
                </a:solidFill>
                <a:latin typeface="Arial" pitchFamily="34" charset="0"/>
                <a:ea typeface="Arial" pitchFamily="34" charset="-122"/>
                <a:cs typeface="Arial" pitchFamily="34" charset="-120"/>
              </a:rPr>
              <a:t>Two AI calls and an if-statement. That is the whole idea.</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EFE9"/>
        </a:solidFill>
        <a:effectLst/>
      </p:bgPr>
    </p:bg>
    <p:spTree>
      <p:nvGrpSpPr>
        <p:cNvPr id="1" name=""/>
        <p:cNvGrpSpPr/>
        <p:nvPr/>
      </p:nvGrpSpPr>
      <p:grpSpPr>
        <a:xfrm>
          <a:off x="0" y="0"/>
          <a:ext cx="0" cy="0"/>
          <a:chOff x="0" y="0"/>
          <a:chExt cx="0" cy="0"/>
        </a:xfrm>
      </p:grpSpPr>
      <p:sp>
        <p:nvSpPr>
          <p:cNvPr id="2" name="Text 0"/>
          <p:cNvSpPr/>
          <p:nvPr/>
        </p:nvSpPr>
        <p:spPr>
          <a:xfrm>
            <a:off x="11430000" y="182880"/>
            <a:ext cx="594360" cy="274320"/>
          </a:xfrm>
          <a:prstGeom prst="rect">
            <a:avLst/>
          </a:prstGeom>
          <a:noFill/>
          <a:ln/>
        </p:spPr>
        <p:txBody>
          <a:bodyPr wrap="square" lIns="0" tIns="0" rIns="0" bIns="0" rtlCol="0" anchor="ctr"/>
          <a:lstStyle/>
          <a:p>
            <a:pPr marL="0" indent="0" algn="r">
              <a:buNone/>
            </a:pPr>
            <a:r>
              <a:rPr lang="en-US" sz="1000" dirty="0">
                <a:solidFill>
                  <a:srgbClr val="111111"/>
                </a:solidFill>
                <a:latin typeface="Courier New" pitchFamily="34" charset="0"/>
                <a:ea typeface="Courier New" pitchFamily="34" charset="-122"/>
                <a:cs typeface="Courier New" pitchFamily="34" charset="-120"/>
              </a:rPr>
              <a:t>14</a:t>
            </a:r>
            <a:endParaRPr lang="en-US" sz="1000" dirty="0"/>
          </a:p>
        </p:txBody>
      </p:sp>
      <p:sp>
        <p:nvSpPr>
          <p:cNvPr id="3" name="Text 1"/>
          <p:cNvSpPr/>
          <p:nvPr/>
        </p:nvSpPr>
        <p:spPr>
          <a:xfrm>
            <a:off x="548640" y="219456"/>
            <a:ext cx="8686800" cy="1051560"/>
          </a:xfrm>
          <a:prstGeom prst="rect">
            <a:avLst/>
          </a:prstGeom>
          <a:noFill/>
          <a:ln/>
        </p:spPr>
        <p:txBody>
          <a:bodyPr wrap="square" lIns="0" tIns="0" rIns="0" bIns="0" rtlCol="0" anchor="t"/>
          <a:lstStyle/>
          <a:p>
            <a:pPr marL="0" indent="0">
              <a:buNone/>
            </a:pPr>
            <a:r>
              <a:rPr lang="en-US" sz="3000" b="1" dirty="0">
                <a:solidFill>
                  <a:srgbClr val="111111"/>
                </a:solidFill>
                <a:latin typeface="Arial" pitchFamily="34" charset="0"/>
                <a:ea typeface="Arial" pitchFamily="34" charset="-122"/>
                <a:cs typeface="Arial" pitchFamily="34" charset="-120"/>
              </a:rPr>
              <a:t>WHAT IT LOOKS LIKE FOR REAL</a:t>
            </a:r>
            <a:endParaRPr lang="en-US" sz="3000" dirty="0"/>
          </a:p>
        </p:txBody>
      </p:sp>
      <p:sp>
        <p:nvSpPr>
          <p:cNvPr id="4" name="Text 2"/>
          <p:cNvSpPr/>
          <p:nvPr/>
        </p:nvSpPr>
        <p:spPr>
          <a:xfrm>
            <a:off x="585216" y="841248"/>
            <a:ext cx="10515600" cy="274320"/>
          </a:xfrm>
          <a:prstGeom prst="rect">
            <a:avLst/>
          </a:prstGeom>
          <a:noFill/>
          <a:ln/>
        </p:spPr>
        <p:txBody>
          <a:bodyPr wrap="square" lIns="0" tIns="0" rIns="0" bIns="0" rtlCol="0" anchor="ctr"/>
          <a:lstStyle/>
          <a:p>
            <a:pPr marL="0" indent="0" algn="l">
              <a:buNone/>
            </a:pPr>
            <a:r>
              <a:rPr lang="en-US" sz="1050" dirty="0">
                <a:solidFill>
                  <a:srgbClr val="111111"/>
                </a:solidFill>
                <a:latin typeface="Courier New" pitchFamily="34" charset="0"/>
                <a:ea typeface="Courier New" pitchFamily="34" charset="-122"/>
                <a:cs typeface="Courier New" pitchFamily="34" charset="-120"/>
              </a:rPr>
              <a:t>SAME LOOP — PLUS LIMITS, MEMORY, A CRITIC, AND A HUMAN</a:t>
            </a:r>
            <a:endParaRPr lang="en-US" sz="1050" dirty="0"/>
          </a:p>
        </p:txBody>
      </p:sp>
      <p:sp>
        <p:nvSpPr>
          <p:cNvPr id="5" name="Shape 3"/>
          <p:cNvSpPr/>
          <p:nvPr/>
        </p:nvSpPr>
        <p:spPr>
          <a:xfrm>
            <a:off x="5047488" y="1261872"/>
            <a:ext cx="2103120" cy="566928"/>
          </a:xfrm>
          <a:prstGeom prst="rect">
            <a:avLst/>
          </a:prstGeom>
          <a:noFill/>
          <a:ln w="22225">
            <a:solidFill>
              <a:srgbClr val="111111"/>
            </a:solidFill>
            <a:prstDash val="solid"/>
          </a:ln>
        </p:spPr>
        <p:txBody>
          <a:bodyPr/>
          <a:lstStyle/>
          <a:p>
            <a:endParaRPr lang="en-US"/>
          </a:p>
        </p:txBody>
      </p:sp>
      <p:sp>
        <p:nvSpPr>
          <p:cNvPr id="6" name="Text 4"/>
          <p:cNvSpPr/>
          <p:nvPr/>
        </p:nvSpPr>
        <p:spPr>
          <a:xfrm>
            <a:off x="5047488" y="1261872"/>
            <a:ext cx="2103120" cy="566928"/>
          </a:xfrm>
          <a:prstGeom prst="rect">
            <a:avLst/>
          </a:prstGeom>
          <a:noFill/>
          <a:ln/>
        </p:spPr>
        <p:txBody>
          <a:bodyPr wrap="square" lIns="508" tIns="508" rIns="508" bIns="508" rtlCol="0" anchor="ctr"/>
          <a:lstStyle/>
          <a:p>
            <a:pPr marL="0" indent="0" algn="ctr">
              <a:buNone/>
            </a:pPr>
            <a:r>
              <a:rPr lang="en-US" sz="1050" b="1" dirty="0">
                <a:solidFill>
                  <a:srgbClr val="111111"/>
                </a:solidFill>
                <a:latin typeface="Arial" pitchFamily="34" charset="0"/>
                <a:ea typeface="Arial" pitchFamily="34" charset="-122"/>
                <a:cs typeface="Arial" pitchFamily="34" charset="-120"/>
              </a:rPr>
              <a:t>1 · USER GIVES</a:t>
            </a:r>
            <a:endParaRPr lang="en-US" sz="1050" dirty="0"/>
          </a:p>
          <a:p>
            <a:pPr marL="0" indent="0" algn="ctr">
              <a:buNone/>
            </a:pPr>
            <a:r>
              <a:rPr lang="en-US" sz="1050" b="1" dirty="0">
                <a:solidFill>
                  <a:srgbClr val="111111"/>
                </a:solidFill>
                <a:latin typeface="Arial" pitchFamily="34" charset="0"/>
                <a:ea typeface="Arial" pitchFamily="34" charset="-122"/>
                <a:cs typeface="Arial" pitchFamily="34" charset="-120"/>
              </a:rPr>
              <a:t>THE MISSION</a:t>
            </a:r>
            <a:endParaRPr lang="en-US" sz="1050" dirty="0"/>
          </a:p>
        </p:txBody>
      </p:sp>
      <p:sp>
        <p:nvSpPr>
          <p:cNvPr id="7" name="Shape 5"/>
          <p:cNvSpPr/>
          <p:nvPr/>
        </p:nvSpPr>
        <p:spPr>
          <a:xfrm>
            <a:off x="6099048" y="1828800"/>
            <a:ext cx="0" cy="237744"/>
          </a:xfrm>
          <a:prstGeom prst="line">
            <a:avLst/>
          </a:prstGeom>
          <a:noFill/>
          <a:ln w="22225">
            <a:solidFill>
              <a:srgbClr val="111111"/>
            </a:solidFill>
            <a:prstDash val="solid"/>
            <a:tailEnd type="triangle"/>
          </a:ln>
        </p:spPr>
        <p:txBody>
          <a:bodyPr/>
          <a:lstStyle/>
          <a:p>
            <a:endParaRPr lang="en-US"/>
          </a:p>
        </p:txBody>
      </p:sp>
      <p:sp>
        <p:nvSpPr>
          <p:cNvPr id="8" name="Shape 6"/>
          <p:cNvSpPr/>
          <p:nvPr/>
        </p:nvSpPr>
        <p:spPr>
          <a:xfrm>
            <a:off x="5047488" y="2066544"/>
            <a:ext cx="2103120" cy="566928"/>
          </a:xfrm>
          <a:prstGeom prst="rect">
            <a:avLst/>
          </a:prstGeom>
          <a:solidFill>
            <a:srgbClr val="F5C518"/>
          </a:solidFill>
          <a:ln w="22225">
            <a:solidFill>
              <a:srgbClr val="111111"/>
            </a:solidFill>
            <a:prstDash val="solid"/>
          </a:ln>
        </p:spPr>
        <p:txBody>
          <a:bodyPr/>
          <a:lstStyle/>
          <a:p>
            <a:endParaRPr lang="en-US"/>
          </a:p>
        </p:txBody>
      </p:sp>
      <p:sp>
        <p:nvSpPr>
          <p:cNvPr id="9" name="Text 7"/>
          <p:cNvSpPr/>
          <p:nvPr/>
        </p:nvSpPr>
        <p:spPr>
          <a:xfrm>
            <a:off x="5047488" y="2066544"/>
            <a:ext cx="2103120" cy="566928"/>
          </a:xfrm>
          <a:prstGeom prst="rect">
            <a:avLst/>
          </a:prstGeom>
          <a:noFill/>
          <a:ln/>
        </p:spPr>
        <p:txBody>
          <a:bodyPr wrap="square" lIns="508" tIns="508" rIns="508" bIns="508" rtlCol="0" anchor="ctr"/>
          <a:lstStyle/>
          <a:p>
            <a:pPr marL="0" indent="0" algn="ctr">
              <a:buNone/>
            </a:pPr>
            <a:r>
              <a:rPr lang="en-US" sz="1050" b="1" dirty="0">
                <a:solidFill>
                  <a:srgbClr val="111111"/>
                </a:solidFill>
                <a:latin typeface="Arial" pitchFamily="34" charset="0"/>
                <a:ea typeface="Arial" pitchFamily="34" charset="-122"/>
                <a:cs typeface="Arial" pitchFamily="34" charset="-120"/>
              </a:rPr>
              <a:t>2 · SAFETY LIMITS</a:t>
            </a:r>
            <a:endParaRPr lang="en-US" sz="1050" dirty="0"/>
          </a:p>
          <a:p>
            <a:pPr marL="0" indent="0" algn="ctr">
              <a:buNone/>
            </a:pPr>
            <a:r>
              <a:rPr lang="en-US" sz="1050" b="1" dirty="0">
                <a:solidFill>
                  <a:srgbClr val="111111"/>
                </a:solidFill>
                <a:latin typeface="Arial" pitchFamily="34" charset="0"/>
                <a:ea typeface="Arial" pitchFamily="34" charset="-122"/>
                <a:cs typeface="Arial" pitchFamily="34" charset="-120"/>
              </a:rPr>
              <a:t>time + money</a:t>
            </a:r>
            <a:endParaRPr lang="en-US" sz="1050" dirty="0"/>
          </a:p>
        </p:txBody>
      </p:sp>
      <p:sp>
        <p:nvSpPr>
          <p:cNvPr id="10" name="Shape 8"/>
          <p:cNvSpPr/>
          <p:nvPr/>
        </p:nvSpPr>
        <p:spPr>
          <a:xfrm>
            <a:off x="6099048" y="2633472"/>
            <a:ext cx="0" cy="237744"/>
          </a:xfrm>
          <a:prstGeom prst="line">
            <a:avLst/>
          </a:prstGeom>
          <a:noFill/>
          <a:ln w="22225">
            <a:solidFill>
              <a:srgbClr val="111111"/>
            </a:solidFill>
            <a:prstDash val="solid"/>
            <a:tailEnd type="triangle"/>
          </a:ln>
        </p:spPr>
        <p:txBody>
          <a:bodyPr/>
          <a:lstStyle/>
          <a:p>
            <a:endParaRPr lang="en-US"/>
          </a:p>
        </p:txBody>
      </p:sp>
      <p:sp>
        <p:nvSpPr>
          <p:cNvPr id="11" name="Shape 9"/>
          <p:cNvSpPr/>
          <p:nvPr/>
        </p:nvSpPr>
        <p:spPr>
          <a:xfrm>
            <a:off x="5047488" y="2871216"/>
            <a:ext cx="2103120" cy="566928"/>
          </a:xfrm>
          <a:prstGeom prst="rect">
            <a:avLst/>
          </a:prstGeom>
          <a:solidFill>
            <a:srgbClr val="111111"/>
          </a:solidFill>
          <a:ln w="22225">
            <a:solidFill>
              <a:srgbClr val="111111"/>
            </a:solidFill>
            <a:prstDash val="solid"/>
          </a:ln>
        </p:spPr>
        <p:txBody>
          <a:bodyPr/>
          <a:lstStyle/>
          <a:p>
            <a:endParaRPr lang="en-US"/>
          </a:p>
        </p:txBody>
      </p:sp>
      <p:sp>
        <p:nvSpPr>
          <p:cNvPr id="12" name="Text 10"/>
          <p:cNvSpPr/>
          <p:nvPr/>
        </p:nvSpPr>
        <p:spPr>
          <a:xfrm>
            <a:off x="5047488" y="2871216"/>
            <a:ext cx="2103120" cy="566928"/>
          </a:xfrm>
          <a:prstGeom prst="rect">
            <a:avLst/>
          </a:prstGeom>
          <a:noFill/>
          <a:ln/>
        </p:spPr>
        <p:txBody>
          <a:bodyPr wrap="square" lIns="508" tIns="508" rIns="508" bIns="508" rtlCol="0" anchor="ctr"/>
          <a:lstStyle/>
          <a:p>
            <a:pPr marL="0" indent="0" algn="ctr">
              <a:buNone/>
            </a:pPr>
            <a:r>
              <a:rPr lang="en-US" sz="1050" b="1" dirty="0">
                <a:solidFill>
                  <a:srgbClr val="F2EFE9"/>
                </a:solidFill>
                <a:latin typeface="Arial" pitchFamily="34" charset="0"/>
                <a:ea typeface="Arial" pitchFamily="34" charset="-122"/>
                <a:cs typeface="Arial" pitchFamily="34" charset="-120"/>
              </a:rPr>
              <a:t>3 · THE AI DECIDES</a:t>
            </a:r>
            <a:endParaRPr lang="en-US" sz="1050" dirty="0"/>
          </a:p>
          <a:p>
            <a:pPr marL="0" indent="0" algn="ctr">
              <a:buNone/>
            </a:pPr>
            <a:r>
              <a:rPr lang="en-US" sz="1050" b="1" dirty="0">
                <a:solidFill>
                  <a:srgbClr val="F2EFE9"/>
                </a:solidFill>
                <a:latin typeface="Arial" pitchFamily="34" charset="0"/>
                <a:ea typeface="Arial" pitchFamily="34" charset="-122"/>
                <a:cs typeface="Arial" pitchFamily="34" charset="-120"/>
              </a:rPr>
              <a:t>what next?</a:t>
            </a:r>
            <a:endParaRPr lang="en-US" sz="1050" dirty="0"/>
          </a:p>
        </p:txBody>
      </p:sp>
      <p:sp>
        <p:nvSpPr>
          <p:cNvPr id="13" name="Shape 11"/>
          <p:cNvSpPr/>
          <p:nvPr/>
        </p:nvSpPr>
        <p:spPr>
          <a:xfrm>
            <a:off x="6099048" y="3438144"/>
            <a:ext cx="0" cy="219456"/>
          </a:xfrm>
          <a:prstGeom prst="line">
            <a:avLst/>
          </a:prstGeom>
          <a:noFill/>
          <a:ln w="19050">
            <a:solidFill>
              <a:srgbClr val="111111"/>
            </a:solidFill>
            <a:prstDash val="solid"/>
          </a:ln>
        </p:spPr>
        <p:txBody>
          <a:bodyPr/>
          <a:lstStyle/>
          <a:p>
            <a:endParaRPr lang="en-US"/>
          </a:p>
        </p:txBody>
      </p:sp>
      <p:sp>
        <p:nvSpPr>
          <p:cNvPr id="14" name="Shape 12"/>
          <p:cNvSpPr/>
          <p:nvPr/>
        </p:nvSpPr>
        <p:spPr>
          <a:xfrm>
            <a:off x="2743200" y="3657600"/>
            <a:ext cx="6400800" cy="0"/>
          </a:xfrm>
          <a:prstGeom prst="line">
            <a:avLst/>
          </a:prstGeom>
          <a:noFill/>
          <a:ln w="19050">
            <a:solidFill>
              <a:srgbClr val="111111"/>
            </a:solidFill>
            <a:prstDash val="solid"/>
          </a:ln>
        </p:spPr>
        <p:txBody>
          <a:bodyPr/>
          <a:lstStyle/>
          <a:p>
            <a:endParaRPr lang="en-US"/>
          </a:p>
        </p:txBody>
      </p:sp>
      <p:sp>
        <p:nvSpPr>
          <p:cNvPr id="15" name="Shape 13"/>
          <p:cNvSpPr/>
          <p:nvPr/>
        </p:nvSpPr>
        <p:spPr>
          <a:xfrm>
            <a:off x="2743200" y="3657600"/>
            <a:ext cx="0" cy="292608"/>
          </a:xfrm>
          <a:prstGeom prst="line">
            <a:avLst/>
          </a:prstGeom>
          <a:noFill/>
          <a:ln w="22225">
            <a:solidFill>
              <a:srgbClr val="111111"/>
            </a:solidFill>
            <a:prstDash val="solid"/>
            <a:tailEnd type="triangle"/>
          </a:ln>
        </p:spPr>
        <p:txBody>
          <a:bodyPr/>
          <a:lstStyle/>
          <a:p>
            <a:endParaRPr lang="en-US"/>
          </a:p>
        </p:txBody>
      </p:sp>
      <p:sp>
        <p:nvSpPr>
          <p:cNvPr id="16" name="Shape 14"/>
          <p:cNvSpPr/>
          <p:nvPr/>
        </p:nvSpPr>
        <p:spPr>
          <a:xfrm>
            <a:off x="9144000" y="3657600"/>
            <a:ext cx="0" cy="292608"/>
          </a:xfrm>
          <a:prstGeom prst="line">
            <a:avLst/>
          </a:prstGeom>
          <a:noFill/>
          <a:ln w="22225">
            <a:solidFill>
              <a:srgbClr val="111111"/>
            </a:solidFill>
            <a:prstDash val="solid"/>
            <a:tailEnd type="triangle"/>
          </a:ln>
        </p:spPr>
        <p:txBody>
          <a:bodyPr/>
          <a:lstStyle/>
          <a:p>
            <a:endParaRPr lang="en-US"/>
          </a:p>
        </p:txBody>
      </p:sp>
      <p:sp>
        <p:nvSpPr>
          <p:cNvPr id="17" name="Text 15"/>
          <p:cNvSpPr/>
          <p:nvPr/>
        </p:nvSpPr>
        <p:spPr>
          <a:xfrm>
            <a:off x="2971800" y="3675888"/>
            <a:ext cx="1737360" cy="274320"/>
          </a:xfrm>
          <a:prstGeom prst="rect">
            <a:avLst/>
          </a:prstGeom>
          <a:noFill/>
          <a:ln/>
        </p:spPr>
        <p:txBody>
          <a:bodyPr wrap="square" lIns="0" tIns="0" rIns="0" bIns="0" rtlCol="0" anchor="ctr"/>
          <a:lstStyle/>
          <a:p>
            <a:pPr marL="0" indent="0" algn="l">
              <a:buNone/>
            </a:pPr>
            <a:r>
              <a:rPr lang="en-US" sz="850" dirty="0">
                <a:solidFill>
                  <a:srgbClr val="111111"/>
                </a:solidFill>
                <a:latin typeface="Courier New" pitchFamily="34" charset="0"/>
                <a:ea typeface="Courier New" pitchFamily="34" charset="-122"/>
                <a:cs typeface="Courier New" pitchFamily="34" charset="-120"/>
              </a:rPr>
              <a:t>NEEDS A TOOL</a:t>
            </a:r>
            <a:endParaRPr lang="en-US" sz="850" dirty="0"/>
          </a:p>
        </p:txBody>
      </p:sp>
      <p:sp>
        <p:nvSpPr>
          <p:cNvPr id="18" name="Text 16"/>
          <p:cNvSpPr/>
          <p:nvPr/>
        </p:nvSpPr>
        <p:spPr>
          <a:xfrm>
            <a:off x="7315200" y="3675888"/>
            <a:ext cx="1828800" cy="274320"/>
          </a:xfrm>
          <a:prstGeom prst="rect">
            <a:avLst/>
          </a:prstGeom>
          <a:noFill/>
          <a:ln/>
        </p:spPr>
        <p:txBody>
          <a:bodyPr wrap="square" lIns="0" tIns="0" rIns="0" bIns="0" rtlCol="0" anchor="ctr"/>
          <a:lstStyle/>
          <a:p>
            <a:pPr marL="0" indent="0" algn="l">
              <a:buNone/>
            </a:pPr>
            <a:r>
              <a:rPr lang="en-US" sz="850" dirty="0">
                <a:solidFill>
                  <a:srgbClr val="111111"/>
                </a:solidFill>
                <a:latin typeface="Courier New" pitchFamily="34" charset="0"/>
                <a:ea typeface="Courier New" pitchFamily="34" charset="-122"/>
                <a:cs typeface="Courier New" pitchFamily="34" charset="-120"/>
              </a:rPr>
              <a:t>THINKS IT'S DONE</a:t>
            </a:r>
            <a:endParaRPr lang="en-US" sz="850" dirty="0"/>
          </a:p>
        </p:txBody>
      </p:sp>
      <p:sp>
        <p:nvSpPr>
          <p:cNvPr id="19" name="Shape 17"/>
          <p:cNvSpPr/>
          <p:nvPr/>
        </p:nvSpPr>
        <p:spPr>
          <a:xfrm>
            <a:off x="1691640" y="3950208"/>
            <a:ext cx="2103120" cy="566928"/>
          </a:xfrm>
          <a:prstGeom prst="rect">
            <a:avLst/>
          </a:prstGeom>
          <a:solidFill>
            <a:srgbClr val="1B3FA0"/>
          </a:solidFill>
          <a:ln w="22225">
            <a:solidFill>
              <a:srgbClr val="111111"/>
            </a:solidFill>
            <a:prstDash val="solid"/>
          </a:ln>
        </p:spPr>
        <p:txBody>
          <a:bodyPr/>
          <a:lstStyle/>
          <a:p>
            <a:endParaRPr lang="en-US"/>
          </a:p>
        </p:txBody>
      </p:sp>
      <p:sp>
        <p:nvSpPr>
          <p:cNvPr id="20" name="Text 18"/>
          <p:cNvSpPr/>
          <p:nvPr/>
        </p:nvSpPr>
        <p:spPr>
          <a:xfrm>
            <a:off x="1691640" y="3950208"/>
            <a:ext cx="2103120" cy="566928"/>
          </a:xfrm>
          <a:prstGeom prst="rect">
            <a:avLst/>
          </a:prstGeom>
          <a:noFill/>
          <a:ln/>
        </p:spPr>
        <p:txBody>
          <a:bodyPr wrap="square" lIns="508" tIns="508" rIns="508" bIns="508" rtlCol="0" anchor="ctr"/>
          <a:lstStyle/>
          <a:p>
            <a:pPr marL="0" indent="0" algn="ctr">
              <a:buNone/>
            </a:pPr>
            <a:r>
              <a:rPr lang="en-US" sz="1050" b="1" dirty="0">
                <a:solidFill>
                  <a:srgbClr val="F2EFE9"/>
                </a:solidFill>
                <a:latin typeface="Arial" pitchFamily="34" charset="0"/>
                <a:ea typeface="Arial" pitchFamily="34" charset="-122"/>
                <a:cs typeface="Arial" pitchFamily="34" charset="-120"/>
              </a:rPr>
              <a:t>4 · RUN THE TOOL</a:t>
            </a:r>
            <a:endParaRPr lang="en-US" sz="1050" dirty="0"/>
          </a:p>
          <a:p>
            <a:pPr marL="0" indent="0" algn="ctr">
              <a:buNone/>
            </a:pPr>
            <a:r>
              <a:rPr lang="en-US" sz="1050" b="1" dirty="0">
                <a:solidFill>
                  <a:srgbClr val="F2EFE9"/>
                </a:solidFill>
                <a:latin typeface="Arial" pitchFamily="34" charset="0"/>
                <a:ea typeface="Arial" pitchFamily="34" charset="-122"/>
                <a:cs typeface="Arial" pitchFamily="34" charset="-120"/>
              </a:rPr>
              <a:t>/ SCRIPT</a:t>
            </a:r>
            <a:endParaRPr lang="en-US" sz="1050" dirty="0"/>
          </a:p>
        </p:txBody>
      </p:sp>
      <p:sp>
        <p:nvSpPr>
          <p:cNvPr id="21" name="Shape 19"/>
          <p:cNvSpPr/>
          <p:nvPr/>
        </p:nvSpPr>
        <p:spPr>
          <a:xfrm>
            <a:off x="8092440" y="3950208"/>
            <a:ext cx="2103120" cy="566928"/>
          </a:xfrm>
          <a:prstGeom prst="rect">
            <a:avLst/>
          </a:prstGeom>
          <a:solidFill>
            <a:srgbClr val="F5C518"/>
          </a:solidFill>
          <a:ln w="22225">
            <a:solidFill>
              <a:srgbClr val="111111"/>
            </a:solidFill>
            <a:prstDash val="solid"/>
          </a:ln>
        </p:spPr>
        <p:txBody>
          <a:bodyPr/>
          <a:lstStyle/>
          <a:p>
            <a:endParaRPr lang="en-US"/>
          </a:p>
        </p:txBody>
      </p:sp>
      <p:sp>
        <p:nvSpPr>
          <p:cNvPr id="22" name="Text 20"/>
          <p:cNvSpPr/>
          <p:nvPr/>
        </p:nvSpPr>
        <p:spPr>
          <a:xfrm>
            <a:off x="8092440" y="3950208"/>
            <a:ext cx="2103120" cy="566928"/>
          </a:xfrm>
          <a:prstGeom prst="rect">
            <a:avLst/>
          </a:prstGeom>
          <a:noFill/>
          <a:ln/>
        </p:spPr>
        <p:txBody>
          <a:bodyPr wrap="square" lIns="508" tIns="508" rIns="508" bIns="508" rtlCol="0" anchor="ctr"/>
          <a:lstStyle/>
          <a:p>
            <a:pPr marL="0" indent="0" algn="ctr">
              <a:buNone/>
            </a:pPr>
            <a:r>
              <a:rPr lang="en-US" sz="1050" b="1" dirty="0">
                <a:solidFill>
                  <a:srgbClr val="111111"/>
                </a:solidFill>
                <a:latin typeface="Arial" pitchFamily="34" charset="0"/>
                <a:ea typeface="Arial" pitchFamily="34" charset="-122"/>
                <a:cs typeface="Arial" pitchFamily="34" charset="-120"/>
              </a:rPr>
              <a:t>5 · A CRITIC AI</a:t>
            </a:r>
            <a:endParaRPr lang="en-US" sz="1050" dirty="0"/>
          </a:p>
          <a:p>
            <a:pPr marL="0" indent="0" algn="ctr">
              <a:buNone/>
            </a:pPr>
            <a:r>
              <a:rPr lang="en-US" sz="1050" b="1" dirty="0">
                <a:solidFill>
                  <a:srgbClr val="111111"/>
                </a:solidFill>
                <a:latin typeface="Arial" pitchFamily="34" charset="0"/>
                <a:ea typeface="Arial" pitchFamily="34" charset="-122"/>
                <a:cs typeface="Arial" pitchFamily="34" charset="-120"/>
              </a:rPr>
              <a:t>REVIEWS IT</a:t>
            </a:r>
            <a:endParaRPr lang="en-US" sz="1050" dirty="0"/>
          </a:p>
        </p:txBody>
      </p:sp>
      <p:sp>
        <p:nvSpPr>
          <p:cNvPr id="23" name="Shape 21"/>
          <p:cNvSpPr/>
          <p:nvPr/>
        </p:nvSpPr>
        <p:spPr>
          <a:xfrm>
            <a:off x="2743200" y="4517136"/>
            <a:ext cx="0" cy="182880"/>
          </a:xfrm>
          <a:prstGeom prst="line">
            <a:avLst/>
          </a:prstGeom>
          <a:noFill/>
          <a:ln w="19050">
            <a:solidFill>
              <a:srgbClr val="111111"/>
            </a:solidFill>
            <a:prstDash val="solid"/>
          </a:ln>
        </p:spPr>
        <p:txBody>
          <a:bodyPr/>
          <a:lstStyle/>
          <a:p>
            <a:endParaRPr lang="en-US"/>
          </a:p>
        </p:txBody>
      </p:sp>
      <p:sp>
        <p:nvSpPr>
          <p:cNvPr id="24" name="Shape 22"/>
          <p:cNvSpPr/>
          <p:nvPr/>
        </p:nvSpPr>
        <p:spPr>
          <a:xfrm>
            <a:off x="1600200" y="4700016"/>
            <a:ext cx="2286000" cy="0"/>
          </a:xfrm>
          <a:prstGeom prst="line">
            <a:avLst/>
          </a:prstGeom>
          <a:noFill/>
          <a:ln w="19050">
            <a:solidFill>
              <a:srgbClr val="111111"/>
            </a:solidFill>
            <a:prstDash val="solid"/>
          </a:ln>
        </p:spPr>
        <p:txBody>
          <a:bodyPr/>
          <a:lstStyle/>
          <a:p>
            <a:endParaRPr lang="en-US"/>
          </a:p>
        </p:txBody>
      </p:sp>
      <p:sp>
        <p:nvSpPr>
          <p:cNvPr id="25" name="Shape 23"/>
          <p:cNvSpPr/>
          <p:nvPr/>
        </p:nvSpPr>
        <p:spPr>
          <a:xfrm>
            <a:off x="1600200" y="4700016"/>
            <a:ext cx="0" cy="256032"/>
          </a:xfrm>
          <a:prstGeom prst="line">
            <a:avLst/>
          </a:prstGeom>
          <a:noFill/>
          <a:ln w="22225">
            <a:solidFill>
              <a:srgbClr val="111111"/>
            </a:solidFill>
            <a:prstDash val="solid"/>
            <a:tailEnd type="triangle"/>
          </a:ln>
        </p:spPr>
        <p:txBody>
          <a:bodyPr/>
          <a:lstStyle/>
          <a:p>
            <a:endParaRPr lang="en-US"/>
          </a:p>
        </p:txBody>
      </p:sp>
      <p:sp>
        <p:nvSpPr>
          <p:cNvPr id="26" name="Shape 24"/>
          <p:cNvSpPr/>
          <p:nvPr/>
        </p:nvSpPr>
        <p:spPr>
          <a:xfrm>
            <a:off x="3886200" y="4700016"/>
            <a:ext cx="0" cy="256032"/>
          </a:xfrm>
          <a:prstGeom prst="line">
            <a:avLst/>
          </a:prstGeom>
          <a:noFill/>
          <a:ln w="22225">
            <a:solidFill>
              <a:srgbClr val="111111"/>
            </a:solidFill>
            <a:prstDash val="solid"/>
            <a:tailEnd type="triangle"/>
          </a:ln>
        </p:spPr>
        <p:txBody>
          <a:bodyPr/>
          <a:lstStyle/>
          <a:p>
            <a:endParaRPr lang="en-US"/>
          </a:p>
        </p:txBody>
      </p:sp>
      <p:sp>
        <p:nvSpPr>
          <p:cNvPr id="27" name="Text 25"/>
          <p:cNvSpPr/>
          <p:nvPr/>
        </p:nvSpPr>
        <p:spPr>
          <a:xfrm>
            <a:off x="1170432" y="4690872"/>
            <a:ext cx="457200" cy="274320"/>
          </a:xfrm>
          <a:prstGeom prst="rect">
            <a:avLst/>
          </a:prstGeom>
          <a:noFill/>
          <a:ln/>
        </p:spPr>
        <p:txBody>
          <a:bodyPr wrap="square" lIns="0" tIns="0" rIns="0" bIns="0" rtlCol="0" anchor="ctr"/>
          <a:lstStyle/>
          <a:p>
            <a:pPr marL="0" indent="0" algn="l">
              <a:buNone/>
            </a:pPr>
            <a:r>
              <a:rPr lang="en-US" sz="850" dirty="0">
                <a:solidFill>
                  <a:srgbClr val="111111"/>
                </a:solidFill>
                <a:latin typeface="Courier New" pitchFamily="34" charset="0"/>
                <a:ea typeface="Courier New" pitchFamily="34" charset="-122"/>
                <a:cs typeface="Courier New" pitchFamily="34" charset="-120"/>
              </a:rPr>
              <a:t>OK</a:t>
            </a:r>
            <a:endParaRPr lang="en-US" sz="850" dirty="0"/>
          </a:p>
        </p:txBody>
      </p:sp>
      <p:sp>
        <p:nvSpPr>
          <p:cNvPr id="28" name="Text 26"/>
          <p:cNvSpPr/>
          <p:nvPr/>
        </p:nvSpPr>
        <p:spPr>
          <a:xfrm>
            <a:off x="4023360" y="4690872"/>
            <a:ext cx="1097280" cy="274320"/>
          </a:xfrm>
          <a:prstGeom prst="rect">
            <a:avLst/>
          </a:prstGeom>
          <a:noFill/>
          <a:ln/>
        </p:spPr>
        <p:txBody>
          <a:bodyPr wrap="square" lIns="0" tIns="0" rIns="0" bIns="0" rtlCol="0" anchor="ctr"/>
          <a:lstStyle/>
          <a:p>
            <a:pPr marL="0" indent="0" algn="l">
              <a:buNone/>
            </a:pPr>
            <a:r>
              <a:rPr lang="en-US" sz="850" dirty="0">
                <a:solidFill>
                  <a:srgbClr val="E1462C"/>
                </a:solidFill>
                <a:latin typeface="Courier New" pitchFamily="34" charset="0"/>
                <a:ea typeface="Courier New" pitchFamily="34" charset="-122"/>
                <a:cs typeface="Courier New" pitchFamily="34" charset="-120"/>
              </a:rPr>
              <a:t>CRASHED</a:t>
            </a:r>
            <a:endParaRPr lang="en-US" sz="850" dirty="0"/>
          </a:p>
        </p:txBody>
      </p:sp>
      <p:sp>
        <p:nvSpPr>
          <p:cNvPr id="29" name="Shape 27"/>
          <p:cNvSpPr/>
          <p:nvPr/>
        </p:nvSpPr>
        <p:spPr>
          <a:xfrm>
            <a:off x="548640" y="4956048"/>
            <a:ext cx="2103120" cy="566928"/>
          </a:xfrm>
          <a:prstGeom prst="rect">
            <a:avLst/>
          </a:prstGeom>
          <a:noFill/>
          <a:ln w="22225">
            <a:solidFill>
              <a:srgbClr val="111111"/>
            </a:solidFill>
            <a:prstDash val="solid"/>
          </a:ln>
        </p:spPr>
        <p:txBody>
          <a:bodyPr/>
          <a:lstStyle/>
          <a:p>
            <a:endParaRPr lang="en-US"/>
          </a:p>
        </p:txBody>
      </p:sp>
      <p:sp>
        <p:nvSpPr>
          <p:cNvPr id="30" name="Text 28"/>
          <p:cNvSpPr/>
          <p:nvPr/>
        </p:nvSpPr>
        <p:spPr>
          <a:xfrm>
            <a:off x="548640" y="4956048"/>
            <a:ext cx="2103120" cy="566928"/>
          </a:xfrm>
          <a:prstGeom prst="rect">
            <a:avLst/>
          </a:prstGeom>
          <a:noFill/>
          <a:ln/>
        </p:spPr>
        <p:txBody>
          <a:bodyPr wrap="square" lIns="508" tIns="508" rIns="508" bIns="508" rtlCol="0" anchor="ctr"/>
          <a:lstStyle/>
          <a:p>
            <a:pPr marL="0" indent="0" algn="ctr">
              <a:buNone/>
            </a:pPr>
            <a:r>
              <a:rPr lang="en-US" sz="1050" b="1" dirty="0">
                <a:solidFill>
                  <a:srgbClr val="111111"/>
                </a:solidFill>
                <a:latin typeface="Arial" pitchFamily="34" charset="0"/>
                <a:ea typeface="Arial" pitchFamily="34" charset="-122"/>
                <a:cs typeface="Arial" pitchFamily="34" charset="-120"/>
              </a:rPr>
              <a:t>SAVE RESULT</a:t>
            </a:r>
            <a:endParaRPr lang="en-US" sz="1050" dirty="0"/>
          </a:p>
          <a:p>
            <a:pPr marL="0" indent="0" algn="ctr">
              <a:buNone/>
            </a:pPr>
            <a:r>
              <a:rPr lang="en-US" sz="1050" b="1" dirty="0">
                <a:solidFill>
                  <a:srgbClr val="111111"/>
                </a:solidFill>
                <a:latin typeface="Arial" pitchFamily="34" charset="0"/>
                <a:ea typeface="Arial" pitchFamily="34" charset="-122"/>
                <a:cs typeface="Arial" pitchFamily="34" charset="-120"/>
              </a:rPr>
              <a:t>TO MEMORY</a:t>
            </a:r>
            <a:endParaRPr lang="en-US" sz="1050" dirty="0"/>
          </a:p>
        </p:txBody>
      </p:sp>
      <p:sp>
        <p:nvSpPr>
          <p:cNvPr id="31" name="Shape 29"/>
          <p:cNvSpPr/>
          <p:nvPr/>
        </p:nvSpPr>
        <p:spPr>
          <a:xfrm>
            <a:off x="2834640" y="4956048"/>
            <a:ext cx="2103120" cy="566928"/>
          </a:xfrm>
          <a:prstGeom prst="rect">
            <a:avLst/>
          </a:prstGeom>
          <a:solidFill>
            <a:srgbClr val="E1462C"/>
          </a:solidFill>
          <a:ln w="22225">
            <a:solidFill>
              <a:srgbClr val="111111"/>
            </a:solidFill>
            <a:prstDash val="solid"/>
          </a:ln>
        </p:spPr>
        <p:txBody>
          <a:bodyPr/>
          <a:lstStyle/>
          <a:p>
            <a:endParaRPr lang="en-US"/>
          </a:p>
        </p:txBody>
      </p:sp>
      <p:sp>
        <p:nvSpPr>
          <p:cNvPr id="32" name="Text 30"/>
          <p:cNvSpPr/>
          <p:nvPr/>
        </p:nvSpPr>
        <p:spPr>
          <a:xfrm>
            <a:off x="2834640" y="4956048"/>
            <a:ext cx="2103120" cy="566928"/>
          </a:xfrm>
          <a:prstGeom prst="rect">
            <a:avLst/>
          </a:prstGeom>
          <a:noFill/>
          <a:ln/>
        </p:spPr>
        <p:txBody>
          <a:bodyPr wrap="square" lIns="508" tIns="508" rIns="508" bIns="508" rtlCol="0" anchor="ctr"/>
          <a:lstStyle/>
          <a:p>
            <a:pPr marL="0" indent="0" algn="ctr">
              <a:buNone/>
            </a:pPr>
            <a:r>
              <a:rPr lang="en-US" sz="1050" b="1" dirty="0">
                <a:solidFill>
                  <a:srgbClr val="F2EFE9"/>
                </a:solidFill>
                <a:latin typeface="Arial" pitchFamily="34" charset="0"/>
                <a:ea typeface="Arial" pitchFamily="34" charset="-122"/>
                <a:cs typeface="Arial" pitchFamily="34" charset="-120"/>
              </a:rPr>
              <a:t>CATCH THE ERROR</a:t>
            </a:r>
            <a:endParaRPr lang="en-US" sz="1050" dirty="0"/>
          </a:p>
          <a:p>
            <a:pPr marL="0" indent="0" algn="ctr">
              <a:buNone/>
            </a:pPr>
            <a:r>
              <a:rPr lang="en-US" sz="1050" b="1" dirty="0">
                <a:solidFill>
                  <a:srgbClr val="F2EFE9"/>
                </a:solidFill>
                <a:latin typeface="Arial" pitchFamily="34" charset="0"/>
                <a:ea typeface="Arial" pitchFamily="34" charset="-122"/>
                <a:cs typeface="Arial" pitchFamily="34" charset="-120"/>
              </a:rPr>
              <a:t>send it back</a:t>
            </a:r>
            <a:endParaRPr lang="en-US" sz="1050" dirty="0"/>
          </a:p>
        </p:txBody>
      </p:sp>
      <p:sp>
        <p:nvSpPr>
          <p:cNvPr id="33" name="Shape 31"/>
          <p:cNvSpPr/>
          <p:nvPr/>
        </p:nvSpPr>
        <p:spPr>
          <a:xfrm>
            <a:off x="9144000" y="4517136"/>
            <a:ext cx="0" cy="182880"/>
          </a:xfrm>
          <a:prstGeom prst="line">
            <a:avLst/>
          </a:prstGeom>
          <a:noFill/>
          <a:ln w="19050">
            <a:solidFill>
              <a:srgbClr val="111111"/>
            </a:solidFill>
            <a:prstDash val="solid"/>
          </a:ln>
        </p:spPr>
        <p:txBody>
          <a:bodyPr/>
          <a:lstStyle/>
          <a:p>
            <a:endParaRPr lang="en-US"/>
          </a:p>
        </p:txBody>
      </p:sp>
      <p:sp>
        <p:nvSpPr>
          <p:cNvPr id="34" name="Shape 32"/>
          <p:cNvSpPr/>
          <p:nvPr/>
        </p:nvSpPr>
        <p:spPr>
          <a:xfrm>
            <a:off x="7863840" y="4700016"/>
            <a:ext cx="2423160" cy="0"/>
          </a:xfrm>
          <a:prstGeom prst="line">
            <a:avLst/>
          </a:prstGeom>
          <a:noFill/>
          <a:ln w="19050">
            <a:solidFill>
              <a:srgbClr val="111111"/>
            </a:solidFill>
            <a:prstDash val="solid"/>
          </a:ln>
        </p:spPr>
        <p:txBody>
          <a:bodyPr/>
          <a:lstStyle/>
          <a:p>
            <a:endParaRPr lang="en-US"/>
          </a:p>
        </p:txBody>
      </p:sp>
      <p:sp>
        <p:nvSpPr>
          <p:cNvPr id="35" name="Shape 33"/>
          <p:cNvSpPr/>
          <p:nvPr/>
        </p:nvSpPr>
        <p:spPr>
          <a:xfrm>
            <a:off x="7863840" y="4700016"/>
            <a:ext cx="0" cy="256032"/>
          </a:xfrm>
          <a:prstGeom prst="line">
            <a:avLst/>
          </a:prstGeom>
          <a:noFill/>
          <a:ln w="22225">
            <a:solidFill>
              <a:srgbClr val="111111"/>
            </a:solidFill>
            <a:prstDash val="solid"/>
            <a:tailEnd type="triangle"/>
          </a:ln>
        </p:spPr>
        <p:txBody>
          <a:bodyPr/>
          <a:lstStyle/>
          <a:p>
            <a:endParaRPr lang="en-US"/>
          </a:p>
        </p:txBody>
      </p:sp>
      <p:sp>
        <p:nvSpPr>
          <p:cNvPr id="36" name="Shape 34"/>
          <p:cNvSpPr/>
          <p:nvPr/>
        </p:nvSpPr>
        <p:spPr>
          <a:xfrm>
            <a:off x="10287000" y="4700016"/>
            <a:ext cx="0" cy="256032"/>
          </a:xfrm>
          <a:prstGeom prst="line">
            <a:avLst/>
          </a:prstGeom>
          <a:noFill/>
          <a:ln w="22225">
            <a:solidFill>
              <a:srgbClr val="111111"/>
            </a:solidFill>
            <a:prstDash val="solid"/>
            <a:tailEnd type="triangle"/>
          </a:ln>
        </p:spPr>
        <p:txBody>
          <a:bodyPr/>
          <a:lstStyle/>
          <a:p>
            <a:endParaRPr lang="en-US"/>
          </a:p>
        </p:txBody>
      </p:sp>
      <p:sp>
        <p:nvSpPr>
          <p:cNvPr id="37" name="Text 35"/>
          <p:cNvSpPr/>
          <p:nvPr/>
        </p:nvSpPr>
        <p:spPr>
          <a:xfrm>
            <a:off x="7269480" y="4690872"/>
            <a:ext cx="640080" cy="274320"/>
          </a:xfrm>
          <a:prstGeom prst="rect">
            <a:avLst/>
          </a:prstGeom>
          <a:noFill/>
          <a:ln/>
        </p:spPr>
        <p:txBody>
          <a:bodyPr wrap="square" lIns="0" tIns="0" rIns="0" bIns="0" rtlCol="0" anchor="ctr"/>
          <a:lstStyle/>
          <a:p>
            <a:pPr marL="0" indent="0" algn="l">
              <a:buNone/>
            </a:pPr>
            <a:r>
              <a:rPr lang="en-US" sz="850" dirty="0">
                <a:solidFill>
                  <a:srgbClr val="E1462C"/>
                </a:solidFill>
                <a:latin typeface="Courier New" pitchFamily="34" charset="0"/>
                <a:ea typeface="Courier New" pitchFamily="34" charset="-122"/>
                <a:cs typeface="Courier New" pitchFamily="34" charset="-120"/>
              </a:rPr>
              <a:t>FAIL</a:t>
            </a:r>
            <a:endParaRPr lang="en-US" sz="850" dirty="0"/>
          </a:p>
        </p:txBody>
      </p:sp>
      <p:sp>
        <p:nvSpPr>
          <p:cNvPr id="38" name="Text 36"/>
          <p:cNvSpPr/>
          <p:nvPr/>
        </p:nvSpPr>
        <p:spPr>
          <a:xfrm>
            <a:off x="10424160" y="4690872"/>
            <a:ext cx="1188720" cy="274320"/>
          </a:xfrm>
          <a:prstGeom prst="rect">
            <a:avLst/>
          </a:prstGeom>
          <a:noFill/>
          <a:ln/>
        </p:spPr>
        <p:txBody>
          <a:bodyPr wrap="square" lIns="0" tIns="0" rIns="0" bIns="0" rtlCol="0" anchor="ctr"/>
          <a:lstStyle/>
          <a:p>
            <a:pPr marL="0" indent="0" algn="l">
              <a:buNone/>
            </a:pPr>
            <a:r>
              <a:rPr lang="en-US" sz="850" dirty="0">
                <a:solidFill>
                  <a:srgbClr val="111111"/>
                </a:solidFill>
                <a:latin typeface="Courier New" pitchFamily="34" charset="0"/>
                <a:ea typeface="Courier New" pitchFamily="34" charset="-122"/>
                <a:cs typeface="Courier New" pitchFamily="34" charset="-120"/>
              </a:rPr>
              <a:t>APPROVED</a:t>
            </a:r>
            <a:endParaRPr lang="en-US" sz="850" dirty="0"/>
          </a:p>
        </p:txBody>
      </p:sp>
      <p:sp>
        <p:nvSpPr>
          <p:cNvPr id="39" name="Shape 37"/>
          <p:cNvSpPr/>
          <p:nvPr/>
        </p:nvSpPr>
        <p:spPr>
          <a:xfrm>
            <a:off x="6812280" y="4956048"/>
            <a:ext cx="2103120" cy="566928"/>
          </a:xfrm>
          <a:prstGeom prst="rect">
            <a:avLst/>
          </a:prstGeom>
          <a:solidFill>
            <a:srgbClr val="E1462C"/>
          </a:solidFill>
          <a:ln w="22225">
            <a:solidFill>
              <a:srgbClr val="111111"/>
            </a:solidFill>
            <a:prstDash val="solid"/>
          </a:ln>
        </p:spPr>
        <p:txBody>
          <a:bodyPr/>
          <a:lstStyle/>
          <a:p>
            <a:endParaRPr lang="en-US"/>
          </a:p>
        </p:txBody>
      </p:sp>
      <p:sp>
        <p:nvSpPr>
          <p:cNvPr id="40" name="Text 38"/>
          <p:cNvSpPr/>
          <p:nvPr/>
        </p:nvSpPr>
        <p:spPr>
          <a:xfrm>
            <a:off x="6812280" y="4956048"/>
            <a:ext cx="2103120" cy="566928"/>
          </a:xfrm>
          <a:prstGeom prst="rect">
            <a:avLst/>
          </a:prstGeom>
          <a:noFill/>
          <a:ln/>
        </p:spPr>
        <p:txBody>
          <a:bodyPr wrap="square" lIns="508" tIns="508" rIns="508" bIns="508" rtlCol="0" anchor="ctr"/>
          <a:lstStyle/>
          <a:p>
            <a:pPr marL="0" indent="0" algn="ctr">
              <a:buNone/>
            </a:pPr>
            <a:r>
              <a:rPr lang="en-US" sz="1050" b="1" dirty="0">
                <a:solidFill>
                  <a:srgbClr val="F2EFE9"/>
                </a:solidFill>
                <a:latin typeface="Arial" pitchFamily="34" charset="0"/>
                <a:ea typeface="Arial" pitchFamily="34" charset="-122"/>
                <a:cs typeface="Arial" pitchFamily="34" charset="-120"/>
              </a:rPr>
              <a:t>SEND BACK</a:t>
            </a:r>
            <a:endParaRPr lang="en-US" sz="1050" dirty="0"/>
          </a:p>
          <a:p>
            <a:pPr marL="0" indent="0" algn="ctr">
              <a:buNone/>
            </a:pPr>
            <a:r>
              <a:rPr lang="en-US" sz="1050" b="1" dirty="0">
                <a:solidFill>
                  <a:srgbClr val="F2EFE9"/>
                </a:solidFill>
                <a:latin typeface="Arial" pitchFamily="34" charset="0"/>
                <a:ea typeface="Arial" pitchFamily="34" charset="-122"/>
                <a:cs typeface="Arial" pitchFamily="34" charset="-120"/>
              </a:rPr>
              <a:t>with feedback</a:t>
            </a:r>
            <a:endParaRPr lang="en-US" sz="1050" dirty="0"/>
          </a:p>
        </p:txBody>
      </p:sp>
      <p:sp>
        <p:nvSpPr>
          <p:cNvPr id="41" name="Shape 39"/>
          <p:cNvSpPr/>
          <p:nvPr/>
        </p:nvSpPr>
        <p:spPr>
          <a:xfrm>
            <a:off x="9235440" y="4956048"/>
            <a:ext cx="2103120" cy="566928"/>
          </a:xfrm>
          <a:prstGeom prst="rect">
            <a:avLst/>
          </a:prstGeom>
          <a:noFill/>
          <a:ln w="22225">
            <a:solidFill>
              <a:srgbClr val="111111"/>
            </a:solidFill>
            <a:prstDash val="solid"/>
          </a:ln>
        </p:spPr>
        <p:txBody>
          <a:bodyPr/>
          <a:lstStyle/>
          <a:p>
            <a:endParaRPr lang="en-US"/>
          </a:p>
        </p:txBody>
      </p:sp>
      <p:sp>
        <p:nvSpPr>
          <p:cNvPr id="42" name="Text 40"/>
          <p:cNvSpPr/>
          <p:nvPr/>
        </p:nvSpPr>
        <p:spPr>
          <a:xfrm>
            <a:off x="9235440" y="4956048"/>
            <a:ext cx="2103120" cy="566928"/>
          </a:xfrm>
          <a:prstGeom prst="rect">
            <a:avLst/>
          </a:prstGeom>
          <a:noFill/>
          <a:ln/>
        </p:spPr>
        <p:txBody>
          <a:bodyPr wrap="square" lIns="508" tIns="508" rIns="508" bIns="508" rtlCol="0" anchor="ctr"/>
          <a:lstStyle/>
          <a:p>
            <a:pPr marL="0" indent="0" algn="ctr">
              <a:buNone/>
            </a:pPr>
            <a:r>
              <a:rPr lang="en-US" sz="1050" b="1" dirty="0">
                <a:solidFill>
                  <a:srgbClr val="111111"/>
                </a:solidFill>
                <a:latin typeface="Arial" pitchFamily="34" charset="0"/>
                <a:ea typeface="Arial" pitchFamily="34" charset="-122"/>
                <a:cs typeface="Arial" pitchFamily="34" charset="-120"/>
              </a:rPr>
              <a:t>6 · HUMAN GIVES</a:t>
            </a:r>
            <a:endParaRPr lang="en-US" sz="1050" dirty="0"/>
          </a:p>
          <a:p>
            <a:pPr marL="0" indent="0" algn="ctr">
              <a:buNone/>
            </a:pPr>
            <a:r>
              <a:rPr lang="en-US" sz="1050" b="1" dirty="0">
                <a:solidFill>
                  <a:srgbClr val="111111"/>
                </a:solidFill>
                <a:latin typeface="Arial" pitchFamily="34" charset="0"/>
                <a:ea typeface="Arial" pitchFamily="34" charset="-122"/>
                <a:cs typeface="Arial" pitchFamily="34" charset="-120"/>
              </a:rPr>
              <a:t>THE FINAL OK</a:t>
            </a:r>
            <a:endParaRPr lang="en-US" sz="1050" dirty="0"/>
          </a:p>
        </p:txBody>
      </p:sp>
      <p:sp>
        <p:nvSpPr>
          <p:cNvPr id="43" name="Shape 41"/>
          <p:cNvSpPr/>
          <p:nvPr/>
        </p:nvSpPr>
        <p:spPr>
          <a:xfrm>
            <a:off x="10287000" y="5522976"/>
            <a:ext cx="0" cy="283464"/>
          </a:xfrm>
          <a:prstGeom prst="line">
            <a:avLst/>
          </a:prstGeom>
          <a:noFill/>
          <a:ln w="22225">
            <a:solidFill>
              <a:srgbClr val="111111"/>
            </a:solidFill>
            <a:prstDash val="solid"/>
            <a:tailEnd type="triangle"/>
          </a:ln>
        </p:spPr>
        <p:txBody>
          <a:bodyPr/>
          <a:lstStyle/>
          <a:p>
            <a:endParaRPr lang="en-US"/>
          </a:p>
        </p:txBody>
      </p:sp>
      <p:sp>
        <p:nvSpPr>
          <p:cNvPr id="44" name="Shape 42"/>
          <p:cNvSpPr/>
          <p:nvPr/>
        </p:nvSpPr>
        <p:spPr>
          <a:xfrm>
            <a:off x="9235440" y="5806440"/>
            <a:ext cx="2103120" cy="566928"/>
          </a:xfrm>
          <a:prstGeom prst="rect">
            <a:avLst/>
          </a:prstGeom>
          <a:solidFill>
            <a:srgbClr val="111111"/>
          </a:solidFill>
          <a:ln w="22225">
            <a:solidFill>
              <a:srgbClr val="111111"/>
            </a:solidFill>
            <a:prstDash val="solid"/>
          </a:ln>
        </p:spPr>
        <p:txBody>
          <a:bodyPr/>
          <a:lstStyle/>
          <a:p>
            <a:endParaRPr lang="en-US"/>
          </a:p>
        </p:txBody>
      </p:sp>
      <p:sp>
        <p:nvSpPr>
          <p:cNvPr id="45" name="Text 43"/>
          <p:cNvSpPr/>
          <p:nvPr/>
        </p:nvSpPr>
        <p:spPr>
          <a:xfrm>
            <a:off x="9235440" y="5806440"/>
            <a:ext cx="2103120" cy="566928"/>
          </a:xfrm>
          <a:prstGeom prst="rect">
            <a:avLst/>
          </a:prstGeom>
          <a:noFill/>
          <a:ln/>
        </p:spPr>
        <p:txBody>
          <a:bodyPr wrap="square" lIns="508" tIns="508" rIns="508" bIns="508" rtlCol="0" anchor="ctr"/>
          <a:lstStyle/>
          <a:p>
            <a:pPr marL="0" indent="0" algn="ctr">
              <a:buNone/>
            </a:pPr>
            <a:r>
              <a:rPr lang="en-US" sz="1050" b="1" dirty="0">
                <a:solidFill>
                  <a:srgbClr val="F2EFE9"/>
                </a:solidFill>
                <a:latin typeface="Arial" pitchFamily="34" charset="0"/>
                <a:ea typeface="Arial" pitchFamily="34" charset="-122"/>
                <a:cs typeface="Arial" pitchFamily="34" charset="-120"/>
              </a:rPr>
              <a:t>7 · TASK</a:t>
            </a:r>
            <a:endParaRPr lang="en-US" sz="1050" dirty="0"/>
          </a:p>
          <a:p>
            <a:pPr marL="0" indent="0" algn="ctr">
              <a:buNone/>
            </a:pPr>
            <a:r>
              <a:rPr lang="en-US" sz="1050" b="1" dirty="0">
                <a:solidFill>
                  <a:srgbClr val="F2EFE9"/>
                </a:solidFill>
                <a:latin typeface="Arial" pitchFamily="34" charset="0"/>
                <a:ea typeface="Arial" pitchFamily="34" charset="-122"/>
                <a:cs typeface="Arial" pitchFamily="34" charset="-120"/>
              </a:rPr>
              <a:t>COMPLETE</a:t>
            </a:r>
            <a:endParaRPr lang="en-US" sz="1050" dirty="0"/>
          </a:p>
        </p:txBody>
      </p:sp>
      <p:sp>
        <p:nvSpPr>
          <p:cNvPr id="46" name="Shape 44"/>
          <p:cNvSpPr/>
          <p:nvPr/>
        </p:nvSpPr>
        <p:spPr>
          <a:xfrm>
            <a:off x="1600200" y="5522976"/>
            <a:ext cx="0" cy="237744"/>
          </a:xfrm>
          <a:prstGeom prst="line">
            <a:avLst/>
          </a:prstGeom>
          <a:noFill/>
          <a:ln w="19050">
            <a:solidFill>
              <a:srgbClr val="111111"/>
            </a:solidFill>
            <a:prstDash val="solid"/>
          </a:ln>
        </p:spPr>
        <p:txBody>
          <a:bodyPr/>
          <a:lstStyle/>
          <a:p>
            <a:endParaRPr lang="en-US"/>
          </a:p>
        </p:txBody>
      </p:sp>
      <p:sp>
        <p:nvSpPr>
          <p:cNvPr id="47" name="Shape 45"/>
          <p:cNvSpPr/>
          <p:nvPr/>
        </p:nvSpPr>
        <p:spPr>
          <a:xfrm>
            <a:off x="3886200" y="5522976"/>
            <a:ext cx="0" cy="237744"/>
          </a:xfrm>
          <a:prstGeom prst="line">
            <a:avLst/>
          </a:prstGeom>
          <a:noFill/>
          <a:ln w="19050">
            <a:solidFill>
              <a:srgbClr val="111111"/>
            </a:solidFill>
            <a:prstDash val="solid"/>
          </a:ln>
        </p:spPr>
        <p:txBody>
          <a:bodyPr/>
          <a:lstStyle/>
          <a:p>
            <a:endParaRPr lang="en-US"/>
          </a:p>
        </p:txBody>
      </p:sp>
      <p:sp>
        <p:nvSpPr>
          <p:cNvPr id="48" name="Shape 46"/>
          <p:cNvSpPr/>
          <p:nvPr/>
        </p:nvSpPr>
        <p:spPr>
          <a:xfrm>
            <a:off x="310896" y="5760720"/>
            <a:ext cx="3575304" cy="0"/>
          </a:xfrm>
          <a:prstGeom prst="line">
            <a:avLst/>
          </a:prstGeom>
          <a:noFill/>
          <a:ln w="19050">
            <a:solidFill>
              <a:srgbClr val="111111"/>
            </a:solidFill>
            <a:prstDash val="solid"/>
          </a:ln>
        </p:spPr>
        <p:txBody>
          <a:bodyPr/>
          <a:lstStyle/>
          <a:p>
            <a:endParaRPr lang="en-US"/>
          </a:p>
        </p:txBody>
      </p:sp>
      <p:sp>
        <p:nvSpPr>
          <p:cNvPr id="49" name="Shape 47"/>
          <p:cNvSpPr/>
          <p:nvPr/>
        </p:nvSpPr>
        <p:spPr>
          <a:xfrm>
            <a:off x="310896" y="2350008"/>
            <a:ext cx="0" cy="3410712"/>
          </a:xfrm>
          <a:prstGeom prst="line">
            <a:avLst/>
          </a:prstGeom>
          <a:noFill/>
          <a:ln w="19050">
            <a:solidFill>
              <a:srgbClr val="111111"/>
            </a:solidFill>
            <a:prstDash val="solid"/>
          </a:ln>
        </p:spPr>
        <p:txBody>
          <a:bodyPr/>
          <a:lstStyle/>
          <a:p>
            <a:endParaRPr lang="en-US"/>
          </a:p>
        </p:txBody>
      </p:sp>
      <p:sp>
        <p:nvSpPr>
          <p:cNvPr id="50" name="Shape 48"/>
          <p:cNvSpPr/>
          <p:nvPr/>
        </p:nvSpPr>
        <p:spPr>
          <a:xfrm>
            <a:off x="310896" y="2350008"/>
            <a:ext cx="4736592" cy="0"/>
          </a:xfrm>
          <a:prstGeom prst="line">
            <a:avLst/>
          </a:prstGeom>
          <a:noFill/>
          <a:ln w="22225">
            <a:solidFill>
              <a:srgbClr val="111111"/>
            </a:solidFill>
            <a:prstDash val="solid"/>
            <a:tailEnd type="triangle"/>
          </a:ln>
        </p:spPr>
        <p:txBody>
          <a:bodyPr/>
          <a:lstStyle/>
          <a:p>
            <a:endParaRPr lang="en-US"/>
          </a:p>
        </p:txBody>
      </p:sp>
      <p:sp>
        <p:nvSpPr>
          <p:cNvPr id="51" name="Text 49"/>
          <p:cNvSpPr/>
          <p:nvPr/>
        </p:nvSpPr>
        <p:spPr>
          <a:xfrm rot="16200000">
            <a:off x="-566928" y="3913632"/>
            <a:ext cx="1463040" cy="274320"/>
          </a:xfrm>
          <a:prstGeom prst="rect">
            <a:avLst/>
          </a:prstGeom>
          <a:noFill/>
          <a:ln/>
        </p:spPr>
        <p:txBody>
          <a:bodyPr wrap="square" lIns="0" tIns="0" rIns="0" bIns="0" rtlCol="0" anchor="ctr"/>
          <a:lstStyle/>
          <a:p>
            <a:pPr marL="0" indent="0" algn="ctr">
              <a:buNone/>
            </a:pPr>
            <a:r>
              <a:rPr lang="en-US" sz="850" dirty="0">
                <a:solidFill>
                  <a:srgbClr val="111111"/>
                </a:solidFill>
                <a:latin typeface="Courier New" pitchFamily="34" charset="0"/>
                <a:ea typeface="Courier New" pitchFamily="34" charset="-122"/>
                <a:cs typeface="Courier New" pitchFamily="34" charset="-120"/>
              </a:rPr>
              <a:t>NEXT LAP</a:t>
            </a:r>
            <a:endParaRPr lang="en-US" sz="850" dirty="0"/>
          </a:p>
        </p:txBody>
      </p:sp>
      <p:sp>
        <p:nvSpPr>
          <p:cNvPr id="52" name="Shape 50"/>
          <p:cNvSpPr/>
          <p:nvPr/>
        </p:nvSpPr>
        <p:spPr>
          <a:xfrm>
            <a:off x="7863840" y="5522976"/>
            <a:ext cx="0" cy="987552"/>
          </a:xfrm>
          <a:prstGeom prst="line">
            <a:avLst/>
          </a:prstGeom>
          <a:noFill/>
          <a:ln w="19050">
            <a:solidFill>
              <a:srgbClr val="111111"/>
            </a:solidFill>
            <a:prstDash val="solid"/>
          </a:ln>
        </p:spPr>
        <p:txBody>
          <a:bodyPr/>
          <a:lstStyle/>
          <a:p>
            <a:endParaRPr lang="en-US"/>
          </a:p>
        </p:txBody>
      </p:sp>
      <p:sp>
        <p:nvSpPr>
          <p:cNvPr id="53" name="Shape 51"/>
          <p:cNvSpPr/>
          <p:nvPr/>
        </p:nvSpPr>
        <p:spPr>
          <a:xfrm>
            <a:off x="7863840" y="6510528"/>
            <a:ext cx="3977640" cy="0"/>
          </a:xfrm>
          <a:prstGeom prst="line">
            <a:avLst/>
          </a:prstGeom>
          <a:noFill/>
          <a:ln w="19050">
            <a:solidFill>
              <a:srgbClr val="111111"/>
            </a:solidFill>
            <a:prstDash val="solid"/>
          </a:ln>
        </p:spPr>
        <p:txBody>
          <a:bodyPr/>
          <a:lstStyle/>
          <a:p>
            <a:endParaRPr lang="en-US"/>
          </a:p>
        </p:txBody>
      </p:sp>
      <p:sp>
        <p:nvSpPr>
          <p:cNvPr id="54" name="Shape 52"/>
          <p:cNvSpPr/>
          <p:nvPr/>
        </p:nvSpPr>
        <p:spPr>
          <a:xfrm>
            <a:off x="11841480" y="2350008"/>
            <a:ext cx="0" cy="4160520"/>
          </a:xfrm>
          <a:prstGeom prst="line">
            <a:avLst/>
          </a:prstGeom>
          <a:noFill/>
          <a:ln w="19050">
            <a:solidFill>
              <a:srgbClr val="111111"/>
            </a:solidFill>
            <a:prstDash val="solid"/>
          </a:ln>
        </p:spPr>
        <p:txBody>
          <a:bodyPr/>
          <a:lstStyle/>
          <a:p>
            <a:endParaRPr lang="en-US"/>
          </a:p>
        </p:txBody>
      </p:sp>
      <p:sp>
        <p:nvSpPr>
          <p:cNvPr id="55" name="Shape 53"/>
          <p:cNvSpPr/>
          <p:nvPr/>
        </p:nvSpPr>
        <p:spPr>
          <a:xfrm>
            <a:off x="7150608" y="2350008"/>
            <a:ext cx="4690872" cy="0"/>
          </a:xfrm>
          <a:prstGeom prst="line">
            <a:avLst/>
          </a:prstGeom>
          <a:noFill/>
          <a:ln w="22225">
            <a:solidFill>
              <a:srgbClr val="111111"/>
            </a:solidFill>
            <a:prstDash val="solid"/>
            <a:headEnd type="triangle"/>
          </a:ln>
        </p:spPr>
        <p:txBody>
          <a:bodyP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EFE9"/>
        </a:solidFill>
        <a:effectLst/>
      </p:bgPr>
    </p:bg>
    <p:spTree>
      <p:nvGrpSpPr>
        <p:cNvPr id="1" name=""/>
        <p:cNvGrpSpPr/>
        <p:nvPr/>
      </p:nvGrpSpPr>
      <p:grpSpPr>
        <a:xfrm>
          <a:off x="0" y="0"/>
          <a:ext cx="0" cy="0"/>
          <a:chOff x="0" y="0"/>
          <a:chExt cx="0" cy="0"/>
        </a:xfrm>
      </p:grpSpPr>
      <p:sp>
        <p:nvSpPr>
          <p:cNvPr id="2" name="Text 0"/>
          <p:cNvSpPr/>
          <p:nvPr/>
        </p:nvSpPr>
        <p:spPr>
          <a:xfrm>
            <a:off x="11430000" y="182880"/>
            <a:ext cx="594360" cy="274320"/>
          </a:xfrm>
          <a:prstGeom prst="rect">
            <a:avLst/>
          </a:prstGeom>
          <a:noFill/>
          <a:ln/>
        </p:spPr>
        <p:txBody>
          <a:bodyPr wrap="square" lIns="0" tIns="0" rIns="0" bIns="0" rtlCol="0" anchor="ctr"/>
          <a:lstStyle/>
          <a:p>
            <a:pPr marL="0" indent="0" algn="r">
              <a:buNone/>
            </a:pPr>
            <a:r>
              <a:rPr lang="en-US" sz="1000" dirty="0">
                <a:solidFill>
                  <a:srgbClr val="111111"/>
                </a:solidFill>
                <a:latin typeface="Courier New" pitchFamily="34" charset="0"/>
                <a:ea typeface="Courier New" pitchFamily="34" charset="-122"/>
                <a:cs typeface="Courier New" pitchFamily="34" charset="-120"/>
              </a:rPr>
              <a:t>15</a:t>
            </a:r>
            <a:endParaRPr lang="en-US" sz="1000" dirty="0"/>
          </a:p>
        </p:txBody>
      </p:sp>
      <p:sp>
        <p:nvSpPr>
          <p:cNvPr id="3" name="Text 1"/>
          <p:cNvSpPr/>
          <p:nvPr/>
        </p:nvSpPr>
        <p:spPr>
          <a:xfrm>
            <a:off x="548640" y="548640"/>
            <a:ext cx="10515600" cy="1051560"/>
          </a:xfrm>
          <a:prstGeom prst="rect">
            <a:avLst/>
          </a:prstGeom>
          <a:noFill/>
          <a:ln/>
        </p:spPr>
        <p:txBody>
          <a:bodyPr wrap="square" lIns="0" tIns="0" rIns="0" bIns="0" rtlCol="0" anchor="t"/>
          <a:lstStyle/>
          <a:p>
            <a:pPr marL="0" indent="0">
              <a:buNone/>
            </a:pPr>
            <a:r>
              <a:rPr lang="en-US" sz="4400" b="1" dirty="0">
                <a:solidFill>
                  <a:srgbClr val="111111"/>
                </a:solidFill>
                <a:latin typeface="Arial" pitchFamily="34" charset="0"/>
                <a:ea typeface="Arial" pitchFamily="34" charset="-122"/>
                <a:cs typeface="Arial" pitchFamily="34" charset="-120"/>
              </a:rPr>
              <a:t>SO WHAT'S YOUR JOB NOW?</a:t>
            </a:r>
            <a:endParaRPr lang="en-US" sz="4400" dirty="0"/>
          </a:p>
        </p:txBody>
      </p:sp>
      <p:sp>
        <p:nvSpPr>
          <p:cNvPr id="4" name="Shape 2"/>
          <p:cNvSpPr/>
          <p:nvPr/>
        </p:nvSpPr>
        <p:spPr>
          <a:xfrm>
            <a:off x="566928" y="1783080"/>
            <a:ext cx="5349240" cy="3200400"/>
          </a:xfrm>
          <a:prstGeom prst="rect">
            <a:avLst/>
          </a:prstGeom>
          <a:noFill/>
          <a:ln w="25400">
            <a:solidFill>
              <a:srgbClr val="111111"/>
            </a:solidFill>
            <a:prstDash val="solid"/>
          </a:ln>
        </p:spPr>
        <p:txBody>
          <a:bodyPr/>
          <a:lstStyle/>
          <a:p>
            <a:endParaRPr lang="en-US"/>
          </a:p>
        </p:txBody>
      </p:sp>
      <p:sp>
        <p:nvSpPr>
          <p:cNvPr id="5" name="Text 3"/>
          <p:cNvSpPr/>
          <p:nvPr/>
        </p:nvSpPr>
        <p:spPr>
          <a:xfrm>
            <a:off x="868680" y="2057400"/>
            <a:ext cx="2743200" cy="274320"/>
          </a:xfrm>
          <a:prstGeom prst="rect">
            <a:avLst/>
          </a:prstGeom>
          <a:noFill/>
          <a:ln/>
        </p:spPr>
        <p:txBody>
          <a:bodyPr wrap="square" lIns="0" tIns="0" rIns="0" bIns="0" rtlCol="0" anchor="ctr"/>
          <a:lstStyle/>
          <a:p>
            <a:pPr marL="0" indent="0" algn="l">
              <a:buNone/>
            </a:pPr>
            <a:r>
              <a:rPr lang="en-US" sz="1100" b="1" dirty="0">
                <a:solidFill>
                  <a:srgbClr val="111111"/>
                </a:solidFill>
                <a:latin typeface="Courier New" pitchFamily="34" charset="0"/>
                <a:ea typeface="Courier New" pitchFamily="34" charset="-122"/>
                <a:cs typeface="Courier New" pitchFamily="34" charset="-120"/>
              </a:rPr>
              <a:t>THE OLD JOB</a:t>
            </a:r>
            <a:endParaRPr lang="en-US" sz="1100" dirty="0"/>
          </a:p>
        </p:txBody>
      </p:sp>
      <p:sp>
        <p:nvSpPr>
          <p:cNvPr id="6" name="Text 4"/>
          <p:cNvSpPr/>
          <p:nvPr/>
        </p:nvSpPr>
        <p:spPr>
          <a:xfrm>
            <a:off x="868680" y="2377440"/>
            <a:ext cx="4754880" cy="457200"/>
          </a:xfrm>
          <a:prstGeom prst="rect">
            <a:avLst/>
          </a:prstGeom>
          <a:noFill/>
          <a:ln/>
        </p:spPr>
        <p:txBody>
          <a:bodyPr wrap="square" lIns="0" tIns="0" rIns="0" bIns="0" rtlCol="0" anchor="ctr"/>
          <a:lstStyle/>
          <a:p>
            <a:pPr marL="0" indent="0">
              <a:buNone/>
            </a:pPr>
            <a:r>
              <a:rPr lang="en-US" sz="2400" b="1" dirty="0">
                <a:solidFill>
                  <a:srgbClr val="111111"/>
                </a:solidFill>
                <a:latin typeface="Arial" pitchFamily="34" charset="0"/>
                <a:ea typeface="Arial" pitchFamily="34" charset="-122"/>
                <a:cs typeface="Arial" pitchFamily="34" charset="-120"/>
              </a:rPr>
              <a:t>You wrote the answer.</a:t>
            </a:r>
            <a:endParaRPr lang="en-US" sz="2400" dirty="0"/>
          </a:p>
        </p:txBody>
      </p:sp>
      <p:sp>
        <p:nvSpPr>
          <p:cNvPr id="7" name="Text 5"/>
          <p:cNvSpPr/>
          <p:nvPr/>
        </p:nvSpPr>
        <p:spPr>
          <a:xfrm>
            <a:off x="868680" y="2971800"/>
            <a:ext cx="4754880" cy="1828800"/>
          </a:xfrm>
          <a:prstGeom prst="rect">
            <a:avLst/>
          </a:prstGeom>
          <a:noFill/>
          <a:ln/>
        </p:spPr>
        <p:txBody>
          <a:bodyPr wrap="square" lIns="0" tIns="0" rIns="0" bIns="0" rtlCol="0" anchor="t"/>
          <a:lstStyle/>
          <a:p>
            <a:pPr marL="0" indent="0">
              <a:lnSpc>
                <a:spcPts val="2400"/>
              </a:lnSpc>
              <a:buNone/>
            </a:pPr>
            <a:r>
              <a:rPr lang="en-US" sz="1700" dirty="0">
                <a:solidFill>
                  <a:srgbClr val="111111"/>
                </a:solidFill>
                <a:latin typeface="Arial" pitchFamily="34" charset="0"/>
                <a:ea typeface="Arial" pitchFamily="34" charset="-122"/>
                <a:cs typeface="Arial" pitchFamily="34" charset="-120"/>
              </a:rPr>
              <a:t>Write the code.</a:t>
            </a:r>
            <a:endParaRPr lang="en-US" sz="1700" dirty="0"/>
          </a:p>
          <a:p>
            <a:pPr marL="0" indent="0">
              <a:lnSpc>
                <a:spcPts val="2400"/>
              </a:lnSpc>
              <a:buNone/>
            </a:pPr>
            <a:r>
              <a:rPr lang="en-US" sz="1700" dirty="0">
                <a:solidFill>
                  <a:srgbClr val="111111"/>
                </a:solidFill>
                <a:latin typeface="Arial" pitchFamily="34" charset="0"/>
                <a:ea typeface="Arial" pitchFamily="34" charset="-122"/>
                <a:cs typeface="Arial" pitchFamily="34" charset="-120"/>
              </a:rPr>
              <a:t>Run it.</a:t>
            </a:r>
            <a:endParaRPr lang="en-US" sz="1700" dirty="0"/>
          </a:p>
          <a:p>
            <a:pPr marL="0" indent="0">
              <a:lnSpc>
                <a:spcPts val="2400"/>
              </a:lnSpc>
              <a:buNone/>
            </a:pPr>
            <a:r>
              <a:rPr lang="en-US" sz="1700" dirty="0">
                <a:solidFill>
                  <a:srgbClr val="111111"/>
                </a:solidFill>
                <a:latin typeface="Arial" pitchFamily="34" charset="0"/>
                <a:ea typeface="Arial" pitchFamily="34" charset="-122"/>
                <a:cs typeface="Arial" pitchFamily="34" charset="-120"/>
              </a:rPr>
              <a:t>Find the bug.</a:t>
            </a:r>
            <a:endParaRPr lang="en-US" sz="1700" dirty="0"/>
          </a:p>
          <a:p>
            <a:pPr marL="0" indent="0">
              <a:lnSpc>
                <a:spcPts val="2400"/>
              </a:lnSpc>
              <a:buNone/>
            </a:pPr>
            <a:r>
              <a:rPr lang="en-US" sz="1700" dirty="0">
                <a:solidFill>
                  <a:srgbClr val="111111"/>
                </a:solidFill>
                <a:latin typeface="Arial" pitchFamily="34" charset="0"/>
                <a:ea typeface="Arial" pitchFamily="34" charset="-122"/>
                <a:cs typeface="Arial" pitchFamily="34" charset="-120"/>
              </a:rPr>
              <a:t>Fix it.</a:t>
            </a:r>
            <a:endParaRPr lang="en-US" sz="1700" dirty="0"/>
          </a:p>
          <a:p>
            <a:pPr marL="0" indent="0">
              <a:lnSpc>
                <a:spcPts val="2400"/>
              </a:lnSpc>
              <a:buNone/>
            </a:pPr>
            <a:r>
              <a:rPr lang="en-US" sz="1700" dirty="0">
                <a:solidFill>
                  <a:srgbClr val="111111"/>
                </a:solidFill>
                <a:latin typeface="Arial" pitchFamily="34" charset="0"/>
                <a:ea typeface="Arial" pitchFamily="34" charset="-122"/>
                <a:cs typeface="Arial" pitchFamily="34" charset="-120"/>
              </a:rPr>
              <a:t>Repeat, by hand, all day.</a:t>
            </a:r>
            <a:endParaRPr lang="en-US" sz="1700" dirty="0"/>
          </a:p>
        </p:txBody>
      </p:sp>
      <p:sp>
        <p:nvSpPr>
          <p:cNvPr id="8" name="Shape 6"/>
          <p:cNvSpPr/>
          <p:nvPr/>
        </p:nvSpPr>
        <p:spPr>
          <a:xfrm>
            <a:off x="6281928" y="1783080"/>
            <a:ext cx="5349240" cy="3200400"/>
          </a:xfrm>
          <a:prstGeom prst="rect">
            <a:avLst/>
          </a:prstGeom>
          <a:solidFill>
            <a:srgbClr val="111111"/>
          </a:solidFill>
          <a:ln w="25400">
            <a:solidFill>
              <a:srgbClr val="111111"/>
            </a:solidFill>
            <a:prstDash val="solid"/>
          </a:ln>
        </p:spPr>
        <p:txBody>
          <a:bodyPr/>
          <a:lstStyle/>
          <a:p>
            <a:endParaRPr lang="en-US"/>
          </a:p>
        </p:txBody>
      </p:sp>
      <p:sp>
        <p:nvSpPr>
          <p:cNvPr id="9" name="Text 7"/>
          <p:cNvSpPr/>
          <p:nvPr/>
        </p:nvSpPr>
        <p:spPr>
          <a:xfrm>
            <a:off x="6583680" y="2057400"/>
            <a:ext cx="2743200" cy="274320"/>
          </a:xfrm>
          <a:prstGeom prst="rect">
            <a:avLst/>
          </a:prstGeom>
          <a:noFill/>
          <a:ln/>
        </p:spPr>
        <p:txBody>
          <a:bodyPr wrap="square" lIns="0" tIns="0" rIns="0" bIns="0" rtlCol="0" anchor="ctr"/>
          <a:lstStyle/>
          <a:p>
            <a:pPr marL="0" indent="0" algn="l">
              <a:buNone/>
            </a:pPr>
            <a:r>
              <a:rPr lang="en-US" sz="1100" b="1" dirty="0">
                <a:solidFill>
                  <a:srgbClr val="F5C518"/>
                </a:solidFill>
                <a:latin typeface="Courier New" pitchFamily="34" charset="0"/>
                <a:ea typeface="Courier New" pitchFamily="34" charset="-122"/>
                <a:cs typeface="Courier New" pitchFamily="34" charset="-120"/>
              </a:rPr>
              <a:t>THE NEW JOB</a:t>
            </a:r>
            <a:endParaRPr lang="en-US" sz="1100" dirty="0"/>
          </a:p>
        </p:txBody>
      </p:sp>
      <p:sp>
        <p:nvSpPr>
          <p:cNvPr id="10" name="Text 8"/>
          <p:cNvSpPr/>
          <p:nvPr/>
        </p:nvSpPr>
        <p:spPr>
          <a:xfrm>
            <a:off x="6583680" y="2377440"/>
            <a:ext cx="4754880" cy="457200"/>
          </a:xfrm>
          <a:prstGeom prst="rect">
            <a:avLst/>
          </a:prstGeom>
          <a:noFill/>
          <a:ln/>
        </p:spPr>
        <p:txBody>
          <a:bodyPr wrap="square" lIns="0" tIns="0" rIns="0" bIns="0" rtlCol="0" anchor="ctr"/>
          <a:lstStyle/>
          <a:p>
            <a:pPr marL="0" indent="0">
              <a:buNone/>
            </a:pPr>
            <a:r>
              <a:rPr lang="en-US" sz="2400" b="1" dirty="0">
                <a:solidFill>
                  <a:srgbClr val="F2EFE9"/>
                </a:solidFill>
                <a:latin typeface="Arial" pitchFamily="34" charset="0"/>
                <a:ea typeface="Arial" pitchFamily="34" charset="-122"/>
                <a:cs typeface="Arial" pitchFamily="34" charset="-120"/>
              </a:rPr>
              <a:t>You write the rules.</a:t>
            </a:r>
            <a:endParaRPr lang="en-US" sz="2400" dirty="0"/>
          </a:p>
        </p:txBody>
      </p:sp>
      <p:sp>
        <p:nvSpPr>
          <p:cNvPr id="11" name="Text 9"/>
          <p:cNvSpPr/>
          <p:nvPr/>
        </p:nvSpPr>
        <p:spPr>
          <a:xfrm>
            <a:off x="6583680" y="2971800"/>
            <a:ext cx="4754880" cy="1828800"/>
          </a:xfrm>
          <a:prstGeom prst="rect">
            <a:avLst/>
          </a:prstGeom>
          <a:noFill/>
          <a:ln/>
        </p:spPr>
        <p:txBody>
          <a:bodyPr wrap="square" lIns="0" tIns="0" rIns="0" bIns="0" rtlCol="0" anchor="t"/>
          <a:lstStyle/>
          <a:p>
            <a:pPr marL="0" indent="0">
              <a:lnSpc>
                <a:spcPts val="2400"/>
              </a:lnSpc>
              <a:buNone/>
            </a:pPr>
            <a:r>
              <a:rPr lang="en-US" sz="1700" dirty="0">
                <a:solidFill>
                  <a:srgbClr val="F2EFE9"/>
                </a:solidFill>
                <a:latin typeface="Arial" pitchFamily="34" charset="0"/>
                <a:ea typeface="Arial" pitchFamily="34" charset="-122"/>
                <a:cs typeface="Arial" pitchFamily="34" charset="-120"/>
              </a:rPr>
              <a:t>What does "good" mean?</a:t>
            </a:r>
            <a:endParaRPr lang="en-US" sz="1700" dirty="0"/>
          </a:p>
          <a:p>
            <a:pPr marL="0" indent="0">
              <a:lnSpc>
                <a:spcPts val="2400"/>
              </a:lnSpc>
              <a:buNone/>
            </a:pPr>
            <a:r>
              <a:rPr lang="en-US" sz="1700" dirty="0">
                <a:solidFill>
                  <a:srgbClr val="F2EFE9"/>
                </a:solidFill>
                <a:latin typeface="Arial" pitchFamily="34" charset="0"/>
                <a:ea typeface="Arial" pitchFamily="34" charset="-122"/>
                <a:cs typeface="Arial" pitchFamily="34" charset="-120"/>
              </a:rPr>
              <a:t>How do we check it?</a:t>
            </a:r>
            <a:endParaRPr lang="en-US" sz="1700" dirty="0"/>
          </a:p>
          <a:p>
            <a:pPr marL="0" indent="0">
              <a:lnSpc>
                <a:spcPts val="2400"/>
              </a:lnSpc>
              <a:buNone/>
            </a:pPr>
            <a:r>
              <a:rPr lang="en-US" sz="1700" dirty="0">
                <a:solidFill>
                  <a:srgbClr val="F2EFE9"/>
                </a:solidFill>
                <a:latin typeface="Arial" pitchFamily="34" charset="0"/>
                <a:ea typeface="Arial" pitchFamily="34" charset="-122"/>
                <a:cs typeface="Arial" pitchFamily="34" charset="-120"/>
              </a:rPr>
              <a:t>When do we stop?</a:t>
            </a:r>
            <a:endParaRPr lang="en-US" sz="1700" dirty="0"/>
          </a:p>
          <a:p>
            <a:pPr marL="0" indent="0">
              <a:lnSpc>
                <a:spcPts val="2400"/>
              </a:lnSpc>
              <a:buNone/>
            </a:pPr>
            <a:r>
              <a:rPr lang="en-US" sz="1700" dirty="0">
                <a:solidFill>
                  <a:srgbClr val="F2EFE9"/>
                </a:solidFill>
                <a:latin typeface="Arial" pitchFamily="34" charset="0"/>
                <a:ea typeface="Arial" pitchFamily="34" charset="-122"/>
                <a:cs typeface="Arial" pitchFamily="34" charset="-120"/>
              </a:rPr>
              <a:t>What is it never allowed to do?</a:t>
            </a:r>
            <a:endParaRPr lang="en-US" sz="1700" dirty="0"/>
          </a:p>
        </p:txBody>
      </p:sp>
      <p:sp>
        <p:nvSpPr>
          <p:cNvPr id="12" name="Text 10"/>
          <p:cNvSpPr/>
          <p:nvPr/>
        </p:nvSpPr>
        <p:spPr>
          <a:xfrm>
            <a:off x="566928" y="5349240"/>
            <a:ext cx="11064240" cy="640080"/>
          </a:xfrm>
          <a:prstGeom prst="rect">
            <a:avLst/>
          </a:prstGeom>
          <a:noFill/>
          <a:ln/>
        </p:spPr>
        <p:txBody>
          <a:bodyPr wrap="square" lIns="0" tIns="0" rIns="0" bIns="0" rtlCol="0" anchor="ctr"/>
          <a:lstStyle/>
          <a:p>
            <a:pPr marL="0" indent="0">
              <a:buNone/>
            </a:pPr>
            <a:r>
              <a:rPr lang="en-US" sz="2400" b="1" dirty="0">
                <a:solidFill>
                  <a:srgbClr val="E1462C"/>
                </a:solidFill>
                <a:latin typeface="Arial" pitchFamily="34" charset="0"/>
                <a:ea typeface="Arial" pitchFamily="34" charset="-122"/>
                <a:cs typeface="Arial" pitchFamily="34" charset="-120"/>
              </a:rPr>
              <a:t>You don't do the work any more. You define what "done" means.</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EFE9"/>
        </a:solidFill>
        <a:effectLst/>
      </p:bgPr>
    </p:bg>
    <p:spTree>
      <p:nvGrpSpPr>
        <p:cNvPr id="1" name=""/>
        <p:cNvGrpSpPr/>
        <p:nvPr/>
      </p:nvGrpSpPr>
      <p:grpSpPr>
        <a:xfrm>
          <a:off x="0" y="0"/>
          <a:ext cx="0" cy="0"/>
          <a:chOff x="0" y="0"/>
          <a:chExt cx="0" cy="0"/>
        </a:xfrm>
      </p:grpSpPr>
      <p:sp>
        <p:nvSpPr>
          <p:cNvPr id="2" name="Text 0"/>
          <p:cNvSpPr/>
          <p:nvPr/>
        </p:nvSpPr>
        <p:spPr>
          <a:xfrm>
            <a:off x="11430000" y="182880"/>
            <a:ext cx="594360" cy="274320"/>
          </a:xfrm>
          <a:prstGeom prst="rect">
            <a:avLst/>
          </a:prstGeom>
          <a:noFill/>
          <a:ln/>
        </p:spPr>
        <p:txBody>
          <a:bodyPr wrap="square" lIns="0" tIns="0" rIns="0" bIns="0" rtlCol="0" anchor="ctr"/>
          <a:lstStyle/>
          <a:p>
            <a:pPr marL="0" indent="0" algn="r">
              <a:buNone/>
            </a:pPr>
            <a:r>
              <a:rPr lang="en-US" sz="1000" dirty="0">
                <a:solidFill>
                  <a:srgbClr val="111111"/>
                </a:solidFill>
                <a:latin typeface="Courier New" pitchFamily="34" charset="0"/>
                <a:ea typeface="Courier New" pitchFamily="34" charset="-122"/>
                <a:cs typeface="Courier New" pitchFamily="34" charset="-120"/>
              </a:rPr>
              <a:t>16</a:t>
            </a:r>
            <a:endParaRPr lang="en-US" sz="1000" dirty="0"/>
          </a:p>
        </p:txBody>
      </p:sp>
      <p:sp>
        <p:nvSpPr>
          <p:cNvPr id="3" name="Text 1"/>
          <p:cNvSpPr/>
          <p:nvPr/>
        </p:nvSpPr>
        <p:spPr>
          <a:xfrm>
            <a:off x="548640" y="502920"/>
            <a:ext cx="10515600" cy="1051560"/>
          </a:xfrm>
          <a:prstGeom prst="rect">
            <a:avLst/>
          </a:prstGeom>
          <a:noFill/>
          <a:ln/>
        </p:spPr>
        <p:txBody>
          <a:bodyPr wrap="square" lIns="0" tIns="0" rIns="0" bIns="0" rtlCol="0" anchor="t"/>
          <a:lstStyle/>
          <a:p>
            <a:pPr marL="0" indent="0">
              <a:buNone/>
            </a:pPr>
            <a:r>
              <a:rPr lang="en-US" sz="4000" b="1" dirty="0">
                <a:solidFill>
                  <a:srgbClr val="111111"/>
                </a:solidFill>
                <a:latin typeface="Arial" pitchFamily="34" charset="0"/>
                <a:ea typeface="Arial" pitchFamily="34" charset="-122"/>
                <a:cs typeface="Arial" pitchFamily="34" charset="-120"/>
              </a:rPr>
              <a:t>THE CHECKLIST IS THE PRODUCT</a:t>
            </a:r>
            <a:endParaRPr lang="en-US" sz="4000" dirty="0"/>
          </a:p>
        </p:txBody>
      </p:sp>
      <p:sp>
        <p:nvSpPr>
          <p:cNvPr id="4" name="Text 2"/>
          <p:cNvSpPr/>
          <p:nvPr/>
        </p:nvSpPr>
        <p:spPr>
          <a:xfrm>
            <a:off x="566928" y="1481328"/>
            <a:ext cx="10515600" cy="457200"/>
          </a:xfrm>
          <a:prstGeom prst="rect">
            <a:avLst/>
          </a:prstGeom>
          <a:noFill/>
          <a:ln/>
        </p:spPr>
        <p:txBody>
          <a:bodyPr wrap="square" lIns="0" tIns="0" rIns="0" bIns="0" rtlCol="0" anchor="ctr"/>
          <a:lstStyle/>
          <a:p>
            <a:pPr marL="0" indent="0">
              <a:buNone/>
            </a:pPr>
            <a:r>
              <a:rPr lang="en-US" sz="1800" dirty="0">
                <a:solidFill>
                  <a:srgbClr val="111111"/>
                </a:solidFill>
                <a:latin typeface="Arial" pitchFamily="34" charset="0"/>
                <a:ea typeface="Arial" pitchFamily="34" charset="-122"/>
                <a:cs typeface="Arial" pitchFamily="34" charset="-120"/>
              </a:rPr>
              <a:t>This is the list my resume app grades against. Red failed, black passed.</a:t>
            </a:r>
            <a:endParaRPr lang="en-US" sz="1800" dirty="0"/>
          </a:p>
        </p:txBody>
      </p:sp>
      <p:sp>
        <p:nvSpPr>
          <p:cNvPr id="5" name="Shape 3"/>
          <p:cNvSpPr/>
          <p:nvPr/>
        </p:nvSpPr>
        <p:spPr>
          <a:xfrm>
            <a:off x="566928" y="2148840"/>
            <a:ext cx="3246120" cy="960120"/>
          </a:xfrm>
          <a:prstGeom prst="rect">
            <a:avLst/>
          </a:prstGeom>
          <a:solidFill>
            <a:srgbClr val="111111"/>
          </a:solidFill>
          <a:ln w="22225">
            <a:solidFill>
              <a:srgbClr val="111111"/>
            </a:solidFill>
            <a:prstDash val="solid"/>
          </a:ln>
        </p:spPr>
        <p:txBody>
          <a:bodyPr/>
          <a:lstStyle/>
          <a:p>
            <a:endParaRPr lang="en-US"/>
          </a:p>
        </p:txBody>
      </p:sp>
      <p:sp>
        <p:nvSpPr>
          <p:cNvPr id="6" name="Text 4"/>
          <p:cNvSpPr/>
          <p:nvPr/>
        </p:nvSpPr>
        <p:spPr>
          <a:xfrm>
            <a:off x="566928" y="2148840"/>
            <a:ext cx="3246120" cy="960120"/>
          </a:xfrm>
          <a:prstGeom prst="rect">
            <a:avLst/>
          </a:prstGeom>
          <a:noFill/>
          <a:ln/>
        </p:spPr>
        <p:txBody>
          <a:bodyPr wrap="square" lIns="508" tIns="508" rIns="508" bIns="508" rtlCol="0" anchor="ctr"/>
          <a:lstStyle/>
          <a:p>
            <a:pPr marL="0" indent="0" algn="ctr">
              <a:buNone/>
            </a:pPr>
            <a:r>
              <a:rPr lang="en-US" sz="1600" b="1" dirty="0">
                <a:solidFill>
                  <a:srgbClr val="F2EFE9"/>
                </a:solidFill>
                <a:latin typeface="Arial" pitchFamily="34" charset="0"/>
                <a:ea typeface="Arial" pitchFamily="34" charset="-122"/>
                <a:cs typeface="Arial" pitchFamily="34" charset="-120"/>
              </a:rPr>
              <a:t>KEYWORDS</a:t>
            </a:r>
            <a:endParaRPr lang="en-US" sz="1600" dirty="0"/>
          </a:p>
        </p:txBody>
      </p:sp>
      <p:sp>
        <p:nvSpPr>
          <p:cNvPr id="7" name="Shape 5"/>
          <p:cNvSpPr/>
          <p:nvPr/>
        </p:nvSpPr>
        <p:spPr>
          <a:xfrm>
            <a:off x="4133088" y="2148840"/>
            <a:ext cx="3246120" cy="960120"/>
          </a:xfrm>
          <a:prstGeom prst="rect">
            <a:avLst/>
          </a:prstGeom>
          <a:solidFill>
            <a:srgbClr val="111111"/>
          </a:solidFill>
          <a:ln w="22225">
            <a:solidFill>
              <a:srgbClr val="111111"/>
            </a:solidFill>
            <a:prstDash val="solid"/>
          </a:ln>
        </p:spPr>
        <p:txBody>
          <a:bodyPr/>
          <a:lstStyle/>
          <a:p>
            <a:endParaRPr lang="en-US"/>
          </a:p>
        </p:txBody>
      </p:sp>
      <p:sp>
        <p:nvSpPr>
          <p:cNvPr id="8" name="Text 6"/>
          <p:cNvSpPr/>
          <p:nvPr/>
        </p:nvSpPr>
        <p:spPr>
          <a:xfrm>
            <a:off x="4133088" y="2148840"/>
            <a:ext cx="3246120" cy="960120"/>
          </a:xfrm>
          <a:prstGeom prst="rect">
            <a:avLst/>
          </a:prstGeom>
          <a:noFill/>
          <a:ln/>
        </p:spPr>
        <p:txBody>
          <a:bodyPr wrap="square" lIns="508" tIns="508" rIns="508" bIns="508" rtlCol="0" anchor="ctr"/>
          <a:lstStyle/>
          <a:p>
            <a:pPr marL="0" indent="0" algn="ctr">
              <a:buNone/>
            </a:pPr>
            <a:r>
              <a:rPr lang="en-US" sz="1600" b="1" dirty="0">
                <a:solidFill>
                  <a:srgbClr val="F2EFE9"/>
                </a:solidFill>
                <a:latin typeface="Arial" pitchFamily="34" charset="0"/>
                <a:ea typeface="Arial" pitchFamily="34" charset="-122"/>
                <a:cs typeface="Arial" pitchFamily="34" charset="-120"/>
              </a:rPr>
              <a:t>SKILLS MATCH</a:t>
            </a:r>
            <a:endParaRPr lang="en-US" sz="1600" dirty="0"/>
          </a:p>
        </p:txBody>
      </p:sp>
      <p:sp>
        <p:nvSpPr>
          <p:cNvPr id="9" name="Shape 7"/>
          <p:cNvSpPr/>
          <p:nvPr/>
        </p:nvSpPr>
        <p:spPr>
          <a:xfrm>
            <a:off x="7699248" y="2148840"/>
            <a:ext cx="3246120" cy="960120"/>
          </a:xfrm>
          <a:prstGeom prst="rect">
            <a:avLst/>
          </a:prstGeom>
          <a:solidFill>
            <a:srgbClr val="E1462C"/>
          </a:solidFill>
          <a:ln w="22225">
            <a:solidFill>
              <a:srgbClr val="111111"/>
            </a:solidFill>
            <a:prstDash val="solid"/>
          </a:ln>
        </p:spPr>
        <p:txBody>
          <a:bodyPr/>
          <a:lstStyle/>
          <a:p>
            <a:endParaRPr lang="en-US"/>
          </a:p>
        </p:txBody>
      </p:sp>
      <p:sp>
        <p:nvSpPr>
          <p:cNvPr id="10" name="Text 8"/>
          <p:cNvSpPr/>
          <p:nvPr/>
        </p:nvSpPr>
        <p:spPr>
          <a:xfrm>
            <a:off x="7699248" y="2148840"/>
            <a:ext cx="3246120" cy="960120"/>
          </a:xfrm>
          <a:prstGeom prst="rect">
            <a:avLst/>
          </a:prstGeom>
          <a:noFill/>
          <a:ln/>
        </p:spPr>
        <p:txBody>
          <a:bodyPr wrap="square" lIns="508" tIns="508" rIns="508" bIns="508" rtlCol="0" anchor="ctr"/>
          <a:lstStyle/>
          <a:p>
            <a:pPr marL="0" indent="0" algn="ctr">
              <a:buNone/>
            </a:pPr>
            <a:r>
              <a:rPr lang="en-US" sz="1600" b="1" dirty="0">
                <a:solidFill>
                  <a:srgbClr val="F2EFE9"/>
                </a:solidFill>
                <a:latin typeface="Arial" pitchFamily="34" charset="0"/>
                <a:ea typeface="Arial" pitchFamily="34" charset="-122"/>
                <a:cs typeface="Arial" pitchFamily="34" charset="-120"/>
              </a:rPr>
              <a:t>REAL IMPACT</a:t>
            </a:r>
            <a:endParaRPr lang="en-US" sz="1600" dirty="0"/>
          </a:p>
        </p:txBody>
      </p:sp>
      <p:sp>
        <p:nvSpPr>
          <p:cNvPr id="11" name="Shape 9"/>
          <p:cNvSpPr/>
          <p:nvPr/>
        </p:nvSpPr>
        <p:spPr>
          <a:xfrm>
            <a:off x="566928" y="3364992"/>
            <a:ext cx="3246120" cy="960120"/>
          </a:xfrm>
          <a:prstGeom prst="rect">
            <a:avLst/>
          </a:prstGeom>
          <a:solidFill>
            <a:srgbClr val="111111"/>
          </a:solidFill>
          <a:ln w="22225">
            <a:solidFill>
              <a:srgbClr val="111111"/>
            </a:solidFill>
            <a:prstDash val="solid"/>
          </a:ln>
        </p:spPr>
        <p:txBody>
          <a:bodyPr/>
          <a:lstStyle/>
          <a:p>
            <a:endParaRPr lang="en-US"/>
          </a:p>
        </p:txBody>
      </p:sp>
      <p:sp>
        <p:nvSpPr>
          <p:cNvPr id="12" name="Text 10"/>
          <p:cNvSpPr/>
          <p:nvPr/>
        </p:nvSpPr>
        <p:spPr>
          <a:xfrm>
            <a:off x="566928" y="3364992"/>
            <a:ext cx="3246120" cy="960120"/>
          </a:xfrm>
          <a:prstGeom prst="rect">
            <a:avLst/>
          </a:prstGeom>
          <a:noFill/>
          <a:ln/>
        </p:spPr>
        <p:txBody>
          <a:bodyPr wrap="square" lIns="508" tIns="508" rIns="508" bIns="508" rtlCol="0" anchor="ctr"/>
          <a:lstStyle/>
          <a:p>
            <a:pPr marL="0" indent="0" algn="ctr">
              <a:buNone/>
            </a:pPr>
            <a:r>
              <a:rPr lang="en-US" sz="1600" b="1" dirty="0">
                <a:solidFill>
                  <a:srgbClr val="F2EFE9"/>
                </a:solidFill>
                <a:latin typeface="Arial" pitchFamily="34" charset="0"/>
                <a:ea typeface="Arial" pitchFamily="34" charset="-122"/>
                <a:cs typeface="Arial" pitchFamily="34" charset="-120"/>
              </a:rPr>
              <a:t>NO FILLER</a:t>
            </a:r>
            <a:endParaRPr lang="en-US" sz="1600" dirty="0"/>
          </a:p>
        </p:txBody>
      </p:sp>
      <p:sp>
        <p:nvSpPr>
          <p:cNvPr id="13" name="Shape 11"/>
          <p:cNvSpPr/>
          <p:nvPr/>
        </p:nvSpPr>
        <p:spPr>
          <a:xfrm>
            <a:off x="4133088" y="3364992"/>
            <a:ext cx="3246120" cy="960120"/>
          </a:xfrm>
          <a:prstGeom prst="rect">
            <a:avLst/>
          </a:prstGeom>
          <a:solidFill>
            <a:srgbClr val="E1462C"/>
          </a:solidFill>
          <a:ln w="22225">
            <a:solidFill>
              <a:srgbClr val="111111"/>
            </a:solidFill>
            <a:prstDash val="solid"/>
          </a:ln>
        </p:spPr>
        <p:txBody>
          <a:bodyPr/>
          <a:lstStyle/>
          <a:p>
            <a:endParaRPr lang="en-US"/>
          </a:p>
        </p:txBody>
      </p:sp>
      <p:sp>
        <p:nvSpPr>
          <p:cNvPr id="14" name="Text 12"/>
          <p:cNvSpPr/>
          <p:nvPr/>
        </p:nvSpPr>
        <p:spPr>
          <a:xfrm>
            <a:off x="4133088" y="3364992"/>
            <a:ext cx="3246120" cy="960120"/>
          </a:xfrm>
          <a:prstGeom prst="rect">
            <a:avLst/>
          </a:prstGeom>
          <a:noFill/>
          <a:ln/>
        </p:spPr>
        <p:txBody>
          <a:bodyPr wrap="square" lIns="508" tIns="508" rIns="508" bIns="508" rtlCol="0" anchor="ctr"/>
          <a:lstStyle/>
          <a:p>
            <a:pPr marL="0" indent="0" algn="ctr">
              <a:buNone/>
            </a:pPr>
            <a:r>
              <a:rPr lang="en-US" sz="1600" b="1" dirty="0">
                <a:solidFill>
                  <a:srgbClr val="F2EFE9"/>
                </a:solidFill>
                <a:latin typeface="Arial" pitchFamily="34" charset="0"/>
                <a:ea typeface="Arial" pitchFamily="34" charset="-122"/>
                <a:cs typeface="Arial" pitchFamily="34" charset="-120"/>
              </a:rPr>
              <a:t>SUMMARY</a:t>
            </a:r>
            <a:endParaRPr lang="en-US" sz="1600" dirty="0"/>
          </a:p>
        </p:txBody>
      </p:sp>
      <p:sp>
        <p:nvSpPr>
          <p:cNvPr id="15" name="Shape 13"/>
          <p:cNvSpPr/>
          <p:nvPr/>
        </p:nvSpPr>
        <p:spPr>
          <a:xfrm>
            <a:off x="7699248" y="3364992"/>
            <a:ext cx="3246120" cy="960120"/>
          </a:xfrm>
          <a:prstGeom prst="rect">
            <a:avLst/>
          </a:prstGeom>
          <a:solidFill>
            <a:srgbClr val="111111"/>
          </a:solidFill>
          <a:ln w="22225">
            <a:solidFill>
              <a:srgbClr val="111111"/>
            </a:solidFill>
            <a:prstDash val="solid"/>
          </a:ln>
        </p:spPr>
        <p:txBody>
          <a:bodyPr/>
          <a:lstStyle/>
          <a:p>
            <a:endParaRPr lang="en-US"/>
          </a:p>
        </p:txBody>
      </p:sp>
      <p:sp>
        <p:nvSpPr>
          <p:cNvPr id="16" name="Text 14"/>
          <p:cNvSpPr/>
          <p:nvPr/>
        </p:nvSpPr>
        <p:spPr>
          <a:xfrm>
            <a:off x="7699248" y="3364992"/>
            <a:ext cx="3246120" cy="960120"/>
          </a:xfrm>
          <a:prstGeom prst="rect">
            <a:avLst/>
          </a:prstGeom>
          <a:noFill/>
          <a:ln/>
        </p:spPr>
        <p:txBody>
          <a:bodyPr wrap="square" lIns="508" tIns="508" rIns="508" bIns="508" rtlCol="0" anchor="ctr"/>
          <a:lstStyle/>
          <a:p>
            <a:pPr marL="0" indent="0" algn="ctr">
              <a:buNone/>
            </a:pPr>
            <a:r>
              <a:rPr lang="en-US" sz="1600" b="1" dirty="0">
                <a:solidFill>
                  <a:srgbClr val="F2EFE9"/>
                </a:solidFill>
                <a:latin typeface="Arial" pitchFamily="34" charset="0"/>
                <a:ea typeface="Arial" pitchFamily="34" charset="-122"/>
                <a:cs typeface="Arial" pitchFamily="34" charset="-120"/>
              </a:rPr>
              <a:t>RIGHT TENSE</a:t>
            </a:r>
            <a:endParaRPr lang="en-US" sz="1600" dirty="0"/>
          </a:p>
        </p:txBody>
      </p:sp>
      <p:sp>
        <p:nvSpPr>
          <p:cNvPr id="17" name="Shape 15"/>
          <p:cNvSpPr/>
          <p:nvPr/>
        </p:nvSpPr>
        <p:spPr>
          <a:xfrm>
            <a:off x="566928" y="4581144"/>
            <a:ext cx="3246120" cy="960120"/>
          </a:xfrm>
          <a:prstGeom prst="rect">
            <a:avLst/>
          </a:prstGeom>
          <a:solidFill>
            <a:srgbClr val="111111"/>
          </a:solidFill>
          <a:ln w="22225">
            <a:solidFill>
              <a:srgbClr val="111111"/>
            </a:solidFill>
            <a:prstDash val="solid"/>
          </a:ln>
        </p:spPr>
        <p:txBody>
          <a:bodyPr/>
          <a:lstStyle/>
          <a:p>
            <a:endParaRPr lang="en-US"/>
          </a:p>
        </p:txBody>
      </p:sp>
      <p:sp>
        <p:nvSpPr>
          <p:cNvPr id="18" name="Text 16"/>
          <p:cNvSpPr/>
          <p:nvPr/>
        </p:nvSpPr>
        <p:spPr>
          <a:xfrm>
            <a:off x="566928" y="4581144"/>
            <a:ext cx="3246120" cy="960120"/>
          </a:xfrm>
          <a:prstGeom prst="rect">
            <a:avLst/>
          </a:prstGeom>
          <a:noFill/>
          <a:ln/>
        </p:spPr>
        <p:txBody>
          <a:bodyPr wrap="square" lIns="508" tIns="508" rIns="508" bIns="508" rtlCol="0" anchor="ctr"/>
          <a:lstStyle/>
          <a:p>
            <a:pPr marL="0" indent="0" algn="ctr">
              <a:buNone/>
            </a:pPr>
            <a:r>
              <a:rPr lang="en-US" sz="1600" b="1" dirty="0">
                <a:solidFill>
                  <a:srgbClr val="F2EFE9"/>
                </a:solidFill>
                <a:latin typeface="Arial" pitchFamily="34" charset="0"/>
                <a:ea typeface="Arial" pitchFamily="34" charset="-122"/>
                <a:cs typeface="Arial" pitchFamily="34" charset="-120"/>
              </a:rPr>
              <a:t>RELEVANCE</a:t>
            </a:r>
            <a:endParaRPr lang="en-US" sz="1600" dirty="0"/>
          </a:p>
        </p:txBody>
      </p:sp>
      <p:sp>
        <p:nvSpPr>
          <p:cNvPr id="19" name="Shape 17"/>
          <p:cNvSpPr/>
          <p:nvPr/>
        </p:nvSpPr>
        <p:spPr>
          <a:xfrm>
            <a:off x="4133088" y="4581144"/>
            <a:ext cx="3246120" cy="960120"/>
          </a:xfrm>
          <a:prstGeom prst="rect">
            <a:avLst/>
          </a:prstGeom>
          <a:solidFill>
            <a:srgbClr val="111111"/>
          </a:solidFill>
          <a:ln w="22225">
            <a:solidFill>
              <a:srgbClr val="111111"/>
            </a:solidFill>
            <a:prstDash val="solid"/>
          </a:ln>
        </p:spPr>
        <p:txBody>
          <a:bodyPr/>
          <a:lstStyle/>
          <a:p>
            <a:endParaRPr lang="en-US"/>
          </a:p>
        </p:txBody>
      </p:sp>
      <p:sp>
        <p:nvSpPr>
          <p:cNvPr id="20" name="Text 18"/>
          <p:cNvSpPr/>
          <p:nvPr/>
        </p:nvSpPr>
        <p:spPr>
          <a:xfrm>
            <a:off x="4133088" y="4581144"/>
            <a:ext cx="3246120" cy="960120"/>
          </a:xfrm>
          <a:prstGeom prst="rect">
            <a:avLst/>
          </a:prstGeom>
          <a:noFill/>
          <a:ln/>
        </p:spPr>
        <p:txBody>
          <a:bodyPr wrap="square" lIns="508" tIns="508" rIns="508" bIns="508" rtlCol="0" anchor="ctr"/>
          <a:lstStyle/>
          <a:p>
            <a:pPr marL="0" indent="0" algn="ctr">
              <a:buNone/>
            </a:pPr>
            <a:r>
              <a:rPr lang="en-US" sz="1600" b="1" dirty="0">
                <a:solidFill>
                  <a:srgbClr val="F2EFE9"/>
                </a:solidFill>
                <a:latin typeface="Arial" pitchFamily="34" charset="0"/>
                <a:ea typeface="Arial" pitchFamily="34" charset="-122"/>
                <a:cs typeface="Arial" pitchFamily="34" charset="-120"/>
              </a:rPr>
              <a:t>ALL TRUE</a:t>
            </a:r>
            <a:endParaRPr lang="en-US" sz="1600" dirty="0"/>
          </a:p>
        </p:txBody>
      </p:sp>
      <p:sp>
        <p:nvSpPr>
          <p:cNvPr id="21" name="Shape 19"/>
          <p:cNvSpPr/>
          <p:nvPr/>
        </p:nvSpPr>
        <p:spPr>
          <a:xfrm>
            <a:off x="7699248" y="4581144"/>
            <a:ext cx="3246120" cy="960120"/>
          </a:xfrm>
          <a:prstGeom prst="rect">
            <a:avLst/>
          </a:prstGeom>
          <a:solidFill>
            <a:srgbClr val="E1462C"/>
          </a:solidFill>
          <a:ln w="22225">
            <a:solidFill>
              <a:srgbClr val="111111"/>
            </a:solidFill>
            <a:prstDash val="solid"/>
          </a:ln>
        </p:spPr>
        <p:txBody>
          <a:bodyPr/>
          <a:lstStyle/>
          <a:p>
            <a:endParaRPr lang="en-US"/>
          </a:p>
        </p:txBody>
      </p:sp>
      <p:sp>
        <p:nvSpPr>
          <p:cNvPr id="22" name="Text 20"/>
          <p:cNvSpPr/>
          <p:nvPr/>
        </p:nvSpPr>
        <p:spPr>
          <a:xfrm>
            <a:off x="7699248" y="4581144"/>
            <a:ext cx="3246120" cy="960120"/>
          </a:xfrm>
          <a:prstGeom prst="rect">
            <a:avLst/>
          </a:prstGeom>
          <a:noFill/>
          <a:ln/>
        </p:spPr>
        <p:txBody>
          <a:bodyPr wrap="square" lIns="508" tIns="508" rIns="508" bIns="508" rtlCol="0" anchor="ctr"/>
          <a:lstStyle/>
          <a:p>
            <a:pPr marL="0" indent="0" algn="ctr">
              <a:buNone/>
            </a:pPr>
            <a:r>
              <a:rPr lang="en-US" sz="1600" b="1" dirty="0">
                <a:solidFill>
                  <a:srgbClr val="F2EFE9"/>
                </a:solidFill>
                <a:latin typeface="Arial" pitchFamily="34" charset="0"/>
                <a:ea typeface="Arial" pitchFamily="34" charset="-122"/>
                <a:cs typeface="Arial" pitchFamily="34" charset="-120"/>
              </a:rPr>
              <a:t>ATS FORMAT</a:t>
            </a:r>
            <a:endParaRPr lang="en-US" sz="1600" dirty="0"/>
          </a:p>
        </p:txBody>
      </p:sp>
      <p:sp>
        <p:nvSpPr>
          <p:cNvPr id="23" name="Text 21"/>
          <p:cNvSpPr/>
          <p:nvPr/>
        </p:nvSpPr>
        <p:spPr>
          <a:xfrm>
            <a:off x="566928" y="5806440"/>
            <a:ext cx="6949440" cy="548640"/>
          </a:xfrm>
          <a:prstGeom prst="rect">
            <a:avLst/>
          </a:prstGeom>
          <a:noFill/>
          <a:ln/>
        </p:spPr>
        <p:txBody>
          <a:bodyPr wrap="square" lIns="0" tIns="0" rIns="0" bIns="0" rtlCol="0" anchor="ctr"/>
          <a:lstStyle/>
          <a:p>
            <a:pPr marL="0" indent="0">
              <a:buNone/>
            </a:pPr>
            <a:r>
              <a:rPr lang="en-US" sz="2200" b="1" dirty="0">
                <a:solidFill>
                  <a:srgbClr val="E1462C"/>
                </a:solidFill>
                <a:latin typeface="Arial" pitchFamily="34" charset="0"/>
                <a:ea typeface="Arial" pitchFamily="34" charset="-122"/>
                <a:cs typeface="Arial" pitchFamily="34" charset="-120"/>
              </a:rPr>
              <a:t>The AI can only fix what you thought to check.</a:t>
            </a:r>
            <a:endParaRPr lang="en-US" sz="2200" dirty="0"/>
          </a:p>
        </p:txBody>
      </p:sp>
      <p:sp>
        <p:nvSpPr>
          <p:cNvPr id="24" name="Text 22"/>
          <p:cNvSpPr/>
          <p:nvPr/>
        </p:nvSpPr>
        <p:spPr>
          <a:xfrm>
            <a:off x="7315200" y="5943600"/>
            <a:ext cx="4343400" cy="274320"/>
          </a:xfrm>
          <a:prstGeom prst="rect">
            <a:avLst/>
          </a:prstGeom>
          <a:noFill/>
          <a:ln/>
        </p:spPr>
        <p:txBody>
          <a:bodyPr wrap="square" lIns="0" tIns="0" rIns="0" bIns="0" rtlCol="0" anchor="ctr"/>
          <a:lstStyle/>
          <a:p>
            <a:pPr marL="0" indent="0" algn="r">
              <a:buNone/>
            </a:pPr>
            <a:r>
              <a:rPr lang="en-US" sz="1050" b="1" dirty="0">
                <a:solidFill>
                  <a:srgbClr val="111111"/>
                </a:solidFill>
                <a:latin typeface="Courier New" pitchFamily="34" charset="0"/>
                <a:ea typeface="Courier New" pitchFamily="34" charset="-122"/>
                <a:cs typeface="Courier New" pitchFamily="34" charset="-120"/>
              </a:rPr>
              <a:t>YOUR TURN: WRITE 5 CHECKS FOR A TASK YOU DO</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2EFE9"/>
        </a:solidFill>
        <a:effectLst/>
      </p:bgPr>
    </p:bg>
    <p:spTree>
      <p:nvGrpSpPr>
        <p:cNvPr id="1" name=""/>
        <p:cNvGrpSpPr/>
        <p:nvPr/>
      </p:nvGrpSpPr>
      <p:grpSpPr>
        <a:xfrm>
          <a:off x="0" y="0"/>
          <a:ext cx="0" cy="0"/>
          <a:chOff x="0" y="0"/>
          <a:chExt cx="0" cy="0"/>
        </a:xfrm>
      </p:grpSpPr>
      <p:sp>
        <p:nvSpPr>
          <p:cNvPr id="2" name="Text 0"/>
          <p:cNvSpPr/>
          <p:nvPr/>
        </p:nvSpPr>
        <p:spPr>
          <a:xfrm>
            <a:off x="11430000" y="182880"/>
            <a:ext cx="594360" cy="274320"/>
          </a:xfrm>
          <a:prstGeom prst="rect">
            <a:avLst/>
          </a:prstGeom>
          <a:noFill/>
          <a:ln/>
        </p:spPr>
        <p:txBody>
          <a:bodyPr wrap="square" lIns="0" tIns="0" rIns="0" bIns="0" rtlCol="0" anchor="ctr"/>
          <a:lstStyle/>
          <a:p>
            <a:pPr marL="0" indent="0" algn="r">
              <a:buNone/>
            </a:pPr>
            <a:r>
              <a:rPr lang="en-US" sz="1000" dirty="0">
                <a:solidFill>
                  <a:srgbClr val="111111"/>
                </a:solidFill>
                <a:latin typeface="Courier New" pitchFamily="34" charset="0"/>
                <a:ea typeface="Courier New" pitchFamily="34" charset="-122"/>
                <a:cs typeface="Courier New" pitchFamily="34" charset="-120"/>
              </a:rPr>
              <a:t>17</a:t>
            </a:r>
            <a:endParaRPr lang="en-US" sz="1000" dirty="0"/>
          </a:p>
        </p:txBody>
      </p:sp>
      <p:sp>
        <p:nvSpPr>
          <p:cNvPr id="3" name="Text 1"/>
          <p:cNvSpPr/>
          <p:nvPr/>
        </p:nvSpPr>
        <p:spPr>
          <a:xfrm>
            <a:off x="548640" y="548640"/>
            <a:ext cx="10515600" cy="1051560"/>
          </a:xfrm>
          <a:prstGeom prst="rect">
            <a:avLst/>
          </a:prstGeom>
          <a:noFill/>
          <a:ln/>
        </p:spPr>
        <p:txBody>
          <a:bodyPr wrap="square" lIns="0" tIns="0" rIns="0" bIns="0" rtlCol="0" anchor="t"/>
          <a:lstStyle/>
          <a:p>
            <a:pPr marL="0" indent="0">
              <a:buNone/>
            </a:pPr>
            <a:r>
              <a:rPr lang="en-US" sz="4400" b="1" dirty="0">
                <a:solidFill>
                  <a:srgbClr val="111111"/>
                </a:solidFill>
                <a:latin typeface="Arial" pitchFamily="34" charset="0"/>
                <a:ea typeface="Arial" pitchFamily="34" charset="-122"/>
                <a:cs typeface="Arial" pitchFamily="34" charset="-120"/>
              </a:rPr>
              <a:t>THREE WAYS TO GET IT WRONG</a:t>
            </a:r>
            <a:endParaRPr lang="en-US" sz="4400" dirty="0"/>
          </a:p>
        </p:txBody>
      </p:sp>
      <p:sp>
        <p:nvSpPr>
          <p:cNvPr id="4" name="Shape 2"/>
          <p:cNvSpPr/>
          <p:nvPr/>
        </p:nvSpPr>
        <p:spPr>
          <a:xfrm>
            <a:off x="566928" y="1828800"/>
            <a:ext cx="3200400" cy="1097280"/>
          </a:xfrm>
          <a:prstGeom prst="rect">
            <a:avLst/>
          </a:prstGeom>
          <a:solidFill>
            <a:srgbClr val="E1462C"/>
          </a:solidFill>
          <a:ln w="22225">
            <a:solidFill>
              <a:srgbClr val="111111"/>
            </a:solidFill>
            <a:prstDash val="solid"/>
          </a:ln>
        </p:spPr>
        <p:txBody>
          <a:bodyPr/>
          <a:lstStyle/>
          <a:p>
            <a:endParaRPr lang="en-US"/>
          </a:p>
        </p:txBody>
      </p:sp>
      <p:sp>
        <p:nvSpPr>
          <p:cNvPr id="5" name="Text 3"/>
          <p:cNvSpPr/>
          <p:nvPr/>
        </p:nvSpPr>
        <p:spPr>
          <a:xfrm>
            <a:off x="566928" y="1828800"/>
            <a:ext cx="3200400" cy="1097280"/>
          </a:xfrm>
          <a:prstGeom prst="rect">
            <a:avLst/>
          </a:prstGeom>
          <a:noFill/>
          <a:ln/>
        </p:spPr>
        <p:txBody>
          <a:bodyPr wrap="square" lIns="508" tIns="508" rIns="508" bIns="508" rtlCol="0" anchor="ctr"/>
          <a:lstStyle/>
          <a:p>
            <a:pPr marL="0" indent="0" algn="ctr">
              <a:buNone/>
            </a:pPr>
            <a:r>
              <a:rPr lang="en-US" sz="1900" b="1" dirty="0">
                <a:solidFill>
                  <a:srgbClr val="F2EFE9"/>
                </a:solidFill>
                <a:latin typeface="Arial" pitchFamily="34" charset="0"/>
                <a:ea typeface="Arial" pitchFamily="34" charset="-122"/>
                <a:cs typeface="Arial" pitchFamily="34" charset="-120"/>
              </a:rPr>
              <a:t>NO CHECKER</a:t>
            </a:r>
            <a:endParaRPr lang="en-US" sz="1900" dirty="0"/>
          </a:p>
        </p:txBody>
      </p:sp>
      <p:sp>
        <p:nvSpPr>
          <p:cNvPr id="6" name="Text 4"/>
          <p:cNvSpPr/>
          <p:nvPr/>
        </p:nvSpPr>
        <p:spPr>
          <a:xfrm>
            <a:off x="4023360" y="1883664"/>
            <a:ext cx="7589520" cy="457200"/>
          </a:xfrm>
          <a:prstGeom prst="rect">
            <a:avLst/>
          </a:prstGeom>
          <a:noFill/>
          <a:ln/>
        </p:spPr>
        <p:txBody>
          <a:bodyPr wrap="square" lIns="0" tIns="0" rIns="0" bIns="0" rtlCol="0" anchor="ctr"/>
          <a:lstStyle/>
          <a:p>
            <a:pPr marL="0" indent="0">
              <a:buNone/>
            </a:pPr>
            <a:r>
              <a:rPr lang="en-US" sz="1900" b="1" dirty="0">
                <a:solidFill>
                  <a:srgbClr val="111111"/>
                </a:solidFill>
                <a:latin typeface="Arial" pitchFamily="34" charset="0"/>
                <a:ea typeface="Arial" pitchFamily="34" charset="-122"/>
                <a:cs typeface="Arial" pitchFamily="34" charset="-120"/>
              </a:rPr>
              <a:t>You let the same AI grade its own work.</a:t>
            </a:r>
            <a:endParaRPr lang="en-US" sz="1900" dirty="0"/>
          </a:p>
        </p:txBody>
      </p:sp>
      <p:sp>
        <p:nvSpPr>
          <p:cNvPr id="7" name="Text 5"/>
          <p:cNvSpPr/>
          <p:nvPr/>
        </p:nvSpPr>
        <p:spPr>
          <a:xfrm>
            <a:off x="4023360" y="2377440"/>
            <a:ext cx="7589520" cy="548640"/>
          </a:xfrm>
          <a:prstGeom prst="rect">
            <a:avLst/>
          </a:prstGeom>
          <a:noFill/>
          <a:ln/>
        </p:spPr>
        <p:txBody>
          <a:bodyPr wrap="square" lIns="0" tIns="0" rIns="0" bIns="0" rtlCol="0" anchor="ctr"/>
          <a:lstStyle/>
          <a:p>
            <a:pPr marL="0" indent="0">
              <a:buNone/>
            </a:pPr>
            <a:r>
              <a:rPr lang="en-US" sz="1700" dirty="0">
                <a:solidFill>
                  <a:srgbClr val="111111"/>
                </a:solidFill>
                <a:latin typeface="Arial" pitchFamily="34" charset="0"/>
                <a:ea typeface="Arial" pitchFamily="34" charset="-122"/>
                <a:cs typeface="Arial" pitchFamily="34" charset="-120"/>
              </a:rPr>
              <a:t>It passes itself every single time.</a:t>
            </a:r>
            <a:endParaRPr lang="en-US" sz="1700" dirty="0"/>
          </a:p>
        </p:txBody>
      </p:sp>
      <p:sp>
        <p:nvSpPr>
          <p:cNvPr id="8" name="Shape 6"/>
          <p:cNvSpPr/>
          <p:nvPr/>
        </p:nvSpPr>
        <p:spPr>
          <a:xfrm>
            <a:off x="566928" y="3246120"/>
            <a:ext cx="3200400" cy="1097280"/>
          </a:xfrm>
          <a:prstGeom prst="rect">
            <a:avLst/>
          </a:prstGeom>
          <a:solidFill>
            <a:srgbClr val="E1462C"/>
          </a:solidFill>
          <a:ln w="22225">
            <a:solidFill>
              <a:srgbClr val="111111"/>
            </a:solidFill>
            <a:prstDash val="solid"/>
          </a:ln>
        </p:spPr>
        <p:txBody>
          <a:bodyPr/>
          <a:lstStyle/>
          <a:p>
            <a:endParaRPr lang="en-US"/>
          </a:p>
        </p:txBody>
      </p:sp>
      <p:sp>
        <p:nvSpPr>
          <p:cNvPr id="9" name="Text 7"/>
          <p:cNvSpPr/>
          <p:nvPr/>
        </p:nvSpPr>
        <p:spPr>
          <a:xfrm>
            <a:off x="566928" y="3246120"/>
            <a:ext cx="3200400" cy="1097280"/>
          </a:xfrm>
          <a:prstGeom prst="rect">
            <a:avLst/>
          </a:prstGeom>
          <a:noFill/>
          <a:ln/>
        </p:spPr>
        <p:txBody>
          <a:bodyPr wrap="square" lIns="508" tIns="508" rIns="508" bIns="508" rtlCol="0" anchor="ctr"/>
          <a:lstStyle/>
          <a:p>
            <a:pPr marL="0" indent="0" algn="ctr">
              <a:buNone/>
            </a:pPr>
            <a:r>
              <a:rPr lang="en-US" sz="1900" b="1" dirty="0">
                <a:solidFill>
                  <a:srgbClr val="F2EFE9"/>
                </a:solidFill>
                <a:latin typeface="Arial" pitchFamily="34" charset="0"/>
                <a:ea typeface="Arial" pitchFamily="34" charset="-122"/>
                <a:cs typeface="Arial" pitchFamily="34" charset="-120"/>
              </a:rPr>
              <a:t>NO STOP RULE</a:t>
            </a:r>
            <a:endParaRPr lang="en-US" sz="1900" dirty="0"/>
          </a:p>
        </p:txBody>
      </p:sp>
      <p:sp>
        <p:nvSpPr>
          <p:cNvPr id="10" name="Text 8"/>
          <p:cNvSpPr/>
          <p:nvPr/>
        </p:nvSpPr>
        <p:spPr>
          <a:xfrm>
            <a:off x="4023360" y="3300984"/>
            <a:ext cx="7589520" cy="457200"/>
          </a:xfrm>
          <a:prstGeom prst="rect">
            <a:avLst/>
          </a:prstGeom>
          <a:noFill/>
          <a:ln/>
        </p:spPr>
        <p:txBody>
          <a:bodyPr wrap="square" lIns="0" tIns="0" rIns="0" bIns="0" rtlCol="0" anchor="ctr"/>
          <a:lstStyle/>
          <a:p>
            <a:pPr marL="0" indent="0">
              <a:buNone/>
            </a:pPr>
            <a:r>
              <a:rPr lang="en-US" sz="1900" b="1" dirty="0">
                <a:solidFill>
                  <a:srgbClr val="111111"/>
                </a:solidFill>
                <a:latin typeface="Arial" pitchFamily="34" charset="0"/>
                <a:ea typeface="Arial" pitchFamily="34" charset="-122"/>
                <a:cs typeface="Arial" pitchFamily="34" charset="-120"/>
              </a:rPr>
              <a:t>You never said how many laps are allowed.</a:t>
            </a:r>
            <a:endParaRPr lang="en-US" sz="1900" dirty="0"/>
          </a:p>
        </p:txBody>
      </p:sp>
      <p:sp>
        <p:nvSpPr>
          <p:cNvPr id="11" name="Text 9"/>
          <p:cNvSpPr/>
          <p:nvPr/>
        </p:nvSpPr>
        <p:spPr>
          <a:xfrm>
            <a:off x="4023360" y="3794760"/>
            <a:ext cx="7589520" cy="548640"/>
          </a:xfrm>
          <a:prstGeom prst="rect">
            <a:avLst/>
          </a:prstGeom>
          <a:noFill/>
          <a:ln/>
        </p:spPr>
        <p:txBody>
          <a:bodyPr wrap="square" lIns="0" tIns="0" rIns="0" bIns="0" rtlCol="0" anchor="ctr"/>
          <a:lstStyle/>
          <a:p>
            <a:pPr marL="0" indent="0">
              <a:buNone/>
            </a:pPr>
            <a:r>
              <a:rPr lang="en-US" sz="1700" dirty="0">
                <a:solidFill>
                  <a:srgbClr val="111111"/>
                </a:solidFill>
                <a:latin typeface="Arial" pitchFamily="34" charset="0"/>
                <a:ea typeface="Arial" pitchFamily="34" charset="-122"/>
                <a:cs typeface="Arial" pitchFamily="34" charset="-120"/>
              </a:rPr>
              <a:t>It runs until your credit card notices.</a:t>
            </a:r>
            <a:endParaRPr lang="en-US" sz="1700" dirty="0"/>
          </a:p>
        </p:txBody>
      </p:sp>
      <p:sp>
        <p:nvSpPr>
          <p:cNvPr id="12" name="Shape 10"/>
          <p:cNvSpPr/>
          <p:nvPr/>
        </p:nvSpPr>
        <p:spPr>
          <a:xfrm>
            <a:off x="566928" y="4663440"/>
            <a:ext cx="3200400" cy="1097280"/>
          </a:xfrm>
          <a:prstGeom prst="rect">
            <a:avLst/>
          </a:prstGeom>
          <a:solidFill>
            <a:srgbClr val="E1462C"/>
          </a:solidFill>
          <a:ln w="22225">
            <a:solidFill>
              <a:srgbClr val="111111"/>
            </a:solidFill>
            <a:prstDash val="solid"/>
          </a:ln>
        </p:spPr>
        <p:txBody>
          <a:bodyPr/>
          <a:lstStyle/>
          <a:p>
            <a:endParaRPr lang="en-US"/>
          </a:p>
        </p:txBody>
      </p:sp>
      <p:sp>
        <p:nvSpPr>
          <p:cNvPr id="13" name="Text 11"/>
          <p:cNvSpPr/>
          <p:nvPr/>
        </p:nvSpPr>
        <p:spPr>
          <a:xfrm>
            <a:off x="566928" y="4663440"/>
            <a:ext cx="3200400" cy="1097280"/>
          </a:xfrm>
          <a:prstGeom prst="rect">
            <a:avLst/>
          </a:prstGeom>
          <a:noFill/>
          <a:ln/>
        </p:spPr>
        <p:txBody>
          <a:bodyPr wrap="square" lIns="508" tIns="508" rIns="508" bIns="508" rtlCol="0" anchor="ctr"/>
          <a:lstStyle/>
          <a:p>
            <a:pPr marL="0" indent="0" algn="ctr">
              <a:buNone/>
            </a:pPr>
            <a:r>
              <a:rPr lang="en-US" sz="1900" b="1" dirty="0">
                <a:solidFill>
                  <a:srgbClr val="F2EFE9"/>
                </a:solidFill>
                <a:latin typeface="Arial" pitchFamily="34" charset="0"/>
                <a:ea typeface="Arial" pitchFamily="34" charset="-122"/>
                <a:cs typeface="Arial" pitchFamily="34" charset="-120"/>
              </a:rPr>
              <a:t>VAGUE CHECKS</a:t>
            </a:r>
            <a:endParaRPr lang="en-US" sz="1900" dirty="0"/>
          </a:p>
        </p:txBody>
      </p:sp>
      <p:sp>
        <p:nvSpPr>
          <p:cNvPr id="14" name="Text 12"/>
          <p:cNvSpPr/>
          <p:nvPr/>
        </p:nvSpPr>
        <p:spPr>
          <a:xfrm>
            <a:off x="4023360" y="4718304"/>
            <a:ext cx="7589520" cy="457200"/>
          </a:xfrm>
          <a:prstGeom prst="rect">
            <a:avLst/>
          </a:prstGeom>
          <a:noFill/>
          <a:ln/>
        </p:spPr>
        <p:txBody>
          <a:bodyPr wrap="square" lIns="0" tIns="0" rIns="0" bIns="0" rtlCol="0" anchor="ctr"/>
          <a:lstStyle/>
          <a:p>
            <a:pPr marL="0" indent="0">
              <a:buNone/>
            </a:pPr>
            <a:r>
              <a:rPr lang="en-US" sz="1900" b="1" dirty="0">
                <a:solidFill>
                  <a:srgbClr val="111111"/>
                </a:solidFill>
                <a:latin typeface="Arial" pitchFamily="34" charset="0"/>
                <a:ea typeface="Arial" pitchFamily="34" charset="-122"/>
                <a:cs typeface="Arial" pitchFamily="34" charset="-120"/>
              </a:rPr>
              <a:t>Your check says "make it better."</a:t>
            </a:r>
            <a:endParaRPr lang="en-US" sz="1900" dirty="0"/>
          </a:p>
        </p:txBody>
      </p:sp>
      <p:sp>
        <p:nvSpPr>
          <p:cNvPr id="15" name="Text 13"/>
          <p:cNvSpPr/>
          <p:nvPr/>
        </p:nvSpPr>
        <p:spPr>
          <a:xfrm>
            <a:off x="4023360" y="5212080"/>
            <a:ext cx="7589520" cy="548640"/>
          </a:xfrm>
          <a:prstGeom prst="rect">
            <a:avLst/>
          </a:prstGeom>
          <a:noFill/>
          <a:ln/>
        </p:spPr>
        <p:txBody>
          <a:bodyPr wrap="square" lIns="0" tIns="0" rIns="0" bIns="0" rtlCol="0" anchor="ctr"/>
          <a:lstStyle/>
          <a:p>
            <a:pPr marL="0" indent="0">
              <a:buNone/>
            </a:pPr>
            <a:r>
              <a:rPr lang="en-US" sz="1700" dirty="0">
                <a:solidFill>
                  <a:srgbClr val="111111"/>
                </a:solidFill>
                <a:latin typeface="Arial" pitchFamily="34" charset="0"/>
                <a:ea typeface="Arial" pitchFamily="34" charset="-122"/>
                <a:cs typeface="Arial" pitchFamily="34" charset="-120"/>
              </a:rPr>
              <a:t>Better than what? It can never fail, so it never improves.</a:t>
            </a:r>
            <a:endParaRPr lang="en-US" sz="1700" dirty="0"/>
          </a:p>
        </p:txBody>
      </p:sp>
      <p:sp>
        <p:nvSpPr>
          <p:cNvPr id="16" name="Text 14"/>
          <p:cNvSpPr/>
          <p:nvPr/>
        </p:nvSpPr>
        <p:spPr>
          <a:xfrm>
            <a:off x="566928" y="6080760"/>
            <a:ext cx="10972800" cy="457200"/>
          </a:xfrm>
          <a:prstGeom prst="rect">
            <a:avLst/>
          </a:prstGeom>
          <a:noFill/>
          <a:ln/>
        </p:spPr>
        <p:txBody>
          <a:bodyPr wrap="square" lIns="0" tIns="0" rIns="0" bIns="0" rtlCol="0" anchor="ctr"/>
          <a:lstStyle/>
          <a:p>
            <a:pPr marL="0" indent="0">
              <a:buNone/>
            </a:pPr>
            <a:r>
              <a:rPr lang="en-US" sz="1800" b="1" dirty="0">
                <a:solidFill>
                  <a:srgbClr val="E1462C"/>
                </a:solidFill>
                <a:latin typeface="Arial" pitchFamily="34" charset="0"/>
                <a:ea typeface="Arial" pitchFamily="34" charset="-122"/>
                <a:cs typeface="Arial" pitchFamily="34" charset="-120"/>
              </a:rPr>
              <a:t>All three are cheap to fix — if you fix them before you press run.</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2EFE9"/>
        </a:solidFill>
        <a:effectLst/>
      </p:bgPr>
    </p:bg>
    <p:spTree>
      <p:nvGrpSpPr>
        <p:cNvPr id="1" name=""/>
        <p:cNvGrpSpPr/>
        <p:nvPr/>
      </p:nvGrpSpPr>
      <p:grpSpPr>
        <a:xfrm>
          <a:off x="0" y="0"/>
          <a:ext cx="0" cy="0"/>
          <a:chOff x="0" y="0"/>
          <a:chExt cx="0" cy="0"/>
        </a:xfrm>
      </p:grpSpPr>
      <p:sp>
        <p:nvSpPr>
          <p:cNvPr id="2" name="Text 0"/>
          <p:cNvSpPr/>
          <p:nvPr/>
        </p:nvSpPr>
        <p:spPr>
          <a:xfrm>
            <a:off x="11430000" y="182880"/>
            <a:ext cx="594360" cy="274320"/>
          </a:xfrm>
          <a:prstGeom prst="rect">
            <a:avLst/>
          </a:prstGeom>
          <a:noFill/>
          <a:ln/>
        </p:spPr>
        <p:txBody>
          <a:bodyPr wrap="square" lIns="0" tIns="0" rIns="0" bIns="0" rtlCol="0" anchor="ctr"/>
          <a:lstStyle/>
          <a:p>
            <a:pPr marL="0" indent="0" algn="r">
              <a:buNone/>
            </a:pPr>
            <a:r>
              <a:rPr lang="en-US" sz="1000" dirty="0">
                <a:solidFill>
                  <a:srgbClr val="111111"/>
                </a:solidFill>
                <a:latin typeface="Courier New" pitchFamily="34" charset="0"/>
                <a:ea typeface="Courier New" pitchFamily="34" charset="-122"/>
                <a:cs typeface="Courier New" pitchFamily="34" charset="-120"/>
              </a:rPr>
              <a:t>18</a:t>
            </a:r>
            <a:endParaRPr lang="en-US" sz="1000" dirty="0"/>
          </a:p>
        </p:txBody>
      </p:sp>
      <p:sp>
        <p:nvSpPr>
          <p:cNvPr id="3" name="Shape 1"/>
          <p:cNvSpPr/>
          <p:nvPr/>
        </p:nvSpPr>
        <p:spPr>
          <a:xfrm>
            <a:off x="9966960" y="-1828800"/>
            <a:ext cx="4023360" cy="4023360"/>
          </a:xfrm>
          <a:prstGeom prst="ellipse">
            <a:avLst/>
          </a:prstGeom>
          <a:solidFill>
            <a:srgbClr val="F5C518"/>
          </a:solidFill>
          <a:ln w="12700">
            <a:solidFill>
              <a:srgbClr val="F5C518"/>
            </a:solidFill>
            <a:prstDash val="solid"/>
          </a:ln>
        </p:spPr>
        <p:txBody>
          <a:bodyPr/>
          <a:lstStyle/>
          <a:p>
            <a:endParaRPr lang="en-US"/>
          </a:p>
        </p:txBody>
      </p:sp>
      <p:sp>
        <p:nvSpPr>
          <p:cNvPr id="4" name="Text 2"/>
          <p:cNvSpPr/>
          <p:nvPr/>
        </p:nvSpPr>
        <p:spPr>
          <a:xfrm>
            <a:off x="566928" y="1371600"/>
            <a:ext cx="2743200" cy="274320"/>
          </a:xfrm>
          <a:prstGeom prst="rect">
            <a:avLst/>
          </a:prstGeom>
          <a:noFill/>
          <a:ln/>
        </p:spPr>
        <p:txBody>
          <a:bodyPr wrap="square" lIns="0" tIns="0" rIns="0" bIns="0" rtlCol="0" anchor="ctr"/>
          <a:lstStyle/>
          <a:p>
            <a:pPr marL="0" indent="0" algn="l">
              <a:buNone/>
            </a:pPr>
            <a:r>
              <a:rPr lang="en-US" sz="1200" b="1" dirty="0">
                <a:solidFill>
                  <a:srgbClr val="E1462C"/>
                </a:solidFill>
                <a:latin typeface="Courier New" pitchFamily="34" charset="0"/>
                <a:ea typeface="Courier New" pitchFamily="34" charset="-122"/>
                <a:cs typeface="Courier New" pitchFamily="34" charset="-120"/>
              </a:rPr>
              <a:t>LIVE</a:t>
            </a:r>
            <a:endParaRPr lang="en-US" sz="1200" dirty="0"/>
          </a:p>
        </p:txBody>
      </p:sp>
      <p:sp>
        <p:nvSpPr>
          <p:cNvPr id="5" name="Text 3"/>
          <p:cNvSpPr/>
          <p:nvPr/>
        </p:nvSpPr>
        <p:spPr>
          <a:xfrm>
            <a:off x="548640" y="1783080"/>
            <a:ext cx="10058400" cy="1097280"/>
          </a:xfrm>
          <a:prstGeom prst="rect">
            <a:avLst/>
          </a:prstGeom>
          <a:noFill/>
          <a:ln/>
        </p:spPr>
        <p:txBody>
          <a:bodyPr wrap="square" lIns="0" tIns="0" rIns="0" bIns="0" rtlCol="0" anchor="ctr"/>
          <a:lstStyle/>
          <a:p>
            <a:pPr marL="0" indent="0">
              <a:buNone/>
            </a:pPr>
            <a:r>
              <a:rPr lang="en-US" sz="6800" b="1" dirty="0">
                <a:solidFill>
                  <a:srgbClr val="111111"/>
                </a:solidFill>
                <a:latin typeface="Arial" pitchFamily="34" charset="0"/>
                <a:ea typeface="Arial" pitchFamily="34" charset="-122"/>
                <a:cs typeface="Arial" pitchFamily="34" charset="-120"/>
              </a:rPr>
              <a:t>NOW LET'S</a:t>
            </a:r>
            <a:endParaRPr lang="en-US" sz="6800" dirty="0"/>
          </a:p>
        </p:txBody>
      </p:sp>
      <p:sp>
        <p:nvSpPr>
          <p:cNvPr id="6" name="Text 4"/>
          <p:cNvSpPr/>
          <p:nvPr/>
        </p:nvSpPr>
        <p:spPr>
          <a:xfrm>
            <a:off x="548640" y="2834640"/>
            <a:ext cx="11155680" cy="1097280"/>
          </a:xfrm>
          <a:prstGeom prst="rect">
            <a:avLst/>
          </a:prstGeom>
          <a:noFill/>
          <a:ln/>
        </p:spPr>
        <p:txBody>
          <a:bodyPr wrap="square" lIns="0" tIns="0" rIns="0" bIns="0" rtlCol="0" anchor="ctr"/>
          <a:lstStyle/>
          <a:p>
            <a:pPr marL="0" indent="0">
              <a:buNone/>
            </a:pPr>
            <a:r>
              <a:rPr lang="en-US" sz="6800" b="1" dirty="0">
                <a:solidFill>
                  <a:srgbClr val="E1462C"/>
                </a:solidFill>
                <a:latin typeface="Arial" pitchFamily="34" charset="0"/>
                <a:ea typeface="Arial" pitchFamily="34" charset="-122"/>
                <a:cs typeface="Arial" pitchFamily="34" charset="-120"/>
              </a:rPr>
              <a:t>WATCH ONE RUN</a:t>
            </a:r>
            <a:endParaRPr lang="en-US" sz="6800" dirty="0"/>
          </a:p>
        </p:txBody>
      </p:sp>
      <p:sp>
        <p:nvSpPr>
          <p:cNvPr id="7" name="Shape 5"/>
          <p:cNvSpPr/>
          <p:nvPr/>
        </p:nvSpPr>
        <p:spPr>
          <a:xfrm>
            <a:off x="594360" y="4251960"/>
            <a:ext cx="5669280" cy="0"/>
          </a:xfrm>
          <a:prstGeom prst="line">
            <a:avLst/>
          </a:prstGeom>
          <a:noFill/>
          <a:ln w="19050">
            <a:solidFill>
              <a:srgbClr val="111111"/>
            </a:solidFill>
            <a:prstDash val="solid"/>
          </a:ln>
        </p:spPr>
        <p:txBody>
          <a:bodyPr/>
          <a:lstStyle/>
          <a:p>
            <a:endParaRPr lang="en-US"/>
          </a:p>
        </p:txBody>
      </p:sp>
      <p:sp>
        <p:nvSpPr>
          <p:cNvPr id="8" name="Text 6"/>
          <p:cNvSpPr/>
          <p:nvPr/>
        </p:nvSpPr>
        <p:spPr>
          <a:xfrm>
            <a:off x="566928" y="4434840"/>
            <a:ext cx="6400800" cy="502920"/>
          </a:xfrm>
          <a:prstGeom prst="rect">
            <a:avLst/>
          </a:prstGeom>
          <a:noFill/>
          <a:ln/>
        </p:spPr>
        <p:txBody>
          <a:bodyPr wrap="square" lIns="0" tIns="0" rIns="0" bIns="0" rtlCol="0" anchor="ctr"/>
          <a:lstStyle/>
          <a:p>
            <a:pPr marL="0" indent="0">
              <a:buNone/>
            </a:pPr>
            <a:r>
              <a:rPr lang="en-US" sz="2400" b="1" dirty="0">
                <a:solidFill>
                  <a:srgbClr val="111111"/>
                </a:solidFill>
                <a:latin typeface="Courier New" pitchFamily="34" charset="0"/>
                <a:ea typeface="Courier New" pitchFamily="34" charset="-122"/>
                <a:cs typeface="Courier New" pitchFamily="34" charset="-120"/>
              </a:rPr>
              <a:t>resume-loop.vercel.app</a:t>
            </a:r>
            <a:endParaRPr lang="en-US" sz="2400" dirty="0"/>
          </a:p>
        </p:txBody>
      </p:sp>
      <p:sp>
        <p:nvSpPr>
          <p:cNvPr id="9" name="Shape 7"/>
          <p:cNvSpPr/>
          <p:nvPr/>
        </p:nvSpPr>
        <p:spPr>
          <a:xfrm>
            <a:off x="594360" y="5138928"/>
            <a:ext cx="274320" cy="274320"/>
          </a:xfrm>
          <a:prstGeom prst="rect">
            <a:avLst/>
          </a:prstGeom>
          <a:solidFill>
            <a:srgbClr val="111111"/>
          </a:solidFill>
          <a:ln w="19050">
            <a:solidFill>
              <a:srgbClr val="111111"/>
            </a:solidFill>
            <a:prstDash val="solid"/>
          </a:ln>
        </p:spPr>
        <p:txBody>
          <a:bodyPr/>
          <a:lstStyle/>
          <a:p>
            <a:endParaRPr lang="en-US"/>
          </a:p>
        </p:txBody>
      </p:sp>
      <p:sp>
        <p:nvSpPr>
          <p:cNvPr id="10" name="Text 8"/>
          <p:cNvSpPr/>
          <p:nvPr/>
        </p:nvSpPr>
        <p:spPr>
          <a:xfrm>
            <a:off x="594360" y="5138928"/>
            <a:ext cx="274320" cy="274320"/>
          </a:xfrm>
          <a:prstGeom prst="rect">
            <a:avLst/>
          </a:prstGeom>
          <a:noFill/>
          <a:ln/>
        </p:spPr>
        <p:txBody>
          <a:bodyPr wrap="square" lIns="0" tIns="0" rIns="0" bIns="0" rtlCol="0" anchor="ctr"/>
          <a:lstStyle/>
          <a:p>
            <a:pPr marL="0" indent="0" algn="ctr">
              <a:buNone/>
            </a:pPr>
            <a:r>
              <a:rPr lang="en-US" sz="1200" b="1" dirty="0">
                <a:solidFill>
                  <a:srgbClr val="F2EFE9"/>
                </a:solidFill>
                <a:latin typeface="Arial" pitchFamily="34" charset="0"/>
                <a:ea typeface="Arial" pitchFamily="34" charset="-122"/>
                <a:cs typeface="Arial" pitchFamily="34" charset="-120"/>
              </a:rPr>
              <a:t>1</a:t>
            </a:r>
            <a:endParaRPr lang="en-US" sz="1200" dirty="0"/>
          </a:p>
        </p:txBody>
      </p:sp>
      <p:sp>
        <p:nvSpPr>
          <p:cNvPr id="11" name="Text 9"/>
          <p:cNvSpPr/>
          <p:nvPr/>
        </p:nvSpPr>
        <p:spPr>
          <a:xfrm>
            <a:off x="1051560" y="5120640"/>
            <a:ext cx="10424160" cy="365760"/>
          </a:xfrm>
          <a:prstGeom prst="rect">
            <a:avLst/>
          </a:prstGeom>
          <a:noFill/>
          <a:ln/>
        </p:spPr>
        <p:txBody>
          <a:bodyPr wrap="square" lIns="0" tIns="0" rIns="0" bIns="0" rtlCol="0" anchor="ctr"/>
          <a:lstStyle/>
          <a:p>
            <a:pPr marL="0" indent="0">
              <a:buNone/>
            </a:pPr>
            <a:r>
              <a:rPr lang="en-US" sz="1700" dirty="0">
                <a:solidFill>
                  <a:srgbClr val="111111"/>
                </a:solidFill>
                <a:latin typeface="Arial" pitchFamily="34" charset="0"/>
                <a:ea typeface="Arial" pitchFamily="34" charset="-122"/>
                <a:cs typeface="Arial" pitchFamily="34" charset="-120"/>
              </a:rPr>
              <a:t>Run it with max laps set to 1. Score comes back around 58.</a:t>
            </a:r>
            <a:endParaRPr lang="en-US" sz="1700" dirty="0"/>
          </a:p>
        </p:txBody>
      </p:sp>
      <p:sp>
        <p:nvSpPr>
          <p:cNvPr id="12" name="Shape 10"/>
          <p:cNvSpPr/>
          <p:nvPr/>
        </p:nvSpPr>
        <p:spPr>
          <a:xfrm>
            <a:off x="594360" y="5596128"/>
            <a:ext cx="274320" cy="274320"/>
          </a:xfrm>
          <a:prstGeom prst="rect">
            <a:avLst/>
          </a:prstGeom>
          <a:solidFill>
            <a:srgbClr val="111111"/>
          </a:solidFill>
          <a:ln w="19050">
            <a:solidFill>
              <a:srgbClr val="111111"/>
            </a:solidFill>
            <a:prstDash val="solid"/>
          </a:ln>
        </p:spPr>
        <p:txBody>
          <a:bodyPr/>
          <a:lstStyle/>
          <a:p>
            <a:endParaRPr lang="en-US"/>
          </a:p>
        </p:txBody>
      </p:sp>
      <p:sp>
        <p:nvSpPr>
          <p:cNvPr id="13" name="Text 11"/>
          <p:cNvSpPr/>
          <p:nvPr/>
        </p:nvSpPr>
        <p:spPr>
          <a:xfrm>
            <a:off x="594360" y="5596128"/>
            <a:ext cx="274320" cy="274320"/>
          </a:xfrm>
          <a:prstGeom prst="rect">
            <a:avLst/>
          </a:prstGeom>
          <a:noFill/>
          <a:ln/>
        </p:spPr>
        <p:txBody>
          <a:bodyPr wrap="square" lIns="0" tIns="0" rIns="0" bIns="0" rtlCol="0" anchor="ctr"/>
          <a:lstStyle/>
          <a:p>
            <a:pPr marL="0" indent="0" algn="ctr">
              <a:buNone/>
            </a:pPr>
            <a:r>
              <a:rPr lang="en-US" sz="1200" b="1" dirty="0">
                <a:solidFill>
                  <a:srgbClr val="F2EFE9"/>
                </a:solidFill>
                <a:latin typeface="Arial" pitchFamily="34" charset="0"/>
                <a:ea typeface="Arial" pitchFamily="34" charset="-122"/>
                <a:cs typeface="Arial" pitchFamily="34" charset="-120"/>
              </a:rPr>
              <a:t>2</a:t>
            </a:r>
            <a:endParaRPr lang="en-US" sz="1200" dirty="0"/>
          </a:p>
        </p:txBody>
      </p:sp>
      <p:sp>
        <p:nvSpPr>
          <p:cNvPr id="14" name="Text 12"/>
          <p:cNvSpPr/>
          <p:nvPr/>
        </p:nvSpPr>
        <p:spPr>
          <a:xfrm>
            <a:off x="1051560" y="5577840"/>
            <a:ext cx="10424160" cy="365760"/>
          </a:xfrm>
          <a:prstGeom prst="rect">
            <a:avLst/>
          </a:prstGeom>
          <a:noFill/>
          <a:ln/>
        </p:spPr>
        <p:txBody>
          <a:bodyPr wrap="square" lIns="0" tIns="0" rIns="0" bIns="0" rtlCol="0" anchor="ctr"/>
          <a:lstStyle/>
          <a:p>
            <a:pPr marL="0" indent="0">
              <a:buNone/>
            </a:pPr>
            <a:r>
              <a:rPr lang="en-US" sz="1700" dirty="0">
                <a:solidFill>
                  <a:srgbClr val="111111"/>
                </a:solidFill>
                <a:latin typeface="Arial" pitchFamily="34" charset="0"/>
                <a:ea typeface="Arial" pitchFamily="34" charset="-122"/>
                <a:cs typeface="Arial" pitchFamily="34" charset="-120"/>
              </a:rPr>
              <a:t>Run it properly. Watch the checklist go red, then black.</a:t>
            </a:r>
            <a:endParaRPr lang="en-US" sz="1700" dirty="0"/>
          </a:p>
        </p:txBody>
      </p:sp>
      <p:sp>
        <p:nvSpPr>
          <p:cNvPr id="15" name="Shape 13"/>
          <p:cNvSpPr/>
          <p:nvPr/>
        </p:nvSpPr>
        <p:spPr>
          <a:xfrm>
            <a:off x="594360" y="6053328"/>
            <a:ext cx="274320" cy="274320"/>
          </a:xfrm>
          <a:prstGeom prst="rect">
            <a:avLst/>
          </a:prstGeom>
          <a:solidFill>
            <a:srgbClr val="111111"/>
          </a:solidFill>
          <a:ln w="19050">
            <a:solidFill>
              <a:srgbClr val="111111"/>
            </a:solidFill>
            <a:prstDash val="solid"/>
          </a:ln>
        </p:spPr>
        <p:txBody>
          <a:bodyPr/>
          <a:lstStyle/>
          <a:p>
            <a:endParaRPr lang="en-US"/>
          </a:p>
        </p:txBody>
      </p:sp>
      <p:sp>
        <p:nvSpPr>
          <p:cNvPr id="16" name="Text 14"/>
          <p:cNvSpPr/>
          <p:nvPr/>
        </p:nvSpPr>
        <p:spPr>
          <a:xfrm>
            <a:off x="594360" y="6053328"/>
            <a:ext cx="274320" cy="274320"/>
          </a:xfrm>
          <a:prstGeom prst="rect">
            <a:avLst/>
          </a:prstGeom>
          <a:noFill/>
          <a:ln/>
        </p:spPr>
        <p:txBody>
          <a:bodyPr wrap="square" lIns="0" tIns="0" rIns="0" bIns="0" rtlCol="0" anchor="ctr"/>
          <a:lstStyle/>
          <a:p>
            <a:pPr marL="0" indent="0" algn="ctr">
              <a:buNone/>
            </a:pPr>
            <a:r>
              <a:rPr lang="en-US" sz="1200" b="1" dirty="0">
                <a:solidFill>
                  <a:srgbClr val="F2EFE9"/>
                </a:solidFill>
                <a:latin typeface="Arial" pitchFamily="34" charset="0"/>
                <a:ea typeface="Arial" pitchFamily="34" charset="-122"/>
                <a:cs typeface="Arial" pitchFamily="34" charset="-120"/>
              </a:rPr>
              <a:t>3</a:t>
            </a:r>
            <a:endParaRPr lang="en-US" sz="1200" dirty="0"/>
          </a:p>
        </p:txBody>
      </p:sp>
      <p:sp>
        <p:nvSpPr>
          <p:cNvPr id="17" name="Text 15"/>
          <p:cNvSpPr/>
          <p:nvPr/>
        </p:nvSpPr>
        <p:spPr>
          <a:xfrm>
            <a:off x="1051560" y="6035040"/>
            <a:ext cx="10424160" cy="365760"/>
          </a:xfrm>
          <a:prstGeom prst="rect">
            <a:avLst/>
          </a:prstGeom>
          <a:noFill/>
          <a:ln/>
        </p:spPr>
        <p:txBody>
          <a:bodyPr wrap="square" lIns="0" tIns="0" rIns="0" bIns="0" rtlCol="0" anchor="ctr"/>
          <a:lstStyle/>
          <a:p>
            <a:pPr marL="0" indent="0">
              <a:buNone/>
            </a:pPr>
            <a:r>
              <a:rPr lang="en-US" sz="1700" dirty="0">
                <a:solidFill>
                  <a:srgbClr val="111111"/>
                </a:solidFill>
                <a:latin typeface="Arial" pitchFamily="34" charset="0"/>
                <a:ea typeface="Arial" pitchFamily="34" charset="-122"/>
                <a:cs typeface="Arial" pitchFamily="34" charset="-120"/>
              </a:rPr>
              <a:t>Same model. Same key. Same prompt. Score 87.</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11111"/>
        </a:solidFill>
        <a:effectLst/>
      </p:bgPr>
    </p:bg>
    <p:spTree>
      <p:nvGrpSpPr>
        <p:cNvPr id="1" name=""/>
        <p:cNvGrpSpPr/>
        <p:nvPr/>
      </p:nvGrpSpPr>
      <p:grpSpPr>
        <a:xfrm>
          <a:off x="0" y="0"/>
          <a:ext cx="0" cy="0"/>
          <a:chOff x="0" y="0"/>
          <a:chExt cx="0" cy="0"/>
        </a:xfrm>
      </p:grpSpPr>
      <p:sp>
        <p:nvSpPr>
          <p:cNvPr id="2" name="Text 0"/>
          <p:cNvSpPr/>
          <p:nvPr/>
        </p:nvSpPr>
        <p:spPr>
          <a:xfrm>
            <a:off x="11430000" y="182880"/>
            <a:ext cx="594360" cy="274320"/>
          </a:xfrm>
          <a:prstGeom prst="rect">
            <a:avLst/>
          </a:prstGeom>
          <a:noFill/>
          <a:ln/>
        </p:spPr>
        <p:txBody>
          <a:bodyPr wrap="square" lIns="0" tIns="0" rIns="0" bIns="0" rtlCol="0" anchor="ctr"/>
          <a:lstStyle/>
          <a:p>
            <a:pPr marL="0" indent="0" algn="r">
              <a:buNone/>
            </a:pPr>
            <a:r>
              <a:rPr lang="en-US" sz="1000" dirty="0">
                <a:solidFill>
                  <a:srgbClr val="F2EFE9"/>
                </a:solidFill>
                <a:latin typeface="Courier New" pitchFamily="34" charset="0"/>
                <a:ea typeface="Courier New" pitchFamily="34" charset="-122"/>
                <a:cs typeface="Courier New" pitchFamily="34" charset="-120"/>
              </a:rPr>
              <a:t>19</a:t>
            </a:r>
            <a:endParaRPr lang="en-US" sz="1000" dirty="0"/>
          </a:p>
        </p:txBody>
      </p:sp>
      <p:sp>
        <p:nvSpPr>
          <p:cNvPr id="3" name="Shape 1"/>
          <p:cNvSpPr/>
          <p:nvPr/>
        </p:nvSpPr>
        <p:spPr>
          <a:xfrm>
            <a:off x="-1371600" y="4114800"/>
            <a:ext cx="3840480" cy="3840480"/>
          </a:xfrm>
          <a:prstGeom prst="ellipse">
            <a:avLst/>
          </a:prstGeom>
          <a:solidFill>
            <a:srgbClr val="E1462C"/>
          </a:solidFill>
          <a:ln w="12700">
            <a:solidFill>
              <a:srgbClr val="E1462C"/>
            </a:solidFill>
            <a:prstDash val="solid"/>
          </a:ln>
        </p:spPr>
        <p:txBody>
          <a:bodyPr/>
          <a:lstStyle/>
          <a:p>
            <a:endParaRPr lang="en-US"/>
          </a:p>
        </p:txBody>
      </p:sp>
      <p:sp>
        <p:nvSpPr>
          <p:cNvPr id="4" name="Shape 2"/>
          <p:cNvSpPr/>
          <p:nvPr/>
        </p:nvSpPr>
        <p:spPr>
          <a:xfrm>
            <a:off x="10515600" y="822960"/>
            <a:ext cx="1097280" cy="1097280"/>
          </a:xfrm>
          <a:prstGeom prst="rect">
            <a:avLst/>
          </a:prstGeom>
          <a:solidFill>
            <a:srgbClr val="F5C518"/>
          </a:solidFill>
          <a:ln w="19050">
            <a:solidFill>
              <a:srgbClr val="111111"/>
            </a:solidFill>
            <a:prstDash val="solid"/>
          </a:ln>
        </p:spPr>
        <p:txBody>
          <a:bodyPr/>
          <a:lstStyle/>
          <a:p>
            <a:endParaRPr lang="en-US"/>
          </a:p>
        </p:txBody>
      </p:sp>
      <p:sp>
        <p:nvSpPr>
          <p:cNvPr id="5" name="Text 3"/>
          <p:cNvSpPr/>
          <p:nvPr/>
        </p:nvSpPr>
        <p:spPr>
          <a:xfrm>
            <a:off x="1280160" y="1371600"/>
            <a:ext cx="10424160" cy="1005840"/>
          </a:xfrm>
          <a:prstGeom prst="rect">
            <a:avLst/>
          </a:prstGeom>
          <a:noFill/>
          <a:ln/>
        </p:spPr>
        <p:txBody>
          <a:bodyPr wrap="square" lIns="0" tIns="0" rIns="0" bIns="0" rtlCol="0" anchor="ctr"/>
          <a:lstStyle/>
          <a:p>
            <a:pPr marL="0" indent="0">
              <a:buNone/>
            </a:pPr>
            <a:r>
              <a:rPr lang="en-US" sz="5800" b="1" dirty="0">
                <a:solidFill>
                  <a:srgbClr val="F2EFE9"/>
                </a:solidFill>
                <a:latin typeface="Arial" pitchFamily="34" charset="0"/>
                <a:ea typeface="Arial" pitchFamily="34" charset="-122"/>
                <a:cs typeface="Arial" pitchFamily="34" charset="-120"/>
              </a:rPr>
              <a:t>DON'T ASK FOR</a:t>
            </a:r>
            <a:endParaRPr lang="en-US" sz="5800" dirty="0"/>
          </a:p>
        </p:txBody>
      </p:sp>
      <p:sp>
        <p:nvSpPr>
          <p:cNvPr id="6" name="Text 4"/>
          <p:cNvSpPr/>
          <p:nvPr/>
        </p:nvSpPr>
        <p:spPr>
          <a:xfrm>
            <a:off x="1280160" y="2286000"/>
            <a:ext cx="10424160" cy="1005840"/>
          </a:xfrm>
          <a:prstGeom prst="rect">
            <a:avLst/>
          </a:prstGeom>
          <a:noFill/>
          <a:ln/>
        </p:spPr>
        <p:txBody>
          <a:bodyPr wrap="square" lIns="0" tIns="0" rIns="0" bIns="0" rtlCol="0" anchor="ctr"/>
          <a:lstStyle/>
          <a:p>
            <a:pPr marL="0" indent="0">
              <a:buNone/>
            </a:pPr>
            <a:r>
              <a:rPr lang="en-US" sz="5800" b="1" dirty="0">
                <a:solidFill>
                  <a:srgbClr val="F2EFE9"/>
                </a:solidFill>
                <a:latin typeface="Arial" pitchFamily="34" charset="0"/>
                <a:ea typeface="Arial" pitchFamily="34" charset="-122"/>
                <a:cs typeface="Arial" pitchFamily="34" charset="-120"/>
              </a:rPr>
              <a:t>A BETTER ANSWER.</a:t>
            </a:r>
            <a:endParaRPr lang="en-US" sz="5800" dirty="0"/>
          </a:p>
        </p:txBody>
      </p:sp>
      <p:sp>
        <p:nvSpPr>
          <p:cNvPr id="7" name="Text 5"/>
          <p:cNvSpPr/>
          <p:nvPr/>
        </p:nvSpPr>
        <p:spPr>
          <a:xfrm>
            <a:off x="1280160" y="3429000"/>
            <a:ext cx="10607040" cy="1005840"/>
          </a:xfrm>
          <a:prstGeom prst="rect">
            <a:avLst/>
          </a:prstGeom>
          <a:noFill/>
          <a:ln/>
        </p:spPr>
        <p:txBody>
          <a:bodyPr wrap="square" lIns="0" tIns="0" rIns="0" bIns="0" rtlCol="0" anchor="ctr"/>
          <a:lstStyle/>
          <a:p>
            <a:pPr marL="0" indent="0">
              <a:buNone/>
            </a:pPr>
            <a:r>
              <a:rPr lang="en-US" sz="5800" b="1" dirty="0">
                <a:solidFill>
                  <a:srgbClr val="F5C518"/>
                </a:solidFill>
                <a:latin typeface="Arial" pitchFamily="34" charset="0"/>
                <a:ea typeface="Arial" pitchFamily="34" charset="-122"/>
                <a:cs typeface="Arial" pitchFamily="34" charset="-120"/>
              </a:rPr>
              <a:t>BUILD A BETTER CHECK.</a:t>
            </a:r>
            <a:endParaRPr lang="en-US" sz="5800" dirty="0"/>
          </a:p>
        </p:txBody>
      </p:sp>
      <p:sp>
        <p:nvSpPr>
          <p:cNvPr id="8" name="Text 6"/>
          <p:cNvSpPr/>
          <p:nvPr/>
        </p:nvSpPr>
        <p:spPr>
          <a:xfrm>
            <a:off x="1298448" y="5029200"/>
            <a:ext cx="7315200" cy="274320"/>
          </a:xfrm>
          <a:prstGeom prst="rect">
            <a:avLst/>
          </a:prstGeom>
          <a:noFill/>
          <a:ln/>
        </p:spPr>
        <p:txBody>
          <a:bodyPr wrap="square" lIns="0" tIns="0" rIns="0" bIns="0" rtlCol="0" anchor="ctr"/>
          <a:lstStyle/>
          <a:p>
            <a:pPr marL="0" indent="0" algn="l">
              <a:buNone/>
            </a:pPr>
            <a:r>
              <a:rPr lang="en-US" sz="1200" dirty="0">
                <a:solidFill>
                  <a:srgbClr val="F2EFE9"/>
                </a:solidFill>
                <a:latin typeface="Courier New" pitchFamily="34" charset="0"/>
                <a:ea typeface="Courier New" pitchFamily="34" charset="-122"/>
                <a:cs typeface="Courier New" pitchFamily="34" charset="-120"/>
              </a:rPr>
              <a:t>LOOP ENGINEERING · BROTECHCLUB</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E068B1E-6846-4FBE-972A-17651FEFD316}">
  <we:reference id="wa200005566" version="3.0.0.2" store="en-US" storeType="OMEX"/>
  <we:alternateReferences>
    <we:reference id="WA200005566" version="3.0.0.2"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TotalTime>
  <Words>3230</Words>
  <Application>Microsoft Office PowerPoint</Application>
  <PresentationFormat>Widescreen</PresentationFormat>
  <Paragraphs>330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Muhammed Sahal.k.k</cp:lastModifiedBy>
  <cp:revision>2</cp:revision>
  <dcterms:created xsi:type="dcterms:W3CDTF">2026-07-26T09:47:05Z</dcterms:created>
  <dcterms:modified xsi:type="dcterms:W3CDTF">2026-07-26T09:58:46Z</dcterms:modified>
</cp:coreProperties>
</file>